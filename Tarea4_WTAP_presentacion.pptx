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8FB8DE"/>
                </a:solidFill>
                <a:latin typeface="Arial"/>
              </a:rPr>
              <a:t>OII462 · TAREA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56616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FFFFF"/>
                </a:solidFill>
                <a:latin typeface="Arial"/>
              </a:rPr>
              <a:t>Imitando un algoritmo de trayectoria para el WTAP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34747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6E2EE"/>
                </a:solidFill>
                <a:latin typeface="Arial"/>
              </a:rPr>
              <a:t>Una red de capas densas (MLP) que aprende a asignar armas a objetivos imitando paso a paso a un experto óptimo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822960" cy="4572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70916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[Nombre(s) del grupo]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B5C4D4"/>
                </a:solidFill>
                <a:latin typeface="Arial"/>
              </a:rPr>
              <a:t>Optimización combinatoria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84048"/>
            <a:ext cx="7223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B2A41"/>
                </a:solidFill>
                <a:latin typeface="Arial"/>
              </a:rPr>
              <a:t>El problema: Weapon-Target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914400"/>
            <a:ext cx="713232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E3540"/>
                </a:solidFill>
                <a:latin typeface="Arial"/>
              </a:rPr>
              <a:t>W = 10 armas</a:t>
            </a:r>
            <a:r>
              <a:rPr sz="1400" b="0" i="0">
                <a:solidFill>
                  <a:srgbClr val="2E3540"/>
                </a:solidFill>
                <a:latin typeface="Arial"/>
              </a:rPr>
              <a:t> y </a:t>
            </a:r>
            <a:r>
              <a:rPr sz="1400" b="1" i="0">
                <a:solidFill>
                  <a:srgbClr val="2E3540"/>
                </a:solidFill>
                <a:latin typeface="Arial"/>
              </a:rPr>
              <a:t>T = 8 objetivos</a:t>
            </a:r>
            <a:r>
              <a:rPr sz="1400" b="0" i="0">
                <a:solidFill>
                  <a:srgbClr val="2E3540"/>
                </a:solidFill>
                <a:latin typeface="Arial"/>
              </a:rPr>
              <a:t>. El objetivo j vale </a:t>
            </a:r>
            <a:r>
              <a:rPr sz="1400" b="1" i="0">
                <a:solidFill>
                  <a:srgbClr val="2E3540"/>
                </a:solidFill>
                <a:latin typeface="Arial"/>
              </a:rPr>
              <a:t>Vⱼ</a:t>
            </a:r>
            <a:r>
              <a:rPr sz="1400" b="0" i="0">
                <a:solidFill>
                  <a:srgbClr val="2E3540"/>
                </a:solidFill>
                <a:latin typeface="Arial"/>
              </a:rPr>
              <a:t> y el arma i lo destruye con probabilidad </a:t>
            </a:r>
            <a:r>
              <a:rPr sz="1400" b="1" i="0">
                <a:solidFill>
                  <a:srgbClr val="2E3540"/>
                </a:solidFill>
                <a:latin typeface="Arial"/>
              </a:rPr>
              <a:t>pᵢⱼ</a:t>
            </a:r>
            <a:r>
              <a:rPr sz="1400" b="0" i="0">
                <a:solidFill>
                  <a:srgbClr val="2E3540"/>
                </a:solidFill>
                <a:latin typeface="Arial"/>
              </a:rPr>
              <a:t>. Cada arma se asigna a un solo objetivo.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691640"/>
            <a:ext cx="6949440" cy="86868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64792"/>
            <a:ext cx="3241434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89720" y="1764792"/>
            <a:ext cx="24688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B7585"/>
                </a:solidFill>
                <a:latin typeface="Arial"/>
              </a:rPr>
              <a:t>valor esperado que sobrevive (se minimiza)</a:t>
            </a:r>
          </a:p>
        </p:txBody>
      </p:sp>
      <p:pic>
        <p:nvPicPr>
          <p:cNvPr id="15" name="Picture 14" descr="inst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33630"/>
            <a:ext cx="7040880" cy="251661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754880" y="5596128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5614416"/>
            <a:ext cx="224028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F77B4"/>
                </a:solidFill>
                <a:latin typeface="Arial"/>
              </a:rPr>
              <a:t>NP-hard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971032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585"/>
                </a:solidFill>
                <a:latin typeface="Arial"/>
              </a:rPr>
              <a:t>objetivo no lineal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5596128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5614416"/>
            <a:ext cx="224028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F77B4"/>
                </a:solidFill>
                <a:latin typeface="Arial"/>
              </a:rPr>
              <a:t>8¹⁰ ≈ 10⁹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971032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585"/>
                </a:solidFill>
                <a:latin typeface="Arial"/>
              </a:rPr>
              <a:t>asignaciones posibles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5596128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5614416"/>
            <a:ext cx="224028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F77B4"/>
                </a:solidFill>
                <a:latin typeface="Arial"/>
              </a:rPr>
              <a:t>Constructivo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5971032"/>
            <a:ext cx="2240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6B7585"/>
                </a:solidFill>
                <a:latin typeface="Arial"/>
              </a:rPr>
              <a:t>1 arma por paso, orden fijo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B2A41"/>
                </a:solidFill>
                <a:latin typeface="Arial"/>
              </a:rPr>
              <a:t>Estado y acción: ¿a qué objetivo va la próxima arma?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Las armas se asignan en orden fijo (0, 1, …, 9); en cada paso la red elige el objetivo de la arma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4 · Imitando un algoritmo de trayectoria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2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749039" cy="14173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39"/>
            <a:ext cx="64008" cy="11430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342899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7F0E"/>
                </a:solidFill>
                <a:latin typeface="Arial"/>
              </a:rPr>
              <a:t>ACCIÓN  →  8 clases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342899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E3540"/>
                </a:solidFill>
                <a:latin typeface="Arial"/>
              </a:rPr>
              <a:t>("constructive", j)</a:t>
            </a:r>
            <a:r>
              <a:rPr sz="1250" b="0" i="0">
                <a:solidFill>
                  <a:srgbClr val="2E3540"/>
                </a:solidFill>
                <a:latin typeface="Arial"/>
              </a:rPr>
              <a:t>: asignar la arma actual al objetivo j. </a:t>
            </a:r>
            <a:r>
              <a:rPr sz="1250" b="0" i="0">
                <a:solidFill>
                  <a:srgbClr val="2E3540"/>
                </a:solidFill>
                <a:latin typeface="Arial"/>
              </a:rPr>
              <a:t>El target de la red es el índice j.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3749039" cy="14173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64008" cy="1143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71800"/>
            <a:ext cx="342899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F77B4"/>
                </a:solidFill>
                <a:latin typeface="Arial"/>
              </a:rPr>
              <a:t>ESTADO  →  matriz 8 ×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37560"/>
            <a:ext cx="3428999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E3540"/>
                </a:solidFill>
                <a:latin typeface="Arial"/>
              </a:rPr>
              <a:t>Fila j = objetivo j</a:t>
            </a:r>
            <a:r>
              <a:rPr sz="1250" b="0" i="0">
                <a:solidFill>
                  <a:srgbClr val="2E3540"/>
                </a:solidFill>
                <a:latin typeface="Arial"/>
              </a:rPr>
              <a:t> durante todo el episodio; 15 características que describen al objetivo y su situación en el paso actual.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34840"/>
            <a:ext cx="3749039" cy="1874519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64008" cy="1600199"/>
          </a:xfrm>
          <a:prstGeom prst="rect">
            <a:avLst/>
          </a:prstGeom>
          <a:solidFill>
            <a:srgbClr val="946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526279"/>
            <a:ext cx="342899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9467BD"/>
                </a:solidFill>
                <a:latin typeface="Arial"/>
              </a:rPr>
              <a:t>¿QUÉ MIRA LA RED?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892040"/>
            <a:ext cx="3428999" cy="13258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77B4"/>
                </a:solidFill>
                <a:latin typeface="Arial"/>
              </a:rPr>
              <a:t>Actuales (0–9):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valor, prob. de sobrevivir qⱼ, efectividad de la arma actual pₜⱼ, </a:t>
            </a:r>
            <a:r>
              <a:rPr sz="1200" b="1" i="0">
                <a:solidFill>
                  <a:srgbClr val="2E3540"/>
                </a:solidFill>
                <a:latin typeface="Arial"/>
              </a:rPr>
              <a:t>ganancia marginal Vⱼ·qⱼ·pₜⱼ</a:t>
            </a:r>
            <a:r>
              <a:rPr sz="1200" b="0" i="0">
                <a:solidFill>
                  <a:srgbClr val="2E3540"/>
                </a:solidFill>
                <a:latin typeface="Arial"/>
              </a:rPr>
              <a:t>, armas ya asignadas…</a:t>
            </a:r>
          </a:p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467BD"/>
                </a:solidFill>
                <a:latin typeface="Arial"/>
              </a:rPr>
              <a:t>Anticipación (10–14):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¿hay una arma futura mejor para j? (arrepentimiento, rango) y cómo quedaría j si se completa con MMR.</a:t>
            </a:r>
          </a:p>
        </p:txBody>
      </p:sp>
      <p:pic>
        <p:nvPicPr>
          <p:cNvPr id="20" name="Picture 19" descr="es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16341"/>
            <a:ext cx="7315200" cy="247083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526280" y="4160520"/>
            <a:ext cx="3886200" cy="21488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251960"/>
            <a:ext cx="356616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Ejemplo real: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estado con 4 armas asignadas (arma actual = 4).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E3540"/>
                </a:solidFill>
                <a:latin typeface="Arial"/>
              </a:rPr>
              <a:t>El recuadro rojo marca el objetivo que elige el experto; la línea blanca separa las características actuales de las de anticipación.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6B7585"/>
                </a:solidFill>
                <a:latin typeface="Arial"/>
              </a:rPr>
              <a:t>Todo está normalizado (valores ÷ máximo de la instancia).</a:t>
            </a:r>
          </a:p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77B4"/>
                </a:solidFill>
                <a:latin typeface="Arial"/>
              </a:rPr>
              <a:t>→ Ninguna característica sola da la respuesta: la red aprende a combinarlas.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4160520"/>
            <a:ext cx="31546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422452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B2A41"/>
                </a:solidFill>
                <a:latin typeface="Arial"/>
              </a:rPr>
              <a:t>¿A qué objetivo iría la arma 4?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663440"/>
            <a:ext cx="22402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Greedy (mayor ganancia)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27080" y="4700016"/>
            <a:ext cx="685800" cy="347472"/>
          </a:xfrm>
          <a:prstGeom prst="roundRect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5193792"/>
            <a:ext cx="22402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Completar con MMR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27080" y="5230368"/>
            <a:ext cx="685800" cy="347472"/>
          </a:xfrm>
          <a:prstGeom prst="roundRect">
            <a:avLst>
              <a:gd name="adj" fmla="val 3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o5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724144"/>
            <a:ext cx="22402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Experto (lo que se imita)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27080" y="5760720"/>
            <a:ext cx="685800" cy="347472"/>
          </a:xfrm>
          <a:prstGeom prst="roundRect">
            <a:avLst>
              <a:gd name="adj" fmla="val 30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o3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B2A41"/>
                </a:solidFill>
                <a:latin typeface="Arial"/>
              </a:rPr>
              <a:t>Datos de imitación y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El experto resuelve cada instancia; su solución se reproduce paso a paso para obtener pares (estado → acción)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4 · Imitando un algoritmo de trayectoria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3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587752" cy="1874519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" y="1536192"/>
            <a:ext cx="457200" cy="45720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499616"/>
            <a:ext cx="176479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B2A41"/>
                </a:solidFill>
                <a:latin typeface="Arial"/>
              </a:rPr>
              <a:t>Instancias aleatorias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03120"/>
            <a:ext cx="231343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6.000 de entrenamiento + 300 de validación
Vⱼ ~ U{25..100}, pᵢⱼ ~ U(0,6; 0,9)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72384" y="2304288"/>
            <a:ext cx="246888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46704" y="1371600"/>
            <a:ext cx="2587752" cy="1874519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11296" y="1536192"/>
            <a:ext cx="457200" cy="457200"/>
          </a:xfrm>
          <a:prstGeom prst="ellipse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1499616"/>
            <a:ext cx="176479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CA02C"/>
                </a:solidFill>
                <a:latin typeface="Arial"/>
              </a:rPr>
              <a:t>Experto: Búsqueda Local Iterada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103120"/>
            <a:ext cx="231343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inicio MMR + búsqueda local reassign/swap + perturbación.
Óptimo en 10/10 instancias verificadas con método exacto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1888" y="2304288"/>
            <a:ext cx="246888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36208" y="1371600"/>
            <a:ext cx="2587752" cy="1874519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1536192"/>
            <a:ext cx="457200" cy="457200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499616"/>
            <a:ext cx="176479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77B4"/>
                </a:solidFill>
                <a:latin typeface="Arial"/>
              </a:rPr>
              <a:t>Replay de la trayectoria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03120"/>
            <a:ext cx="231343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solución vacía → asignar arma 0, 1, …, 9 como el experto con env.state_transition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51392" y="2304288"/>
            <a:ext cx="246888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25712" y="1371600"/>
            <a:ext cx="2587752" cy="1874519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0304" y="1536192"/>
            <a:ext cx="457200" cy="457200"/>
          </a:xfrm>
          <a:prstGeom prst="ellipse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1499616"/>
            <a:ext cx="1764792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7F0E"/>
                </a:solidFill>
                <a:latin typeface="Arial"/>
              </a:rPr>
              <a:t>Pares (estado → acción)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2103120"/>
            <a:ext cx="231343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60.000 ejemplos de entrenamiento
X: state2vec (8×15)   Y: objetivo elegido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B2A41"/>
                </a:solidFill>
                <a:latin typeface="Arial"/>
              </a:rPr>
              <a:t>Modelo: MLP de capas densas (PyTorch)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06240"/>
            <a:ext cx="1325880" cy="11430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Estado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8 × 15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01368" y="4773168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15769" y="4206240"/>
            <a:ext cx="1325880" cy="1143000"/>
          </a:xfrm>
          <a:prstGeom prst="roundRect">
            <a:avLst>
              <a:gd name="adj" fmla="val 12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Aplanar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120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459937" y="4773168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774338" y="40690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Densa + ReLU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512
Dropout 0,3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18506" y="4773168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32907" y="40690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Densa + ReLU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512
Dropout 0,3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77075" y="4773168"/>
            <a:ext cx="296113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091476" y="4069080"/>
            <a:ext cx="1325880" cy="1417320"/>
          </a:xfrm>
          <a:prstGeom prst="roundRect">
            <a:avLst>
              <a:gd name="adj" fmla="val 12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Densa + ReLU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256
Dropout 0,3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35644" y="4773168"/>
            <a:ext cx="296114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750046" y="4206240"/>
            <a:ext cx="1325880" cy="1143000"/>
          </a:xfrm>
          <a:prstGeom prst="roundRect">
            <a:avLst>
              <a:gd name="adj" fmla="val 12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Logits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8 (uno por objetivo)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94213" y="4773168"/>
            <a:ext cx="296114" cy="0"/>
          </a:xfrm>
          <a:prstGeom prst="line">
            <a:avLst/>
          </a:prstGeom>
          <a:ln w="25400">
            <a:solidFill>
              <a:srgbClr val="6B75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408615" y="4206240"/>
            <a:ext cx="1325880" cy="1143000"/>
          </a:xfrm>
          <a:prstGeom prst="roundRect">
            <a:avLst>
              <a:gd name="adj" fmla="val 12000"/>
            </a:avLst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Softmax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P(arma → objetivo j)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715000"/>
            <a:ext cx="11277295" cy="594360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742432"/>
            <a:ext cx="1091153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Entrenamiento: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entropía cruzada · Adam (lr = 0,001) · batch 256 · </a:t>
            </a:r>
            <a:r>
              <a:rPr sz="1200" b="1" i="0">
                <a:solidFill>
                  <a:srgbClr val="2E3540"/>
                </a:solidFill>
                <a:latin typeface="Arial"/>
              </a:rPr>
              <a:t>early stopping</a:t>
            </a:r>
            <a:r>
              <a:rPr sz="1200" b="0" i="0">
                <a:solidFill>
                  <a:srgbClr val="2E3540"/>
                </a:solidFill>
                <a:latin typeface="Arial"/>
              </a:rPr>
              <a:t> (patience 10, restaura la mejor época). En el rollout, la red reemplaza a la función de evaluación del GreedyAgent de la librería del curso.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B2A41"/>
                </a:solidFill>
                <a:latin typeface="Arial"/>
              </a:rPr>
              <a:t>Entrenamiento: loss y accuracy por época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Early stopping detiene el entrenamiento cuando la pérdida de validación deja de mejorar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4 · Imitando un algoritmo de trayectoria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4 / 6</a:t>
            </a:r>
          </a:p>
        </p:txBody>
      </p:sp>
      <p:pic>
        <p:nvPicPr>
          <p:cNvPr id="8" name="Picture 7" descr="curvas_mej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72" y="1280160"/>
            <a:ext cx="10490975" cy="3429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93776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937760"/>
            <a:ext cx="2377440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065776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1F77B4"/>
                </a:solidFill>
                <a:latin typeface="Arial"/>
              </a:rPr>
              <a:t>85,8%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57784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accuracy de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33872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decisiones iguales al experto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93776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4937760"/>
            <a:ext cx="2377440" cy="731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5065776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1B2A41"/>
                </a:solidFill>
                <a:latin typeface="Arial"/>
              </a:rPr>
              <a:t>época 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9" y="557784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mejor época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79" y="5833872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se detuvo en la época 37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4937760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4937760"/>
            <a:ext cx="2377440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5065776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7F7F7F"/>
                </a:solidFill>
                <a:latin typeface="Arial"/>
              </a:rPr>
              <a:t>76,7%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5577840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acc. modelo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5833872"/>
            <a:ext cx="2286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sin anticipación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937760"/>
            <a:ext cx="3520440" cy="1280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983480"/>
            <a:ext cx="32918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Lectura: </a:t>
            </a:r>
            <a:r>
              <a:rPr sz="1150" b="0" i="0">
                <a:solidFill>
                  <a:srgbClr val="2E3540"/>
                </a:solidFill>
                <a:latin typeface="Arial"/>
              </a:rPr>
              <a:t>la pérdida de entrenamiento sigue bajando mientras la de validación se estanca → comienza el sobreajuste y se restauran los pesos de la mejor época.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B2A41"/>
                </a:solidFill>
                <a:latin typeface="Arial"/>
              </a:rPr>
              <a:t>Experimentos: ¿qué necesita saber la red?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Ablación de características e hiperparámetros, evaluando accuracy Y calidad del rollout (100 instancias de validación)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4 · Imitando un algoritmo de trayectoria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5 / 6</a:t>
            </a:r>
          </a:p>
        </p:txBody>
      </p:sp>
      <p:pic>
        <p:nvPicPr>
          <p:cNvPr id="8" name="Picture 7" descr="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93" y="1234440"/>
            <a:ext cx="10465132" cy="356616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89204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377440"/>
                <a:gridCol w="2011680"/>
                <a:gridCol w="914400"/>
                <a:gridCol w="914400"/>
              </a:tblGrid>
              <a:tr h="243840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Config.</a:t>
                      </a:r>
                    </a:p>
                  </a:txBody>
                  <a:tcPr marT="9144" marB="9144">
                    <a:solidFill>
                      <a:srgbClr val="1B2A41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Características</a:t>
                      </a:r>
                    </a:p>
                  </a:txBody>
                  <a:tcPr marT="9144" marB="9144">
                    <a:solidFill>
                      <a:srgbClr val="1B2A41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T="9144" marB="9144">
                    <a:solidFill>
                      <a:srgbClr val="1B2A41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Acc. val</a:t>
                      </a:r>
                    </a:p>
                  </a:txBody>
                  <a:tcPr marT="9144" marB="9144">
                    <a:solidFill>
                      <a:srgbClr val="1B2A41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Gap rollout</a:t>
                      </a:r>
                    </a:p>
                  </a:txBody>
                  <a:tcPr marT="9144" marB="9144">
                    <a:solidFill>
                      <a:srgbClr val="1B2A41"/>
                    </a:solidFill>
                  </a:tcPr>
                </a:tc>
              </a:tr>
              <a:tr h="243840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10 (sin anticipación)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[512,256,128], dp 0,2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</a:tr>
              <a:tr h="243840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12 (+ comparativas)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[512,256,128], dp 0,2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15 (completas)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[512,256,128], dp 0,2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T="9144" marB="9144">
                    <a:solidFill>
                      <a:srgbClr val="F3F5F8"/>
                    </a:solidFill>
                  </a:tcPr>
                </a:tc>
              </a:tr>
              <a:tr h="243840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15 (completas)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[256,256], sin dropout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85,6%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0" i="0">
                          <a:solidFill>
                            <a:srgbClr val="2E3540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T="9144" marB="9144"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2E3540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T="9144" marB="9144">
                    <a:solidFill>
                      <a:srgbClr val="DCEAF7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2E3540"/>
                          </a:solidFill>
                          <a:latin typeface="Arial"/>
                        </a:rPr>
                        <a:t>15 (completas)</a:t>
                      </a:r>
                    </a:p>
                  </a:txBody>
                  <a:tcPr marT="9144" marB="9144">
                    <a:solidFill>
                      <a:srgbClr val="DCEAF7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2E3540"/>
                          </a:solidFill>
                          <a:latin typeface="Arial"/>
                        </a:rPr>
                        <a:t>[512,512,256], dp 0,3</a:t>
                      </a:r>
                    </a:p>
                  </a:txBody>
                  <a:tcPr marT="9144" marB="9144">
                    <a:solidFill>
                      <a:srgbClr val="DCEAF7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2E3540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T="9144" marB="9144">
                    <a:solidFill>
                      <a:srgbClr val="DCEAF7"/>
                    </a:solidFill>
                  </a:tcPr>
                </a:tc>
                <a:tc>
                  <a:txBody>
                    <a:bodyPr wrap="square" anchor="ctr" lIns="45720" rIns="45720" tIns="27432" bIns="27432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00" b="1" i="0">
                          <a:solidFill>
                            <a:srgbClr val="2E3540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T="9144" marB="9144">
                    <a:solidFill>
                      <a:srgbClr val="DCEAF7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4892040"/>
            <a:ext cx="4114800" cy="14630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5029200"/>
            <a:ext cx="64008" cy="1188720"/>
          </a:xfrm>
          <a:prstGeom prst="rect">
            <a:avLst/>
          </a:prstGeom>
          <a:solidFill>
            <a:srgbClr val="946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4983479"/>
            <a:ext cx="3794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9467BD"/>
                </a:solidFill>
                <a:latin typeface="Arial"/>
              </a:rPr>
              <a:t>CONCLUSIÓN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5349240"/>
            <a:ext cx="37947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E3540"/>
                </a:solidFill>
                <a:latin typeface="Arial"/>
              </a:rPr>
              <a:t>Las características de anticipación son lo que más importa: el gap baja de </a:t>
            </a:r>
            <a:r>
              <a:rPr sz="1150" b="1" i="0">
                <a:solidFill>
                  <a:srgbClr val="2E3540"/>
                </a:solidFill>
                <a:latin typeface="Arial"/>
              </a:rPr>
              <a:t>13,3%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a </a:t>
            </a:r>
            <a:r>
              <a:rPr sz="1150" b="1" i="0">
                <a:solidFill>
                  <a:srgbClr val="2E3540"/>
                </a:solidFill>
                <a:latin typeface="Arial"/>
              </a:rPr>
              <a:t>4,0%</a:t>
            </a:r>
            <a:r>
              <a:rPr sz="1150" b="0" i="0">
                <a:solidFill>
                  <a:srgbClr val="2E3540"/>
                </a:solidFill>
                <a:latin typeface="Arial"/>
              </a:rPr>
              <a:t> (MMR: 6,9%). Cambiar la red o el Dropout influye menos, y con igual accuracy el gap puede variar: hay que evaluar el rollout.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743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B2A41"/>
                </a:solidFill>
                <a:latin typeface="Arial"/>
              </a:rPr>
              <a:t>Resultados en 50 instancias nuevas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786384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B7585"/>
                </a:solidFill>
                <a:latin typeface="Arial"/>
              </a:rPr>
              <a:t>Gap promedio respecto al experto (menor es mejor) · mismo agente greedy; solo cambia quién evalúa las acciones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OII462 · Tarea 4 · Imitando un algoritmo de trayectoria para el WTAP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6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697480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08176"/>
            <a:ext cx="26974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1F77B4"/>
                </a:solidFill>
                <a:latin typeface="Arial"/>
              </a:rPr>
              <a:t>4,4%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20239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Modelo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76272"/>
            <a:ext cx="2606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costo medio 48,3 · óptimo en 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28016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280160"/>
            <a:ext cx="2697480" cy="73152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408176"/>
            <a:ext cx="26974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FF7F0E"/>
                </a:solidFill>
                <a:latin typeface="Arial"/>
              </a:rPr>
              <a:t>7,7%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1" y="1920239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MMR (clásica)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1" y="2176272"/>
            <a:ext cx="2606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costo medio 49,8 · óptimo en 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28016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280160"/>
            <a:ext cx="2697480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1344" y="1408176"/>
            <a:ext cx="26974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7F7F7F"/>
                </a:solidFill>
                <a:latin typeface="Arial"/>
              </a:rPr>
              <a:t>49,3%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1920239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Greedy secuencial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2176272"/>
            <a:ext cx="2606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costo medio 68,4 · óptimo en 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128016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A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1280160"/>
            <a:ext cx="2697480" cy="73152"/>
          </a:xfrm>
          <a:prstGeom prst="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3416" y="1408176"/>
            <a:ext cx="26974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 i="0">
                <a:solidFill>
                  <a:srgbClr val="2CA02C"/>
                </a:solidFill>
                <a:latin typeface="Arial"/>
              </a:rPr>
              <a:t>0,0%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1920239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E3540"/>
                </a:solidFill>
                <a:latin typeface="Arial"/>
              </a:rPr>
              <a:t>Experto (ILS)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176272"/>
            <a:ext cx="2606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6B7585"/>
                </a:solidFill>
                <a:latin typeface="Arial"/>
              </a:rPr>
              <a:t>costo medio 46,3 · óptimo en 100%</a:t>
            </a:r>
          </a:p>
        </p:txBody>
      </p:sp>
      <p:pic>
        <p:nvPicPr>
          <p:cNvPr id="28" name="Picture 27" descr="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615161"/>
            <a:ext cx="11430000" cy="2999276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57200" y="5669280"/>
            <a:ext cx="11277295" cy="658368"/>
          </a:xfrm>
          <a:prstGeom prst="roundRect">
            <a:avLst>
              <a:gd name="adj" fmla="val 1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687568"/>
            <a:ext cx="10911535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3540"/>
                </a:solidFill>
                <a:latin typeface="Arial"/>
              </a:rPr>
              <a:t>Conclusión: </a:t>
            </a:r>
            <a:r>
              <a:rPr sz="1200" b="0" i="0">
                <a:solidFill>
                  <a:srgbClr val="2E3540"/>
                </a:solidFill>
                <a:latin typeface="Arial"/>
              </a:rPr>
              <a:t>La MLP gana a MMR en 60% de las instancias (empata en 14%) y reduce el gap del greedy secuencial de 49,3% a 4,4%, respetando el mismo orden de armas. Sin las características de anticipación el modelo queda en 9,9%: lo que la red ve del estado es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