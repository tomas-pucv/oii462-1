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8FB8DE"/>
                </a:solidFill>
                <a:latin typeface="Arial"/>
              </a:rPr>
              <a:t>OII462 · TAREA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3566160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Arial"/>
              </a:rPr>
              <a:t>Atención con puntero para el WTAP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97480"/>
            <a:ext cx="347472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D6E2EE"/>
                </a:solidFill>
                <a:latin typeface="Arial"/>
              </a:rPr>
              <a:t>Un encoder con self-attention y un puntero que aprenden a asignar armas a objetivos imitando paso a paso a un experto (ILS)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526280"/>
            <a:ext cx="822960" cy="45720"/>
          </a:xfrm>
          <a:prstGeom prst="rect">
            <a:avLst/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4709160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[Nombre(s) del grupo]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074920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B5C4D4"/>
                </a:solidFill>
                <a:latin typeface="Arial"/>
              </a:rPr>
              <a:t>Optimización combinatoria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84048"/>
            <a:ext cx="72237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B2A41"/>
                </a:solidFill>
                <a:latin typeface="Arial"/>
              </a:rPr>
              <a:t>La decisión puntual que toma el modelo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987552"/>
            <a:ext cx="6995160" cy="1051560"/>
          </a:xfrm>
          <a:prstGeom prst="roundRect">
            <a:avLst>
              <a:gd name="adj" fmla="val 12000"/>
            </a:avLst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10000"/>
              </a:lnSpc>
            </a:pPr>
            <a:r>
              <a:rPr sz="1800" b="0" i="0">
                <a:solidFill>
                  <a:srgbClr val="2E3540"/>
                </a:solidFill>
                <a:latin typeface="Arial"/>
              </a:rPr>
              <a:t>Dado el estado actual (qué armas ya se asignaron y a qué objetivos), </a:t>
            </a:r>
            <a:r>
              <a:rPr sz="1800" b="1" i="0">
                <a:solidFill>
                  <a:srgbClr val="1B2A41"/>
                </a:solidFill>
                <a:latin typeface="Arial"/>
              </a:rPr>
              <a:t>¿qué arma asigno ahora y a qué objetivo?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212848"/>
            <a:ext cx="713232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2E3540"/>
                </a:solidFill>
                <a:latin typeface="Arial"/>
              </a:rPr>
              <a:t>W armas, T objetivos. El objetivo j vale </a:t>
            </a:r>
            <a:r>
              <a:rPr sz="1350" b="1" i="0">
                <a:solidFill>
                  <a:srgbClr val="2E3540"/>
                </a:solidFill>
                <a:latin typeface="Arial"/>
              </a:rPr>
              <a:t>Vⱼ</a:t>
            </a:r>
            <a:r>
              <a:rPr sz="1350" b="0" i="0">
                <a:solidFill>
                  <a:srgbClr val="2E3540"/>
                </a:solidFill>
                <a:latin typeface="Arial"/>
              </a:rPr>
              <a:t>; el arma i lo destruye con prob. </a:t>
            </a:r>
            <a:r>
              <a:rPr sz="1350" b="1" i="0">
                <a:solidFill>
                  <a:srgbClr val="2E3540"/>
                </a:solidFill>
                <a:latin typeface="Arial"/>
              </a:rPr>
              <a:t>pᵢⱼ</a:t>
            </a:r>
            <a:r>
              <a:rPr sz="1350" b="0" i="0">
                <a:solidFill>
                  <a:srgbClr val="2E3540"/>
                </a:solidFill>
                <a:latin typeface="Arial"/>
              </a:rPr>
              <a:t>. Cada arma va a ≤ 1 objetivo; un objetivo puede recibir varias.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2880360"/>
            <a:ext cx="6995160" cy="77724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926080"/>
            <a:ext cx="2813476" cy="685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006840" y="2926080"/>
            <a:ext cx="26517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B7585"/>
                </a:solidFill>
                <a:latin typeface="Arial"/>
              </a:rPr>
              <a:t>valor esperado que sobrevive (se minimiza)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840480"/>
            <a:ext cx="71323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B2A41"/>
                </a:solidFill>
                <a:latin typeface="Arial"/>
              </a:rPr>
              <a:t>Tarea 4 (MLP) → Tarea 5 (atención + puntero)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4297680"/>
            <a:ext cx="2331720" cy="512064"/>
          </a:xfrm>
          <a:prstGeom prst="roundRect">
            <a:avLst>
              <a:gd name="adj" fmla="val 25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Pesos por posición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50608" y="4553712"/>
            <a:ext cx="365760" cy="0"/>
          </a:xfrm>
          <a:prstGeom prst="line">
            <a:avLst/>
          </a:prstGeom>
          <a:ln w="25400">
            <a:solidFill>
              <a:srgbClr val="6B75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589520" y="4297680"/>
            <a:ext cx="4160520" cy="512064"/>
          </a:xfrm>
          <a:prstGeom prst="roundRect">
            <a:avLst>
              <a:gd name="adj" fmla="val 25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2E3540"/>
                </a:solidFill>
                <a:latin typeface="Arial"/>
              </a:rPr>
              <a:t>pesos compartidos: cada par se evalúa con la misma función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4956048"/>
            <a:ext cx="2331720" cy="512064"/>
          </a:xfrm>
          <a:prstGeom prst="roundRect">
            <a:avLst>
              <a:gd name="adj" fmla="val 25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Solo W = 10, T = 8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50608" y="5212080"/>
            <a:ext cx="365760" cy="0"/>
          </a:xfrm>
          <a:prstGeom prst="line">
            <a:avLst/>
          </a:prstGeom>
          <a:ln w="25400">
            <a:solidFill>
              <a:srgbClr val="6B75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589520" y="4956048"/>
            <a:ext cx="4160520" cy="512064"/>
          </a:xfrm>
          <a:prstGeom prst="roundRect">
            <a:avLst>
              <a:gd name="adj" fmla="val 25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2E3540"/>
                </a:solidFill>
                <a:latin typeface="Arial"/>
              </a:rPr>
              <a:t>ningún peso depende de W ni de T (probado hasta 20 × 15)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5614416"/>
            <a:ext cx="2331720" cy="512064"/>
          </a:xfrm>
          <a:prstGeom prst="roundRect">
            <a:avLst>
              <a:gd name="adj" fmla="val 25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Orden fijo de armas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150608" y="5870448"/>
            <a:ext cx="365760" cy="0"/>
          </a:xfrm>
          <a:prstGeom prst="line">
            <a:avLst/>
          </a:prstGeom>
          <a:ln w="25400">
            <a:solidFill>
              <a:srgbClr val="6B75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589520" y="5614416"/>
            <a:ext cx="4160520" cy="512064"/>
          </a:xfrm>
          <a:prstGeom prst="roundRect">
            <a:avLst>
              <a:gd name="adj" fmla="val 25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2E3540"/>
                </a:solidFill>
                <a:latin typeface="Arial"/>
              </a:rPr>
              <a:t>la acción es un par (arma, objetivo): el modelo elige también el arma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74320"/>
            <a:ext cx="107899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1B2A41"/>
                </a:solidFill>
                <a:latin typeface="Arial"/>
              </a:rPr>
              <a:t>De la solución del experto a decisiones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786384"/>
            <a:ext cx="10881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6B7585"/>
                </a:solidFill>
                <a:latin typeface="Arial"/>
              </a:rPr>
              <a:t>Tuplas (estado, acciones posibles → acción escogida); cada paso agrega un par (arma libre → objetivo). Ejemplo real 10 ×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B7585"/>
                </a:solidFill>
                <a:latin typeface="Arial"/>
              </a:rPr>
              <a:t>OII462 · Tarea 5 · Atención con puntero para el WTAP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6B7585"/>
                </a:solidFill>
                <a:latin typeface="Arial"/>
              </a:rPr>
              <a:t>2 / 5</a:t>
            </a:r>
          </a:p>
        </p:txBody>
      </p:sp>
      <p:pic>
        <p:nvPicPr>
          <p:cNvPr id="8" name="Picture 7" descr="descomposi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213" y="1188720"/>
            <a:ext cx="10624813" cy="2788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57200" y="4114800"/>
            <a:ext cx="2697480" cy="123444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251960"/>
            <a:ext cx="64008" cy="96012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420624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B2A41"/>
                </a:solidFill>
                <a:latin typeface="Arial"/>
              </a:rPr>
              <a:t>Estado inicial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553712"/>
            <a:ext cx="23774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2E3540"/>
                </a:solidFill>
                <a:latin typeface="Arial"/>
              </a:rPr>
              <a:t>asignación vacía: las 10 armas libres (análogo a visited=[0])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5848" y="4114800"/>
            <a:ext cx="2697480" cy="123444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55848" y="4251960"/>
            <a:ext cx="64008" cy="96012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7016" y="420624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F77B4"/>
                </a:solidFill>
                <a:latin typeface="Arial"/>
              </a:rPr>
              <a:t>Acciones posibles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7016" y="4553712"/>
            <a:ext cx="23774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2E3540"/>
                </a:solidFill>
                <a:latin typeface="Arial"/>
              </a:rPr>
              <a:t>todos los pares (arma libre, objetivo): k·T
80 en el paso 0 … 8 en el último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4496" y="4114800"/>
            <a:ext cx="2697480" cy="123444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54496" y="4251960"/>
            <a:ext cx="64008" cy="9601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5664" y="420624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C0392B"/>
                </a:solidFill>
                <a:latin typeface="Arial"/>
              </a:rPr>
              <a:t>Acción escogida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4553712"/>
            <a:ext cx="23774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2E3540"/>
                </a:solidFill>
                <a:latin typeface="Arial"/>
              </a:rPr>
              <a:t>par del experto con mayor ganancia Vⱼ·qⱼ·pᵢⱼ (criterio MMR) → env.state_transition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53144" y="4114800"/>
            <a:ext cx="2697480" cy="123444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53144" y="4251960"/>
            <a:ext cx="64008" cy="960120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54312" y="420624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2CA02C"/>
                </a:solidFill>
                <a:latin typeface="Arial"/>
              </a:rPr>
              <a:t>Término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54312" y="4553712"/>
            <a:ext cx="23774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2E3540"/>
                </a:solidFill>
                <a:latin typeface="Arial"/>
              </a:rPr>
              <a:t>cuando las W armas están asignadas: W = 10 tuplas por instancia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486400"/>
            <a:ext cx="11277295" cy="777240"/>
          </a:xfrm>
          <a:prstGeom prst="roundRect">
            <a:avLst>
              <a:gd name="adj" fmla="val 15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504688"/>
            <a:ext cx="10911535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2E3540"/>
                </a:solidFill>
                <a:latin typeface="Arial"/>
              </a:rPr>
              <a:t>¿Por qué ese orden? </a:t>
            </a:r>
            <a:r>
              <a:rPr sz="1200" b="0" i="0">
                <a:solidFill>
                  <a:srgbClr val="2E3540"/>
                </a:solidFill>
                <a:latin typeface="Arial"/>
              </a:rPr>
              <a:t>El experto entrega un conjunto de pares sin orden; ordenarlos por ganancia marginal da una etiqueta única por estado, reconstruye exactamente su solución y es coherente con MMR. En este ejemplo el par del experto difiere del que elegiría MMR en 4 de 10 pasos: eso es lo que el modelo debe aprender a corregir.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74320"/>
            <a:ext cx="107899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1B2A41"/>
                </a:solidFill>
                <a:latin typeface="Arial"/>
              </a:rPr>
              <a:t>Entrada: matriz (1 + W·T) × 16 — una fila por acción posible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786384"/>
            <a:ext cx="10881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6B7585"/>
                </a:solidFill>
                <a:latin typeface="Arial"/>
              </a:rPr>
              <a:t>81 × 16 en entrenamiento. Todas las filas se procesan con los mismos pesos; ninguna columna depende del índice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B7585"/>
                </a:solidFill>
                <a:latin typeface="Arial"/>
              </a:rPr>
              <a:t>OII462 · Tarea 5 · Atención con puntero para el WTAP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6B7585"/>
                </a:solidFill>
                <a:latin typeface="Arial"/>
              </a:rPr>
              <a:t>3 / 5</a:t>
            </a:r>
          </a:p>
        </p:txBody>
      </p:sp>
      <p:pic>
        <p:nvPicPr>
          <p:cNvPr id="8" name="Picture 7" descr="est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07515"/>
            <a:ext cx="7589520" cy="243128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92440" y="1234440"/>
            <a:ext cx="3657600" cy="237744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298448"/>
            <a:ext cx="3474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B2A41"/>
                </a:solidFill>
                <a:latin typeface="Arial"/>
              </a:rPr>
              <a:t>Filas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691640"/>
            <a:ext cx="1097280" cy="384048"/>
          </a:xfrm>
          <a:prstGeom prst="roundRect">
            <a:avLst>
              <a:gd name="adj" fmla="val 25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fila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1664208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2E3540"/>
                </a:solidFill>
                <a:latin typeface="Arial"/>
              </a:rPr>
              <a:t>global [CLS]</a:t>
            </a:r>
            <a:r>
              <a:rPr sz="1050" b="0" i="0">
                <a:solidFill>
                  <a:srgbClr val="2E3540"/>
                </a:solidFill>
                <a:latin typeface="Arial"/>
              </a:rPr>
              <a:t>: forma la query; siempre enmascarada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286000"/>
            <a:ext cx="1097280" cy="384048"/>
          </a:xfrm>
          <a:prstGeom prst="roundRect">
            <a:avLst>
              <a:gd name="adj" fmla="val 25000"/>
            </a:avLst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1+i·T+j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2258568"/>
            <a:ext cx="22860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2E3540"/>
                </a:solidFill>
                <a:latin typeface="Arial"/>
              </a:rPr>
              <a:t>par (arma i → objetivo j)</a:t>
            </a:r>
            <a:r>
              <a:rPr sz="1050" b="0" i="0">
                <a:solidFill>
                  <a:srgbClr val="2E3540"/>
                </a:solidFill>
                <a:latin typeface="Arial"/>
              </a:rPr>
              <a:t>: estado + acción “asignar i a j”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926080"/>
            <a:ext cx="34747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B7585"/>
                </a:solidFill>
                <a:latin typeface="Arial"/>
              </a:rPr>
              <a:t>Con k armas libres quedan </a:t>
            </a:r>
            <a:r>
              <a:rPr sz="1050" b="1" i="0">
                <a:solidFill>
                  <a:srgbClr val="6B7585"/>
                </a:solidFill>
                <a:latin typeface="Arial"/>
              </a:rPr>
              <a:t>k·T filas válidas</a:t>
            </a:r>
            <a:r>
              <a:rPr sz="1050" b="0" i="0">
                <a:solidFill>
                  <a:srgbClr val="6B7585"/>
                </a:solidFill>
                <a:latin typeface="Arial"/>
              </a:rPr>
              <a:t> = las acciones de env.gen_actions.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40480"/>
            <a:ext cx="3637178" cy="1600200"/>
          </a:xfrm>
          <a:prstGeom prst="roundRect">
            <a:avLst>
              <a:gd name="adj" fmla="val 6000"/>
            </a:avLst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977640"/>
            <a:ext cx="64008" cy="132588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31920"/>
            <a:ext cx="331713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F77B4"/>
                </a:solidFill>
                <a:latin typeface="Arial"/>
              </a:rPr>
              <a:t>Propias del par (0–2)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79392"/>
            <a:ext cx="3317138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2E3540"/>
                </a:solidFill>
                <a:latin typeface="Arial"/>
              </a:rPr>
              <a:t>0 pᵢⱼ</a:t>
            </a:r>
            <a:r>
              <a:rPr sz="1150" b="0" i="0">
                <a:solidFill>
                  <a:srgbClr val="2E3540"/>
                </a:solidFill>
                <a:latin typeface="Arial"/>
              </a:rPr>
              <a:t> → efectividad del arma</a:t>
            </a:r>
          </a:p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2E3540"/>
                </a:solidFill>
                <a:latin typeface="Arial"/>
              </a:rPr>
              <a:t>1 Vⱼ / max V</a:t>
            </a:r>
            <a:r>
              <a:rPr sz="1150" b="0" i="0">
                <a:solidFill>
                  <a:srgbClr val="2E3540"/>
                </a:solidFill>
                <a:latin typeface="Arial"/>
              </a:rPr>
              <a:t> → importancia del objetivo</a:t>
            </a:r>
          </a:p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2E3540"/>
                </a:solidFill>
                <a:latin typeface="Arial"/>
              </a:rPr>
              <a:t>2 pᵢⱼ − máxⱼ′ pᵢⱼ′</a:t>
            </a:r>
            <a:r>
              <a:rPr sz="1150" b="0" i="0">
                <a:solidFill>
                  <a:srgbClr val="2E3540"/>
                </a:solidFill>
                <a:latin typeface="Arial"/>
              </a:rPr>
              <a:t> → ¿es su mejor destino?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77258" y="3840480"/>
            <a:ext cx="3637178" cy="1600200"/>
          </a:xfrm>
          <a:prstGeom prst="roundRect">
            <a:avLst>
              <a:gd name="adj" fmla="val 6000"/>
            </a:avLst>
          </a:prstGeom>
          <a:solidFill>
            <a:srgbClr val="F9D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77258" y="3977640"/>
            <a:ext cx="64008" cy="13258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78426" y="3931920"/>
            <a:ext cx="331713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C0392B"/>
                </a:solidFill>
                <a:latin typeface="Arial"/>
              </a:rPr>
              <a:t>Flags de estado (3–5)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8426" y="4279392"/>
            <a:ext cx="3317138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2E3540"/>
                </a:solidFill>
                <a:latin typeface="Arial"/>
              </a:rPr>
              <a:t>3 es_global</a:t>
            </a:r>
            <a:r>
              <a:rPr sz="1150" b="0" i="0">
                <a:solidFill>
                  <a:srgbClr val="2E3540"/>
                </a:solidFill>
                <a:latin typeface="Arial"/>
              </a:rPr>
              <a:t> → fila de la query</a:t>
            </a:r>
          </a:p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C0392B"/>
                </a:solidFill>
                <a:latin typeface="Arial"/>
              </a:rPr>
              <a:t>4 no_disponible</a:t>
            </a:r>
            <a:r>
              <a:rPr sz="1150" b="0" i="0">
                <a:solidFill>
                  <a:srgbClr val="2E3540"/>
                </a:solidFill>
                <a:latin typeface="Arial"/>
              </a:rPr>
              <a:t> → MÁSCARA (arma ya asignada)</a:t>
            </a:r>
          </a:p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2E3540"/>
                </a:solidFill>
                <a:latin typeface="Arial"/>
              </a:rPr>
              <a:t>5 asignado</a:t>
            </a:r>
            <a:r>
              <a:rPr sz="1150" b="0" i="0">
                <a:solidFill>
                  <a:srgbClr val="2E3540"/>
                </a:solidFill>
                <a:latin typeface="Arial"/>
              </a:rPr>
              <a:t> → xᵢⱼ = 1 en la solución parcial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7316" y="3840480"/>
            <a:ext cx="3637178" cy="1600200"/>
          </a:xfrm>
          <a:prstGeom prst="roundRect">
            <a:avLst>
              <a:gd name="adj" fmla="val 6000"/>
            </a:avLst>
          </a:prstGeom>
          <a:solidFill>
            <a:srgbClr val="DF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7316" y="3977640"/>
            <a:ext cx="64008" cy="1325880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98484" y="3931920"/>
            <a:ext cx="331713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2CA02C"/>
                </a:solidFill>
                <a:latin typeface="Arial"/>
              </a:rPr>
              <a:t>Relativas al estado (6–15)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8484" y="4279392"/>
            <a:ext cx="3317138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2E3540"/>
                </a:solidFill>
                <a:latin typeface="Arial"/>
              </a:rPr>
              <a:t>de las heurísticas: </a:t>
            </a:r>
            <a:r>
              <a:rPr sz="1150" b="1" i="0">
                <a:solidFill>
                  <a:srgbClr val="2E3540"/>
                </a:solidFill>
                <a:latin typeface="Arial"/>
              </a:rPr>
              <a:t>ganancia Vⱼqⱼpᵢⱼ (MMR)</a:t>
            </a:r>
            <a:r>
              <a:rPr sz="1150" b="0" i="0">
                <a:solidFill>
                  <a:srgbClr val="2E3540"/>
                </a:solidFill>
                <a:latin typeface="Arial"/>
              </a:rPr>
              <a:t>, es_mmr, qⱼ, armas en j, ventaja y arrepentimiento vs otras armas libres, </a:t>
            </a:r>
            <a:r>
              <a:rPr sz="1150" b="1" i="0">
                <a:solidFill>
                  <a:srgbClr val="2E3540"/>
                </a:solidFill>
                <a:latin typeface="Arial"/>
              </a:rPr>
              <a:t>completar con MMR</a:t>
            </a:r>
            <a:r>
              <a:rPr sz="1150" b="0" i="0">
                <a:solidFill>
                  <a:srgbClr val="2E3540"/>
                </a:solidFill>
                <a:latin typeface="Arial"/>
              </a:rPr>
              <a:t> (anticipación), fracción restante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577840"/>
            <a:ext cx="11277295" cy="713232"/>
          </a:xfrm>
          <a:prstGeom prst="roundRect">
            <a:avLst>
              <a:gd name="adj" fmla="val 15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596128"/>
            <a:ext cx="10911535" cy="6766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2E3540"/>
                </a:solidFill>
                <a:latin typeface="Arial"/>
              </a:rPr>
              <a:t>Independencia del tamaño: </a:t>
            </a:r>
            <a:r>
              <a:rPr sz="1200" b="0" i="0">
                <a:solidFill>
                  <a:srgbClr val="2E3540"/>
                </a:solidFill>
                <a:latin typeface="Arial"/>
              </a:rPr>
              <a:t>todo está normalizado por instancia (÷ máximo o fracciones) y la información global se repite en cada fila y en la fila 0. La self-attention deja que el par (i, j) compare con los pares (i′, j) de otras armas.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74320"/>
            <a:ext cx="107899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1B2A41"/>
                </a:solidFill>
                <a:latin typeface="Arial"/>
              </a:rPr>
              <a:t>Salida: un logit por fila, máscara y etiqueta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786384"/>
            <a:ext cx="10881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6B7585"/>
                </a:solidFill>
                <a:latin typeface="Arial"/>
              </a:rPr>
              <a:t>Modelo: estructura de TSP_Attention; cambian VEC_LEN, la query de decisión (paso 3) y la columna de máscara (paso 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B7585"/>
                </a:solidFill>
                <a:latin typeface="Arial"/>
              </a:rPr>
              <a:t>OII462 · Tarea 5 · Atención con puntero para el WTAP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6B7585"/>
                </a:solidFill>
                <a:latin typeface="Arial"/>
              </a:rPr>
              <a:t>4 /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1234440" cy="1143000"/>
          </a:xfrm>
          <a:prstGeom prst="roundRect">
            <a:avLst>
              <a:gd name="adj" fmla="val 12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Entrada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FFFFFF"/>
                </a:solidFill>
                <a:latin typeface="Arial"/>
              </a:rPr>
              <a:t>(1+W·T) × 16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09928" y="1892807"/>
            <a:ext cx="296113" cy="0"/>
          </a:xfrm>
          <a:prstGeom prst="line">
            <a:avLst/>
          </a:prstGeom>
          <a:ln w="25400">
            <a:solidFill>
              <a:srgbClr val="6B75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024329" y="1325880"/>
            <a:ext cx="1325880" cy="1143000"/>
          </a:xfrm>
          <a:prstGeom prst="roundRect">
            <a:avLst>
              <a:gd name="adj" fmla="val 12000"/>
            </a:avLst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Embedding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FFFFFF"/>
                </a:solidFill>
                <a:latin typeface="Arial"/>
              </a:rPr>
              <a:t>Linear(16, 64)
compartido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68497" y="1892807"/>
            <a:ext cx="296113" cy="0"/>
          </a:xfrm>
          <a:prstGeom prst="line">
            <a:avLst/>
          </a:prstGeom>
          <a:ln w="25400">
            <a:solidFill>
              <a:srgbClr val="6B75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682898" y="1325880"/>
            <a:ext cx="1600200" cy="1143000"/>
          </a:xfrm>
          <a:prstGeom prst="roundRect">
            <a:avLst>
              <a:gd name="adj" fmla="val 12000"/>
            </a:avLst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Encoder × 2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FFFFFF"/>
                </a:solidFill>
                <a:latin typeface="Arial"/>
              </a:rPr>
              <a:t>self-attention + FF
residual · LayerNorm
Dropout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301386" y="1892807"/>
            <a:ext cx="296113" cy="0"/>
          </a:xfrm>
          <a:prstGeom prst="line">
            <a:avLst/>
          </a:prstGeom>
          <a:ln w="25400">
            <a:solidFill>
              <a:srgbClr val="6B75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615787" y="1325880"/>
            <a:ext cx="1463040" cy="1143000"/>
          </a:xfrm>
          <a:prstGeom prst="roundRect">
            <a:avLst>
              <a:gd name="adj" fmla="val 12000"/>
            </a:avLst>
          </a:prstGeom>
          <a:solidFill>
            <a:srgbClr val="9467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Query q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FFFFFF"/>
                </a:solidFill>
                <a:latin typeface="Arial"/>
              </a:rPr>
              <a:t>Wc[h_global ;
promedio disp.]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97115" y="1892807"/>
            <a:ext cx="296113" cy="0"/>
          </a:xfrm>
          <a:prstGeom prst="line">
            <a:avLst/>
          </a:prstGeom>
          <a:ln w="25400">
            <a:solidFill>
              <a:srgbClr val="6B75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11516" y="1325880"/>
            <a:ext cx="1325880" cy="1143000"/>
          </a:xfrm>
          <a:prstGeom prst="roundRect">
            <a:avLst>
              <a:gd name="adj" fmla="val 12000"/>
            </a:avLst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Puntero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FFFFFF"/>
                </a:solidFill>
                <a:latin typeface="Arial"/>
              </a:rPr>
              <a:t>uᵣ = q·hᵣ / √d
(Wq, Wk)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755684" y="1892807"/>
            <a:ext cx="296114" cy="0"/>
          </a:xfrm>
          <a:prstGeom prst="line">
            <a:avLst/>
          </a:prstGeom>
          <a:ln w="25400">
            <a:solidFill>
              <a:srgbClr val="6B75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070086" y="1325880"/>
            <a:ext cx="1234440" cy="1143000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Máscara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FFFFFF"/>
                </a:solidFill>
                <a:latin typeface="Arial"/>
              </a:rPr>
              <a:t>col. 4 = 1
→ uᵣ = −10⁹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322814" y="1892807"/>
            <a:ext cx="296113" cy="0"/>
          </a:xfrm>
          <a:prstGeom prst="line">
            <a:avLst/>
          </a:prstGeom>
          <a:ln w="25400">
            <a:solidFill>
              <a:srgbClr val="6B75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637215" y="1325880"/>
            <a:ext cx="1097280" cy="1143000"/>
          </a:xfrm>
          <a:prstGeom prst="roundRect">
            <a:avLst>
              <a:gd name="adj" fmla="val 12000"/>
            </a:avLst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Softmax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FFFFFF"/>
                </a:solidFill>
                <a:latin typeface="Arial"/>
              </a:rPr>
              <a:t>P(fila 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60604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6B7585"/>
                </a:solidFill>
                <a:latin typeface="Arial"/>
              </a:rPr>
              <a:t>tamaño moderado: d = 64 · 2 capas · 75.776 parámetros · Dropout evaluado en 0 / 0,1 / 0,2 (elegido por gap de validación: 0,0)</a:t>
            </a:r>
          </a:p>
        </p:txBody>
      </p:sp>
      <p:pic>
        <p:nvPicPr>
          <p:cNvPr id="22" name="Picture 21" descr="sali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294" y="3017520"/>
            <a:ext cx="3881171" cy="329184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4754880" y="3063240"/>
            <a:ext cx="3429000" cy="3200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54880" y="3200400"/>
            <a:ext cx="64008" cy="2926080"/>
          </a:xfrm>
          <a:prstGeom prst="rect">
            <a:avLst/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56048" y="3154680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FF7F0E"/>
                </a:solidFill>
                <a:latin typeface="Arial"/>
              </a:rPr>
              <a:t>SALIDA Y ETIQUETA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56048" y="3502152"/>
            <a:ext cx="3108960" cy="2697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2E3540"/>
                </a:solidFill>
                <a:latin typeface="Arial"/>
              </a:rPr>
              <a:t>Logits: </a:t>
            </a:r>
            <a:r>
              <a:rPr sz="1100" b="0" i="0">
                <a:solidFill>
                  <a:srgbClr val="2E3540"/>
                </a:solidFill>
                <a:latin typeface="Arial"/>
              </a:rPr>
              <a:t>vector de largo 1 + W·T (uno por fila).</a:t>
            </a:r>
          </a:p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2E3540"/>
                </a:solidFill>
                <a:latin typeface="Arial"/>
              </a:rPr>
              <a:t>Acción ↔ fila: </a:t>
            </a:r>
            <a:r>
              <a:rPr sz="1100" b="0" i="0">
                <a:solidFill>
                  <a:srgbClr val="2E3540"/>
                </a:solidFill>
                <a:latin typeface="Arial"/>
              </a:rPr>
              <a:t>("constructive", (i, j)) = fila 1 + i·T + j.</a:t>
            </a:r>
          </a:p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2E3540"/>
                </a:solidFill>
                <a:latin typeface="Arial"/>
              </a:rPr>
              <a:t>Máscara: </a:t>
            </a:r>
            <a:r>
              <a:rPr sz="1100" b="0" i="0">
                <a:solidFill>
                  <a:srgbClr val="2E3540"/>
                </a:solidFill>
                <a:latin typeface="Arial"/>
              </a:rPr>
              <a:t>fila global y pares de armas ya asignadas (no_disponible = 1) → prob. 0.</a:t>
            </a:r>
          </a:p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2E3540"/>
                </a:solidFill>
                <a:latin typeface="Arial"/>
              </a:rPr>
              <a:t>Y: </a:t>
            </a:r>
            <a:r>
              <a:rPr sz="1100" b="0" i="0">
                <a:solidFill>
                  <a:srgbClr val="2E3540"/>
                </a:solidFill>
                <a:latin typeface="Arial"/>
              </a:rPr>
              <a:t>índice entero de la fila del experto (≡ one-hot).</a:t>
            </a:r>
          </a:p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2E3540"/>
                </a:solidFill>
                <a:latin typeface="Arial"/>
              </a:rPr>
              <a:t>Pérdida: </a:t>
            </a:r>
            <a:r>
              <a:rPr sz="1100" b="0" i="0">
                <a:solidFill>
                  <a:srgbClr val="2E3540"/>
                </a:solidFill>
                <a:latin typeface="Arial"/>
              </a:rPr>
              <a:t>CrossEntropyLoss(model(x), Y).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8366760" y="3063240"/>
          <a:ext cx="3383280" cy="3191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1188720"/>
                <a:gridCol w="1234440"/>
              </a:tblGrid>
              <a:tr h="457200">
                <a:tc>
                  <a:txBody>
                    <a:bodyPr wrap="square" anchor="ctr" lIns="45720" rIns="45720" tIns="27432" bIns="27432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18288" marB="18288">
                    <a:solidFill>
                      <a:srgbClr val="1B2A41"/>
                    </a:solidFill>
                  </a:tcPr>
                </a:tc>
                <a:tc>
                  <a:txBody>
                    <a:bodyPr wrap="square" anchor="ctr" lIns="45720" rIns="45720" tIns="27432" bIns="27432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TSP_Attention</a:t>
                      </a:r>
                    </a:p>
                  </a:txBody>
                  <a:tcPr marL="36576" marR="36576" marT="18288" marB="18288">
                    <a:solidFill>
                      <a:srgbClr val="1B2A41"/>
                    </a:solidFill>
                  </a:tcPr>
                </a:tc>
                <a:tc>
                  <a:txBody>
                    <a:bodyPr wrap="square" anchor="ctr" lIns="45720" rIns="45720" tIns="27432" bIns="27432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WTAP_Attention</a:t>
                      </a:r>
                    </a:p>
                  </a:txBody>
                  <a:tcPr marL="36576" marR="36576" marT="18288" marB="18288">
                    <a:solidFill>
                      <a:srgbClr val="1B2A41"/>
                    </a:solidFill>
                  </a:tcPr>
                </a:tc>
              </a:tr>
              <a:tr h="457200">
                <a:tc>
                  <a:txBody>
                    <a:bodyPr wrap="square" anchor="ctr" lIns="45720" rIns="45720" tIns="27432" bIns="27432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950" b="1" i="0">
                          <a:solidFill>
                            <a:srgbClr val="2E3540"/>
                          </a:solidFill>
                          <a:latin typeface="Arial"/>
                        </a:rPr>
                        <a:t>VEC_LEN</a:t>
                      </a:r>
                    </a:p>
                  </a:txBody>
                  <a:tcPr marL="36576" marR="36576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 anchor="ctr" lIns="45720" rIns="45720" tIns="27432" bIns="27432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950" b="0" i="0">
                          <a:solidFill>
                            <a:srgbClr val="2E354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36576" marR="36576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 anchor="ctr" lIns="45720" rIns="45720" tIns="27432" bIns="27432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950" b="0" i="0">
                          <a:solidFill>
                            <a:srgbClr val="2E3540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36576" marR="36576" marT="18288" marB="18288">
                    <a:solidFill>
                      <a:srgbClr val="DCEAF7"/>
                    </a:solidFill>
                  </a:tcPr>
                </a:tc>
              </a:tr>
              <a:tr h="758952">
                <a:tc>
                  <a:txBody>
                    <a:bodyPr wrap="square" anchor="ctr" lIns="45720" rIns="45720" tIns="27432" bIns="27432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950" b="1" i="0">
                          <a:solidFill>
                            <a:srgbClr val="2E3540"/>
                          </a:solidFill>
                          <a:latin typeface="Arial"/>
                        </a:rPr>
                        <a:t>Query (paso 3)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45720" rIns="45720" tIns="27432" bIns="27432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950" b="0" i="0">
                          <a:solidFill>
                            <a:srgbClr val="2E3540"/>
                          </a:solidFill>
                          <a:latin typeface="Arial"/>
                        </a:rPr>
                        <a:t>[h_actual ; h_inicial]
col. 2 + fila 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45720" rIns="45720" tIns="27432" bIns="27432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950" b="0" i="0">
                          <a:solidFill>
                            <a:srgbClr val="2E3540"/>
                          </a:solidFill>
                          <a:latin typeface="Arial"/>
                        </a:rPr>
                        <a:t>[h_global ; promedio disp.]
col. 3 (es_global)</a:t>
                      </a:r>
                    </a:p>
                  </a:txBody>
                  <a:tcPr marL="36576" marR="36576" marT="18288" marB="18288">
                    <a:solidFill>
                      <a:srgbClr val="DCEAF7"/>
                    </a:solidFill>
                  </a:tcPr>
                </a:tc>
              </a:tr>
              <a:tr h="758952">
                <a:tc>
                  <a:txBody>
                    <a:bodyPr wrap="square" anchor="ctr" lIns="45720" rIns="45720" tIns="27432" bIns="27432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950" b="1" i="0">
                          <a:solidFill>
                            <a:srgbClr val="2E3540"/>
                          </a:solidFill>
                          <a:latin typeface="Arial"/>
                        </a:rPr>
                        <a:t>Máscara (paso 4)</a:t>
                      </a:r>
                    </a:p>
                  </a:txBody>
                  <a:tcPr marL="36576" marR="36576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 anchor="ctr" lIns="45720" rIns="45720" tIns="27432" bIns="27432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950" b="0" i="0">
                          <a:solidFill>
                            <a:srgbClr val="2E3540"/>
                          </a:solidFill>
                          <a:latin typeface="Arial"/>
                        </a:rPr>
                        <a:t>visitada (col. 3)</a:t>
                      </a:r>
                    </a:p>
                  </a:txBody>
                  <a:tcPr marL="36576" marR="36576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 anchor="ctr" lIns="45720" rIns="45720" tIns="27432" bIns="27432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950" b="0" i="0">
                          <a:solidFill>
                            <a:srgbClr val="2E3540"/>
                          </a:solidFill>
                          <a:latin typeface="Arial"/>
                        </a:rPr>
                        <a:t>no_disponible (col. 4)</a:t>
                      </a:r>
                    </a:p>
                  </a:txBody>
                  <a:tcPr marL="36576" marR="36576" marT="18288" marB="18288">
                    <a:solidFill>
                      <a:srgbClr val="DCEAF7"/>
                    </a:solidFill>
                  </a:tcPr>
                </a:tc>
              </a:tr>
              <a:tr h="758952">
                <a:tc>
                  <a:txBody>
                    <a:bodyPr wrap="square" anchor="ctr" lIns="45720" rIns="45720" tIns="27432" bIns="27432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950" b="1" i="0">
                          <a:solidFill>
                            <a:srgbClr val="2E3540"/>
                          </a:solidFill>
                          <a:latin typeface="Arial"/>
                        </a:rPr>
                        <a:t>Encoder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45720" rIns="45720" tIns="27432" bIns="27432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950" b="0" i="0">
                          <a:solidFill>
                            <a:srgbClr val="2E3540"/>
                          </a:solidFill>
                          <a:latin typeface="Arial"/>
                        </a:rPr>
                        <a:t>1 bloque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45720" rIns="45720" tIns="27432" bIns="27432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950" b="0" i="0">
                          <a:solidFill>
                            <a:srgbClr val="2E3540"/>
                          </a:solidFill>
                          <a:latin typeface="Arial"/>
                        </a:rPr>
                        <a:t>2 bloques + LayerNorm + Dropout</a:t>
                      </a:r>
                    </a:p>
                  </a:txBody>
                  <a:tcPr marL="36576" marR="36576" marT="18288" marB="18288">
                    <a:solidFill>
                      <a:srgbClr val="DCE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74320"/>
            <a:ext cx="107899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1B2A41"/>
                </a:solidFill>
                <a:latin typeface="Arial"/>
              </a:rPr>
              <a:t>Resultados: entrenamiento y evaluación (pasos opcionales 7 y 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786384"/>
            <a:ext cx="10881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6B7585"/>
                </a:solidFill>
                <a:latin typeface="Arial"/>
              </a:rPr>
              <a:t>60.000 pares (estado, fila) de 6.000 instancias · prueba en las mismas 50 instancias de la Tarea 4 · mismo GreedyAgent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B7585"/>
                </a:solidFill>
                <a:latin typeface="Arial"/>
              </a:rPr>
              <a:t>OII462 · Tarea 5 · Atención con puntero para el WTAP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6B7585"/>
                </a:solidFill>
                <a:latin typeface="Arial"/>
              </a:rPr>
              <a:t>5 /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34440"/>
            <a:ext cx="212378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2123785" cy="73152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44168"/>
            <a:ext cx="2123785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2500" b="1" i="0">
                <a:solidFill>
                  <a:srgbClr val="1F77B4"/>
                </a:solidFill>
                <a:latin typeface="Arial"/>
              </a:rPr>
              <a:t>87,3%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837944"/>
            <a:ext cx="2032345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2E3540"/>
                </a:solidFill>
                <a:latin typeface="Arial"/>
              </a:rPr>
              <a:t>accuracy validación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093976"/>
            <a:ext cx="203234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6B7585"/>
                </a:solidFill>
                <a:latin typeface="Arial"/>
              </a:rPr>
              <a:t>decisiones iguales al experto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5577" y="1234440"/>
            <a:ext cx="212378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5577" y="1234440"/>
            <a:ext cx="2123785" cy="73152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5577" y="1344168"/>
            <a:ext cx="2123785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2500" b="1" i="0">
                <a:solidFill>
                  <a:srgbClr val="1F77B4"/>
                </a:solidFill>
                <a:latin typeface="Arial"/>
              </a:rPr>
              <a:t>2,97%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91297" y="1837944"/>
            <a:ext cx="2032345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2E3540"/>
                </a:solidFill>
                <a:latin typeface="Arial"/>
              </a:rPr>
              <a:t>gap modelo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1297" y="2093976"/>
            <a:ext cx="203234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6B7585"/>
                </a:solidFill>
                <a:latin typeface="Arial"/>
              </a:rPr>
              <a:t>óptimo en 30% de las instancias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33954" y="1234440"/>
            <a:ext cx="212378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33954" y="1234440"/>
            <a:ext cx="2123785" cy="7315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33954" y="1344168"/>
            <a:ext cx="2123785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2500" b="1" i="0">
                <a:solidFill>
                  <a:srgbClr val="7F7F7F"/>
                </a:solidFill>
                <a:latin typeface="Arial"/>
              </a:rPr>
              <a:t>4,42%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9674" y="1837944"/>
            <a:ext cx="2032345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2E3540"/>
                </a:solidFill>
                <a:latin typeface="Arial"/>
              </a:rPr>
              <a:t>gap MLP (Tarea 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9674" y="2093976"/>
            <a:ext cx="203234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6B7585"/>
                </a:solidFill>
                <a:latin typeface="Arial"/>
              </a:rPr>
              <a:t>orden fijo de armas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22332" y="1234440"/>
            <a:ext cx="212378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22332" y="1234440"/>
            <a:ext cx="2123785" cy="73152"/>
          </a:xfrm>
          <a:prstGeom prst="rect">
            <a:avLst/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22332" y="1344168"/>
            <a:ext cx="2123785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2500" b="1" i="0">
                <a:solidFill>
                  <a:srgbClr val="FF7F0E"/>
                </a:solidFill>
                <a:latin typeface="Arial"/>
              </a:rPr>
              <a:t>7,68%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8052" y="1837944"/>
            <a:ext cx="2032345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2E3540"/>
                </a:solidFill>
                <a:latin typeface="Arial"/>
              </a:rPr>
              <a:t>gap MMR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8052" y="2093976"/>
            <a:ext cx="203234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6B7585"/>
                </a:solidFill>
                <a:latin typeface="Arial"/>
              </a:rPr>
              <a:t>heurística clásica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10709" y="1234440"/>
            <a:ext cx="212378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10709" y="1234440"/>
            <a:ext cx="2123785" cy="73152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10709" y="1344168"/>
            <a:ext cx="2123785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2500" b="1" i="0">
                <a:solidFill>
                  <a:srgbClr val="2CA02C"/>
                </a:solidFill>
                <a:latin typeface="Arial"/>
              </a:rPr>
              <a:t>72%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56429" y="1837944"/>
            <a:ext cx="2032345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2E3540"/>
                </a:solidFill>
                <a:latin typeface="Arial"/>
              </a:rPr>
              <a:t>gana a MMR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56429" y="2093976"/>
            <a:ext cx="203234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6B7585"/>
                </a:solidFill>
                <a:latin typeface="Arial"/>
              </a:rPr>
              <a:t>empata en 20%</a:t>
            </a:r>
          </a:p>
        </p:txBody>
      </p:sp>
      <p:pic>
        <p:nvPicPr>
          <p:cNvPr id="33" name="Picture 32" descr="cur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593931"/>
            <a:ext cx="5669280" cy="1853017"/>
          </a:xfrm>
          <a:prstGeom prst="rect">
            <a:avLst/>
          </a:prstGeom>
        </p:spPr>
      </p:pic>
      <p:pic>
        <p:nvPicPr>
          <p:cNvPr id="34" name="Picture 33" descr="generaliz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668257"/>
            <a:ext cx="3017520" cy="1704365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9326880" y="2560320"/>
            <a:ext cx="2423160" cy="196596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326880" y="2697479"/>
            <a:ext cx="64008" cy="1691639"/>
          </a:xfrm>
          <a:prstGeom prst="rect">
            <a:avLst/>
          </a:prstGeom>
          <a:solidFill>
            <a:srgbClr val="9467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28048" y="2651760"/>
            <a:ext cx="21031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9467BD"/>
                </a:solidFill>
                <a:latin typeface="Arial"/>
              </a:rPr>
              <a:t>GENERALIZA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28048" y="2999232"/>
            <a:ext cx="2103120" cy="146303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2E3540"/>
                </a:solidFill>
                <a:latin typeface="Arial"/>
              </a:rPr>
              <a:t>Entrenado solo con 10×8, se usa sin cambios en </a:t>
            </a:r>
            <a:r>
              <a:rPr sz="1100" b="1" i="0">
                <a:solidFill>
                  <a:srgbClr val="2E3540"/>
                </a:solidFill>
                <a:latin typeface="Arial"/>
              </a:rPr>
              <a:t>15×10 y 20×15</a:t>
            </a:r>
            <a:r>
              <a:rPr sz="1100" b="0" i="0">
                <a:solidFill>
                  <a:srgbClr val="2E3540"/>
                </a:solidFill>
                <a:latin typeface="Arial"/>
              </a:rPr>
              <a:t> (151 y 301 filas).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663440"/>
            <a:ext cx="11277295" cy="16002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709160"/>
            <a:ext cx="10911535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2E3540"/>
                </a:solidFill>
                <a:latin typeface="Arial"/>
              </a:rPr>
              <a:t>Lectura. </a:t>
            </a:r>
            <a:r>
              <a:rPr sz="1200" b="0" i="0">
                <a:solidFill>
                  <a:srgbClr val="2E3540"/>
                </a:solidFill>
                <a:latin typeface="Arial"/>
              </a:rPr>
              <a:t>Con la misma receta de imitación, el puntero sobre pares mejora a la MLP de la Tarea 4 (2,97% vs 4,42%) y reduce el gap de MMR (7,68%), pero ahora decide también qué arma usar, con pesos compartidos y para cualquier tamaño.</a:t>
            </a:r>
          </a:p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2E3540"/>
                </a:solidFill>
                <a:latin typeface="Arial"/>
              </a:rPr>
              <a:t>Gap vs experto por tamaño: </a:t>
            </a:r>
            <a:r>
              <a:rPr sz="1200" b="0" i="0">
                <a:solidFill>
                  <a:srgbClr val="2E3540"/>
                </a:solidFill>
                <a:latin typeface="Arial"/>
              </a:rPr>
              <a:t>10×8: 3,0% (MMR 7,7%) · 15×10: 4,9% (MMR 7,1%) · 20×15: 3,9% (MMR 5,7%).</a:t>
            </a:r>
          </a:p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2E3540"/>
                </a:solidFill>
                <a:latin typeface="Arial"/>
              </a:rPr>
              <a:t>Dropout: </a:t>
            </a:r>
            <a:r>
              <a:rPr sz="1200" b="0" i="0">
                <a:solidFill>
                  <a:srgbClr val="2E3540"/>
                </a:solidFill>
                <a:latin typeface="Arial"/>
              </a:rPr>
              <a:t>gap de validación 0,0 → 3,35% · 0,1 → 3,51% · 0,2 → 3,90%. Sin Dropout fue lo mejor: la pérdida de entrenamiento ≈ validación, el modelo no llega a sobreajustar.</a:t>
            </a:r>
          </a:p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2E3540"/>
                </a:solidFill>
                <a:latin typeface="Arial"/>
              </a:rPr>
              <a:t>Próximo paso: </a:t>
            </a:r>
            <a:r>
              <a:rPr sz="1200" b="0" i="0">
                <a:solidFill>
                  <a:srgbClr val="2E3540"/>
                </a:solidFill>
                <a:latin typeface="Arial"/>
              </a:rPr>
              <a:t>el correo lo deja para después: RL o DAgger para corregir el distribution shift y más capas/cabezas.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