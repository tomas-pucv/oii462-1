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(≈15 s). Presentamos el modelo encoder–decoder que construimos para el WTAP, la agenda y los tiempos de cada sección.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El WTAP: tenemos W armas y T objetivos. Cada objetivo tiene un valor V_j y cada arma i lo destruye con probabilidad p_ij. La salida es una matriz binaria X; cada arma va a lo más a un objetivo, pero un objetivo puede recibir varias armas. Minimizamos el valor esperado que sobrevive: es no lineal por el producto de probabilidades y el problema es NP-hard.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Así se ve una decisión. El estado es la asignación parcial: dos armas ya asignadas (azul). Las acciones posibles son todos los pares arma libre–objetivo (líneas grises, 64 en este paso). La acción es el par que escoge el experto (rojo). Después se actualiza la probabilidad de supervivencia del objetivo y se repite hasta asignar las 10 armas.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Cada elemento de la secuencia es una ACCIÓN: el par arma i → objetivo j, en la fila 1 + i·T + j. Elegimos pares porque es exactamente lo que evalúa la heurística clásica MMR y porque así la máscara es natural. La fila 0 es una fila global, como el token CLS, que resume el estado. Cada fila tiene 16 features en tres roles: propias del par, flags y relativas al estado.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Primeras 8 features. Las tres primeras describen la acción por sí misma. Los flags le dicen al modelo dónde está la fila de la query y qué acciones son inválidas. q_j y el valor en juego capturan los rendimientos decrecientes: un segundo disparo solo actúa sobre lo que sobrevivió.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Las features relativas vienen de las heurísticas: la ganancia marginal es el criterio de MMR; ventaja y arrepentimiento comparan con otras armas libres (regret); mmr_completa y q_final miran hacia adelante completando la solución con MMR. Así el modelo puede aprender cuándo NO conviene tomar la mayor ganancia inmediata.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El experto es una Búsqueda Local Iterada: parte de MMR, aplica búsqueda local con movimientos reassign y swap, y perturba. La elegimos porque alcanza el óptimo exacto en todas las instancias que verificamos y tarda milisegundos. Su solución es un conjunto de pares sin orden: la descomponemos agregando en cada paso el par con mayor ganancia marginal (el criterio de MMR). Cada paso da un par (estado, acción): x es la matriz state2vec y y es el índice de la fila escogida, que equivale a un one-hot sobre las filas. Con 6.000 instancias obtenemos 60.000 ejemplos.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El encoder recibe la secuencia de 81 filas con sus 16 features. Un embedding lineal compartido las lleva a dimensión 64 y dos capas de self-attention con feed-forward, residual y LayerNorm hacen que cada par mire a todos los demás. Sale H: un vector de 64 por fila, que ya sabe del resto de la instancia y del estado. El decoder toma H, la fila global y la máscara: arma un contexto con el embedding de la fila global y el promedio de los pares disponibles, lo proyecta a una query q, y calcula la compatibilidad de q con cada fila (puntero). Las filas no disponibles reciben −10⁹ y el softmax da la probabilidad de cada acción. Se ejecuta la acción y, como las features cambian, el encoder se vuelve a aplicar en el paso siguiente.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En detalle: cada etapa con su forma. La query se arma con la fila global y el promedio de los pares disponibles, como el embedding del grafo de Kool et al. El puntero es una atención con una sola consulta: sus pesos no mezclan valores, son directamente la política. Respecto de la arquitectura Glimpse vista en clases: Kool agrega antes del puntero un glimpse, una atención multi-cabeza del contexto sobre H, y recorta los logits con tanh. Nuestro decoder no tiene glimpse; es la principal mejora pendiente.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La tabla resume todos los hiperparámetros. Mantuvimos un modelo moderado: 2 capas de encoder, 1 de decoder, 1 cabeza y d = 64. El Dropout se eligió con un barrido 0 / 0,1 / 0,2 por el gap en validación: ganó sin Dropout. Split por instancias: 6.000 para entrenar y 300 para validar; la prueba es aparte. Adam con tasa 1e-3, batch 256, early stopping por pérdida de validación con paciencia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La pérdida de entrenamiento y la de validación bajan juntas y se mantienen pegadas hasta el final: en la mejor época la diferencia es mínima. Si hubiera sobreajuste veríamos la validación subir mientras el entrenamiento sigue bajando. Esto es razonable porque tenemos 60.000 ejemplos y solo ~76 mil parámetros compartidos entre todas las filas. El early stopping restaura la mejor época.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Evaluamos en 50 instancias nuevas de 10 × 8, las mismas de la Tarea 4. La métrica es el gap respecto del experto, que en este tamaño coincide con el óptimo. Comparamos con MMR, la heurística clásica, y con un constructivo aleatorio. El modelo reduce el gap de MMR a menos de la mitad, gana en la mayoría de las instancias y supera a la MLP de la Tarea 4. El aleatorio confirma que lo aprendido no es trivial.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El mismo modelo, entrenado solo con 10 × 8, se aplica sin cambios a cinco tamaños, de 21 a 601 filas. Supera a MMR en todos, y el aleatorio queda muy lejos. En 5 × 4, donde verificamos el óptimo por fuerza bruta, es incluso mejor que en el tamaño de entrenamiento. Al crecer la instancia el gap sube y la ventaja sobre MMR se achica: en 30 × 20 es de menos de un punto. Eso sugiere entrenar con tamaños mixtos.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Funcionó: la representación por pares con features tomadas de las heurísticas, la máscara natural y la generalización a otros tamaños; el modelo reduce el gap de MMR a menos de la mitad. No resultó como esperábamos: el Dropout no ayudó, las primeras decisiones siguen siendo las más difíciles y en instancias grandes la ventaja sobre MMR se achica. Mejoraríamos: agregar el glimpse multi-cabeza al decoder, entrenar con tamaños mixtos, DAgger o RL para el distribution shift, y reducir el costo cuadrático codificando armas y objetivos por separado.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0" cy="685800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3840480" cy="365760"/>
          </a:xfrm>
          <a:prstGeom prst="rect">
            <a:avLst/>
          </a:prstGeom>
          <a:noFill/>
        </p:spPr>
        <p:txBody>
          <a:bodyPr wrap="square" anchor="t" lIns="45720" rIns="45720" tIns="27432" bIns="27432">
            <a:spAutoFit/>
          </a:bodyPr>
          <a:lstStyle/>
          <a:p>
            <a:pPr algn="l">
              <a:lnSpc>
                <a:spcPct val="110000"/>
              </a:lnSpc>
            </a:pPr>
            <a:r>
              <a:rPr sz="1300" b="1" i="0">
                <a:solidFill>
                  <a:srgbClr val="8FB8DE"/>
                </a:solidFill>
                <a:latin typeface="Arial"/>
              </a:rPr>
              <a:t>OII462 · PROYECTO DEL MÓDULO</a:t>
            </a:r>
          </a:p>
        </p:txBody>
      </p:sp>
      <p:sp>
        <p:nvSpPr>
          <p:cNvPr id="5" name="TextBox 4"/>
          <p:cNvSpPr txBox="1"/>
          <p:nvPr/>
        </p:nvSpPr>
        <p:spPr>
          <a:xfrm>
            <a:off x="502920" y="1051560"/>
            <a:ext cx="3931920" cy="2377440"/>
          </a:xfrm>
          <a:prstGeom prst="rect">
            <a:avLst/>
          </a:prstGeom>
          <a:noFill/>
        </p:spPr>
        <p:txBody>
          <a:bodyPr wrap="square" anchor="t" lIns="45720" rIns="45720" tIns="27432" bIns="27432">
            <a:spAutoFit/>
          </a:bodyPr>
          <a:lstStyle/>
          <a:p>
            <a:pPr algn="l">
              <a:lnSpc>
                <a:spcPct val="100000"/>
              </a:lnSpc>
            </a:pPr>
            <a:r>
              <a:rPr sz="3000" b="1" i="0">
                <a:solidFill>
                  <a:srgbClr val="FFFFFF"/>
                </a:solidFill>
                <a:latin typeface="Arial"/>
              </a:rPr>
              <a:t>Transformer con puntero para el Weapon-Target Assignment Problem</a:t>
            </a:r>
          </a:p>
        </p:txBody>
      </p:sp>
      <p:sp>
        <p:nvSpPr>
          <p:cNvPr id="6" name="TextBox 5"/>
          <p:cNvSpPr txBox="1"/>
          <p:nvPr/>
        </p:nvSpPr>
        <p:spPr>
          <a:xfrm>
            <a:off x="502920" y="3291840"/>
            <a:ext cx="3749039" cy="1280160"/>
          </a:xfrm>
          <a:prstGeom prst="rect">
            <a:avLst/>
          </a:prstGeom>
          <a:noFill/>
        </p:spPr>
        <p:txBody>
          <a:bodyPr wrap="square" anchor="t" lIns="45720" rIns="45720" tIns="27432" bIns="27432">
            <a:spAutoFit/>
          </a:bodyPr>
          <a:lstStyle/>
          <a:p>
            <a:pPr algn="l">
              <a:lnSpc>
                <a:spcPct val="115000"/>
              </a:lnSpc>
            </a:pPr>
            <a:r>
              <a:rPr sz="1450" b="0" i="0">
                <a:solidFill>
                  <a:srgbClr val="D6E2EE"/>
                </a:solidFill>
                <a:latin typeface="Arial"/>
              </a:rPr>
              <a:t>Un encoder–decoder con atención que aprende a asignar armas a objetivos imitando paso a paso a un algoritmo experto</a:t>
            </a:r>
          </a:p>
        </p:txBody>
      </p:sp>
      <p:sp>
        <p:nvSpPr>
          <p:cNvPr id="7" name="Rectangle 6"/>
          <p:cNvSpPr/>
          <p:nvPr/>
        </p:nvSpPr>
        <p:spPr>
          <a:xfrm>
            <a:off x="502920" y="4663440"/>
            <a:ext cx="822960" cy="457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4846320"/>
            <a:ext cx="3749039" cy="365760"/>
          </a:xfrm>
          <a:prstGeom prst="rect">
            <a:avLst/>
          </a:prstGeom>
          <a:noFill/>
        </p:spPr>
        <p:txBody>
          <a:bodyPr wrap="square" anchor="t" lIns="45720" rIns="45720" tIns="27432" bIns="27432">
            <a:spAutoFit/>
          </a:bodyPr>
          <a:lstStyle/>
          <a:p>
            <a:pPr algn="l">
              <a:lnSpc>
                <a:spcPct val="110000"/>
              </a:lnSpc>
            </a:pPr>
            <a:r>
              <a:rPr sz="1600" b="1" i="0">
                <a:solidFill>
                  <a:srgbClr val="FFFFFF"/>
                </a:solidFill>
                <a:latin typeface="Arial"/>
              </a:rPr>
              <a:t>[Nombre(s) del grupo]</a:t>
            </a:r>
          </a:p>
        </p:txBody>
      </p:sp>
      <p:sp>
        <p:nvSpPr>
          <p:cNvPr id="9" name="TextBox 8"/>
          <p:cNvSpPr txBox="1"/>
          <p:nvPr/>
        </p:nvSpPr>
        <p:spPr>
          <a:xfrm>
            <a:off x="502920" y="5212080"/>
            <a:ext cx="3749039" cy="365760"/>
          </a:xfrm>
          <a:prstGeom prst="rect">
            <a:avLst/>
          </a:prstGeom>
          <a:noFill/>
        </p:spPr>
        <p:txBody>
          <a:bodyPr wrap="square" anchor="t" lIns="45720" rIns="45720" tIns="27432" bIns="27432">
            <a:spAutoFit/>
          </a:bodyPr>
          <a:lstStyle/>
          <a:p>
            <a:pPr algn="l">
              <a:lnSpc>
                <a:spcPct val="110000"/>
              </a:lnSpc>
            </a:pPr>
            <a:r>
              <a:rPr sz="1200" b="0" i="0">
                <a:solidFill>
                  <a:srgbClr val="B5C4D4"/>
                </a:solidFill>
                <a:latin typeface="Arial"/>
              </a:rPr>
              <a:t>Optimización combinatoria · 2026</a:t>
            </a:r>
          </a:p>
        </p:txBody>
      </p:sp>
      <p:sp>
        <p:nvSpPr>
          <p:cNvPr id="10" name="TextBox 9"/>
          <p:cNvSpPr txBox="1"/>
          <p:nvPr/>
        </p:nvSpPr>
        <p:spPr>
          <a:xfrm>
            <a:off x="5120640" y="548640"/>
            <a:ext cx="6583680" cy="457200"/>
          </a:xfrm>
          <a:prstGeom prst="rect">
            <a:avLst/>
          </a:prstGeom>
          <a:noFill/>
        </p:spPr>
        <p:txBody>
          <a:bodyPr wrap="square" anchor="t" lIns="45720" rIns="45720" tIns="27432" bIns="27432">
            <a:spAutoFit/>
          </a:bodyPr>
          <a:lstStyle/>
          <a:p>
            <a:pPr algn="l">
              <a:lnSpc>
                <a:spcPct val="110000"/>
              </a:lnSpc>
            </a:pPr>
            <a:r>
              <a:rPr sz="2200" b="1" i="0">
                <a:solidFill>
                  <a:srgbClr val="1B2A41"/>
                </a:solidFill>
                <a:latin typeface="Arial"/>
              </a:rPr>
              <a:t>Agenda (13–15 min)</a:t>
            </a:r>
          </a:p>
        </p:txBody>
      </p:sp>
      <p:sp>
        <p:nvSpPr>
          <p:cNvPr id="11" name="Oval 10"/>
          <p:cNvSpPr/>
          <p:nvPr/>
        </p:nvSpPr>
        <p:spPr>
          <a:xfrm>
            <a:off x="5120640" y="1234440"/>
            <a:ext cx="640080" cy="64008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2000" b="1" i="0">
                <a:solidFill>
                  <a:srgbClr val="FFFFFF"/>
                </a:solidFill>
                <a:latin typeface="Arial"/>
              </a:rPr>
              <a:t>1</a:t>
            </a:r>
          </a:p>
        </p:txBody>
      </p:sp>
      <p:sp>
        <p:nvSpPr>
          <p:cNvPr id="12" name="TextBox 11"/>
          <p:cNvSpPr txBox="1"/>
          <p:nvPr/>
        </p:nvSpPr>
        <p:spPr>
          <a:xfrm>
            <a:off x="5943600" y="1216152"/>
            <a:ext cx="4572000" cy="411480"/>
          </a:xfrm>
          <a:prstGeom prst="rect">
            <a:avLst/>
          </a:prstGeom>
          <a:noFill/>
        </p:spPr>
        <p:txBody>
          <a:bodyPr wrap="square" anchor="t" lIns="45720" rIns="45720" tIns="27432" bIns="27432">
            <a:spAutoFit/>
          </a:bodyPr>
          <a:lstStyle/>
          <a:p>
            <a:pPr algn="l">
              <a:lnSpc>
                <a:spcPct val="110000"/>
              </a:lnSpc>
            </a:pPr>
            <a:r>
              <a:rPr sz="1700" b="1" i="0">
                <a:solidFill>
                  <a:srgbClr val="1B2A41"/>
                </a:solidFill>
                <a:latin typeface="Arial"/>
              </a:rPr>
              <a:t>Introducción al problema</a:t>
            </a:r>
          </a:p>
        </p:txBody>
      </p:sp>
      <p:sp>
        <p:nvSpPr>
          <p:cNvPr id="13" name="TextBox 12"/>
          <p:cNvSpPr txBox="1"/>
          <p:nvPr/>
        </p:nvSpPr>
        <p:spPr>
          <a:xfrm>
            <a:off x="5943600" y="1572768"/>
            <a:ext cx="4754880" cy="365760"/>
          </a:xfrm>
          <a:prstGeom prst="rect">
            <a:avLst/>
          </a:prstGeom>
          <a:noFill/>
        </p:spPr>
        <p:txBody>
          <a:bodyPr wrap="square" anchor="t" lIns="45720" rIns="45720" tIns="27432" bIns="27432">
            <a:spAutoFit/>
          </a:bodyPr>
          <a:lstStyle/>
          <a:p>
            <a:pPr algn="l">
              <a:lnSpc>
                <a:spcPct val="110000"/>
              </a:lnSpc>
            </a:pPr>
            <a:r>
              <a:rPr sz="1200" b="0" i="0">
                <a:solidFill>
                  <a:srgbClr val="6B7585"/>
                </a:solidFill>
                <a:latin typeface="Arial"/>
              </a:rPr>
              <a:t>definición formal y ejemplo visual</a:t>
            </a:r>
          </a:p>
        </p:txBody>
      </p:sp>
      <p:sp>
        <p:nvSpPr>
          <p:cNvPr id="14" name="TextBox 13"/>
          <p:cNvSpPr txBox="1"/>
          <p:nvPr/>
        </p:nvSpPr>
        <p:spPr>
          <a:xfrm>
            <a:off x="10607040" y="1344168"/>
            <a:ext cx="1097280" cy="411480"/>
          </a:xfrm>
          <a:prstGeom prst="rect">
            <a:avLst/>
          </a:prstGeom>
          <a:noFill/>
        </p:spPr>
        <p:txBody>
          <a:bodyPr wrap="square" anchor="t" lIns="45720" rIns="45720" tIns="27432" bIns="27432">
            <a:spAutoFit/>
          </a:bodyPr>
          <a:lstStyle/>
          <a:p>
            <a:pPr algn="r">
              <a:lnSpc>
                <a:spcPct val="110000"/>
              </a:lnSpc>
            </a:pPr>
            <a:r>
              <a:rPr sz="1300" b="1" i="0">
                <a:solidFill>
                  <a:srgbClr val="1F77B4"/>
                </a:solidFill>
                <a:latin typeface="Arial"/>
              </a:rPr>
              <a:t>1,5 min</a:t>
            </a:r>
          </a:p>
        </p:txBody>
      </p:sp>
      <p:sp>
        <p:nvSpPr>
          <p:cNvPr id="15" name="Oval 14"/>
          <p:cNvSpPr/>
          <p:nvPr/>
        </p:nvSpPr>
        <p:spPr>
          <a:xfrm>
            <a:off x="5120640" y="2194560"/>
            <a:ext cx="640080" cy="640080"/>
          </a:xfrm>
          <a:prstGeom prst="ellipse">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2000" b="1" i="0">
                <a:solidFill>
                  <a:srgbClr val="FFFFFF"/>
                </a:solidFill>
                <a:latin typeface="Arial"/>
              </a:rPr>
              <a:t>2</a:t>
            </a:r>
          </a:p>
        </p:txBody>
      </p:sp>
      <p:sp>
        <p:nvSpPr>
          <p:cNvPr id="16" name="TextBox 15"/>
          <p:cNvSpPr txBox="1"/>
          <p:nvPr/>
        </p:nvSpPr>
        <p:spPr>
          <a:xfrm>
            <a:off x="5943600" y="2176272"/>
            <a:ext cx="4572000" cy="411480"/>
          </a:xfrm>
          <a:prstGeom prst="rect">
            <a:avLst/>
          </a:prstGeom>
          <a:noFill/>
        </p:spPr>
        <p:txBody>
          <a:bodyPr wrap="square" anchor="t" lIns="45720" rIns="45720" tIns="27432" bIns="27432">
            <a:spAutoFit/>
          </a:bodyPr>
          <a:lstStyle/>
          <a:p>
            <a:pPr algn="l">
              <a:lnSpc>
                <a:spcPct val="110000"/>
              </a:lnSpc>
            </a:pPr>
            <a:r>
              <a:rPr sz="1700" b="1" i="0">
                <a:solidFill>
                  <a:srgbClr val="1B2A41"/>
                </a:solidFill>
                <a:latin typeface="Arial"/>
              </a:rPr>
              <a:t>Representación del estado</a:t>
            </a:r>
          </a:p>
        </p:txBody>
      </p:sp>
      <p:sp>
        <p:nvSpPr>
          <p:cNvPr id="17" name="TextBox 16"/>
          <p:cNvSpPr txBox="1"/>
          <p:nvPr/>
        </p:nvSpPr>
        <p:spPr>
          <a:xfrm>
            <a:off x="5943600" y="2532888"/>
            <a:ext cx="4754880" cy="365760"/>
          </a:xfrm>
          <a:prstGeom prst="rect">
            <a:avLst/>
          </a:prstGeom>
          <a:noFill/>
        </p:spPr>
        <p:txBody>
          <a:bodyPr wrap="square" anchor="t" lIns="45720" rIns="45720" tIns="27432" bIns="27432">
            <a:spAutoFit/>
          </a:bodyPr>
          <a:lstStyle/>
          <a:p>
            <a:pPr algn="l">
              <a:lnSpc>
                <a:spcPct val="110000"/>
              </a:lnSpc>
            </a:pPr>
            <a:r>
              <a:rPr sz="1200" b="0" i="0">
                <a:solidFill>
                  <a:srgbClr val="6B7585"/>
                </a:solidFill>
                <a:latin typeface="Arial"/>
              </a:rPr>
              <a:t>secuencia de entrada y justificación de cada feature</a:t>
            </a:r>
          </a:p>
        </p:txBody>
      </p:sp>
      <p:sp>
        <p:nvSpPr>
          <p:cNvPr id="18" name="TextBox 17"/>
          <p:cNvSpPr txBox="1"/>
          <p:nvPr/>
        </p:nvSpPr>
        <p:spPr>
          <a:xfrm>
            <a:off x="10607040" y="2304288"/>
            <a:ext cx="1097280" cy="411480"/>
          </a:xfrm>
          <a:prstGeom prst="rect">
            <a:avLst/>
          </a:prstGeom>
          <a:noFill/>
        </p:spPr>
        <p:txBody>
          <a:bodyPr wrap="square" anchor="t" lIns="45720" rIns="45720" tIns="27432" bIns="27432">
            <a:spAutoFit/>
          </a:bodyPr>
          <a:lstStyle/>
          <a:p>
            <a:pPr algn="r">
              <a:lnSpc>
                <a:spcPct val="110000"/>
              </a:lnSpc>
            </a:pPr>
            <a:r>
              <a:rPr sz="1300" b="1" i="0">
                <a:solidFill>
                  <a:srgbClr val="2CA02C"/>
                </a:solidFill>
                <a:latin typeface="Arial"/>
              </a:rPr>
              <a:t>2 min</a:t>
            </a:r>
          </a:p>
        </p:txBody>
      </p:sp>
      <p:sp>
        <p:nvSpPr>
          <p:cNvPr id="19" name="Oval 18"/>
          <p:cNvSpPr/>
          <p:nvPr/>
        </p:nvSpPr>
        <p:spPr>
          <a:xfrm>
            <a:off x="5120640" y="3154680"/>
            <a:ext cx="640080" cy="640080"/>
          </a:xfrm>
          <a:prstGeom prst="ellipse">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2000" b="1" i="0">
                <a:solidFill>
                  <a:srgbClr val="FFFFFF"/>
                </a:solidFill>
                <a:latin typeface="Arial"/>
              </a:rPr>
              <a:t>3</a:t>
            </a:r>
          </a:p>
        </p:txBody>
      </p:sp>
      <p:sp>
        <p:nvSpPr>
          <p:cNvPr id="20" name="TextBox 19"/>
          <p:cNvSpPr txBox="1"/>
          <p:nvPr/>
        </p:nvSpPr>
        <p:spPr>
          <a:xfrm>
            <a:off x="5943600" y="3136392"/>
            <a:ext cx="4572000" cy="411480"/>
          </a:xfrm>
          <a:prstGeom prst="rect">
            <a:avLst/>
          </a:prstGeom>
          <a:noFill/>
        </p:spPr>
        <p:txBody>
          <a:bodyPr wrap="square" anchor="t" lIns="45720" rIns="45720" tIns="27432" bIns="27432">
            <a:spAutoFit/>
          </a:bodyPr>
          <a:lstStyle/>
          <a:p>
            <a:pPr algn="l">
              <a:lnSpc>
                <a:spcPct val="110000"/>
              </a:lnSpc>
            </a:pPr>
            <a:r>
              <a:rPr sz="1700" b="1" i="0">
                <a:solidFill>
                  <a:srgbClr val="1B2A41"/>
                </a:solidFill>
                <a:latin typeface="Arial"/>
              </a:rPr>
              <a:t>Generación de datos</a:t>
            </a:r>
          </a:p>
        </p:txBody>
      </p:sp>
      <p:sp>
        <p:nvSpPr>
          <p:cNvPr id="21" name="TextBox 20"/>
          <p:cNvSpPr txBox="1"/>
          <p:nvPr/>
        </p:nvSpPr>
        <p:spPr>
          <a:xfrm>
            <a:off x="5943600" y="3493008"/>
            <a:ext cx="4754880" cy="365760"/>
          </a:xfrm>
          <a:prstGeom prst="rect">
            <a:avLst/>
          </a:prstGeom>
          <a:noFill/>
        </p:spPr>
        <p:txBody>
          <a:bodyPr wrap="square" anchor="t" lIns="45720" rIns="45720" tIns="27432" bIns="27432">
            <a:spAutoFit/>
          </a:bodyPr>
          <a:lstStyle/>
          <a:p>
            <a:pPr algn="l">
              <a:lnSpc>
                <a:spcPct val="110000"/>
              </a:lnSpc>
            </a:pPr>
            <a:r>
              <a:rPr sz="1200" b="0" i="0">
                <a:solidFill>
                  <a:srgbClr val="6B7585"/>
                </a:solidFill>
                <a:latin typeface="Arial"/>
              </a:rPr>
              <a:t>experto, descomposición y codificación de la salida</a:t>
            </a:r>
          </a:p>
        </p:txBody>
      </p:sp>
      <p:sp>
        <p:nvSpPr>
          <p:cNvPr id="22" name="TextBox 21"/>
          <p:cNvSpPr txBox="1"/>
          <p:nvPr/>
        </p:nvSpPr>
        <p:spPr>
          <a:xfrm>
            <a:off x="10607040" y="3264408"/>
            <a:ext cx="1097280" cy="411480"/>
          </a:xfrm>
          <a:prstGeom prst="rect">
            <a:avLst/>
          </a:prstGeom>
          <a:noFill/>
        </p:spPr>
        <p:txBody>
          <a:bodyPr wrap="square" anchor="t" lIns="45720" rIns="45720" tIns="27432" bIns="27432">
            <a:spAutoFit/>
          </a:bodyPr>
          <a:lstStyle/>
          <a:p>
            <a:pPr algn="r">
              <a:lnSpc>
                <a:spcPct val="110000"/>
              </a:lnSpc>
            </a:pPr>
            <a:r>
              <a:rPr sz="1300" b="1" i="0">
                <a:solidFill>
                  <a:srgbClr val="9467BD"/>
                </a:solidFill>
                <a:latin typeface="Arial"/>
              </a:rPr>
              <a:t>2 min</a:t>
            </a:r>
          </a:p>
        </p:txBody>
      </p:sp>
      <p:sp>
        <p:nvSpPr>
          <p:cNvPr id="23" name="Oval 22"/>
          <p:cNvSpPr/>
          <p:nvPr/>
        </p:nvSpPr>
        <p:spPr>
          <a:xfrm>
            <a:off x="5120640" y="4114800"/>
            <a:ext cx="640080" cy="640080"/>
          </a:xfrm>
          <a:prstGeom prst="ellipse">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2000" b="1" i="0">
                <a:solidFill>
                  <a:srgbClr val="FFFFFF"/>
                </a:solidFill>
                <a:latin typeface="Arial"/>
              </a:rPr>
              <a:t>4</a:t>
            </a:r>
          </a:p>
        </p:txBody>
      </p:sp>
      <p:sp>
        <p:nvSpPr>
          <p:cNvPr id="24" name="TextBox 23"/>
          <p:cNvSpPr txBox="1"/>
          <p:nvPr/>
        </p:nvSpPr>
        <p:spPr>
          <a:xfrm>
            <a:off x="5943600" y="4096512"/>
            <a:ext cx="4572000" cy="411480"/>
          </a:xfrm>
          <a:prstGeom prst="rect">
            <a:avLst/>
          </a:prstGeom>
          <a:noFill/>
        </p:spPr>
        <p:txBody>
          <a:bodyPr wrap="square" anchor="t" lIns="45720" rIns="45720" tIns="27432" bIns="27432">
            <a:spAutoFit/>
          </a:bodyPr>
          <a:lstStyle/>
          <a:p>
            <a:pPr algn="l">
              <a:lnSpc>
                <a:spcPct val="110000"/>
              </a:lnSpc>
            </a:pPr>
            <a:r>
              <a:rPr sz="1700" b="1" i="0">
                <a:solidFill>
                  <a:srgbClr val="1B2A41"/>
                </a:solidFill>
                <a:latin typeface="Arial"/>
              </a:rPr>
              <a:t>Arquitectura</a:t>
            </a:r>
          </a:p>
        </p:txBody>
      </p:sp>
      <p:sp>
        <p:nvSpPr>
          <p:cNvPr id="25" name="TextBox 24"/>
          <p:cNvSpPr txBox="1"/>
          <p:nvPr/>
        </p:nvSpPr>
        <p:spPr>
          <a:xfrm>
            <a:off x="5943600" y="4453128"/>
            <a:ext cx="4754880" cy="365760"/>
          </a:xfrm>
          <a:prstGeom prst="rect">
            <a:avLst/>
          </a:prstGeom>
          <a:noFill/>
        </p:spPr>
        <p:txBody>
          <a:bodyPr wrap="square" anchor="t" lIns="45720" rIns="45720" tIns="27432" bIns="27432">
            <a:spAutoFit/>
          </a:bodyPr>
          <a:lstStyle/>
          <a:p>
            <a:pPr algn="l">
              <a:lnSpc>
                <a:spcPct val="110000"/>
              </a:lnSpc>
            </a:pPr>
            <a:r>
              <a:rPr sz="1200" b="0" i="0">
                <a:solidFill>
                  <a:srgbClr val="6B7585"/>
                </a:solidFill>
                <a:latin typeface="Arial"/>
              </a:rPr>
              <a:t>encoder + decoder con puntero</a:t>
            </a:r>
          </a:p>
        </p:txBody>
      </p:sp>
      <p:sp>
        <p:nvSpPr>
          <p:cNvPr id="26" name="TextBox 25"/>
          <p:cNvSpPr txBox="1"/>
          <p:nvPr/>
        </p:nvSpPr>
        <p:spPr>
          <a:xfrm>
            <a:off x="10607040" y="4224528"/>
            <a:ext cx="1097280" cy="411480"/>
          </a:xfrm>
          <a:prstGeom prst="rect">
            <a:avLst/>
          </a:prstGeom>
          <a:noFill/>
        </p:spPr>
        <p:txBody>
          <a:bodyPr wrap="square" anchor="t" lIns="45720" rIns="45720" tIns="27432" bIns="27432">
            <a:spAutoFit/>
          </a:bodyPr>
          <a:lstStyle/>
          <a:p>
            <a:pPr algn="r">
              <a:lnSpc>
                <a:spcPct val="110000"/>
              </a:lnSpc>
            </a:pPr>
            <a:r>
              <a:rPr sz="1300" b="1" i="0">
                <a:solidFill>
                  <a:srgbClr val="E8710A"/>
                </a:solidFill>
                <a:latin typeface="Arial"/>
              </a:rPr>
              <a:t>3 min</a:t>
            </a:r>
          </a:p>
        </p:txBody>
      </p:sp>
      <p:sp>
        <p:nvSpPr>
          <p:cNvPr id="27" name="Oval 26"/>
          <p:cNvSpPr/>
          <p:nvPr/>
        </p:nvSpPr>
        <p:spPr>
          <a:xfrm>
            <a:off x="5120640" y="507492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2000" b="1" i="0">
                <a:solidFill>
                  <a:srgbClr val="FFFFFF"/>
                </a:solidFill>
                <a:latin typeface="Arial"/>
              </a:rPr>
              <a:t>5</a:t>
            </a:r>
          </a:p>
        </p:txBody>
      </p:sp>
      <p:sp>
        <p:nvSpPr>
          <p:cNvPr id="28" name="TextBox 27"/>
          <p:cNvSpPr txBox="1"/>
          <p:nvPr/>
        </p:nvSpPr>
        <p:spPr>
          <a:xfrm>
            <a:off x="5943600" y="5056632"/>
            <a:ext cx="4572000" cy="411480"/>
          </a:xfrm>
          <a:prstGeom prst="rect">
            <a:avLst/>
          </a:prstGeom>
          <a:noFill/>
        </p:spPr>
        <p:txBody>
          <a:bodyPr wrap="square" anchor="t" lIns="45720" rIns="45720" tIns="27432" bIns="27432">
            <a:spAutoFit/>
          </a:bodyPr>
          <a:lstStyle/>
          <a:p>
            <a:pPr algn="l">
              <a:lnSpc>
                <a:spcPct val="110000"/>
              </a:lnSpc>
            </a:pPr>
            <a:r>
              <a:rPr sz="1700" b="1" i="0">
                <a:solidFill>
                  <a:srgbClr val="1B2A41"/>
                </a:solidFill>
                <a:latin typeface="Arial"/>
              </a:rPr>
              <a:t>Experimentos y resultados</a:t>
            </a:r>
          </a:p>
        </p:txBody>
      </p:sp>
      <p:sp>
        <p:nvSpPr>
          <p:cNvPr id="29" name="TextBox 28"/>
          <p:cNvSpPr txBox="1"/>
          <p:nvPr/>
        </p:nvSpPr>
        <p:spPr>
          <a:xfrm>
            <a:off x="5943600" y="5413248"/>
            <a:ext cx="4754880" cy="365760"/>
          </a:xfrm>
          <a:prstGeom prst="rect">
            <a:avLst/>
          </a:prstGeom>
          <a:noFill/>
        </p:spPr>
        <p:txBody>
          <a:bodyPr wrap="square" anchor="t" lIns="45720" rIns="45720" tIns="27432" bIns="27432">
            <a:spAutoFit/>
          </a:bodyPr>
          <a:lstStyle/>
          <a:p>
            <a:pPr algn="l">
              <a:lnSpc>
                <a:spcPct val="110000"/>
              </a:lnSpc>
            </a:pPr>
            <a:r>
              <a:rPr sz="1200" b="0" i="0">
                <a:solidFill>
                  <a:srgbClr val="6B7585"/>
                </a:solidFill>
                <a:latin typeface="Arial"/>
              </a:rPr>
              <a:t>configuración, convergencia, evaluación, tamaños, conclusiones</a:t>
            </a:r>
          </a:p>
        </p:txBody>
      </p:sp>
      <p:sp>
        <p:nvSpPr>
          <p:cNvPr id="30" name="TextBox 29"/>
          <p:cNvSpPr txBox="1"/>
          <p:nvPr/>
        </p:nvSpPr>
        <p:spPr>
          <a:xfrm>
            <a:off x="10607040" y="5184648"/>
            <a:ext cx="1097280" cy="411480"/>
          </a:xfrm>
          <a:prstGeom prst="rect">
            <a:avLst/>
          </a:prstGeom>
          <a:noFill/>
        </p:spPr>
        <p:txBody>
          <a:bodyPr wrap="square" anchor="t" lIns="45720" rIns="45720" tIns="27432" bIns="27432">
            <a:spAutoFit/>
          </a:bodyPr>
          <a:lstStyle/>
          <a:p>
            <a:pPr algn="r">
              <a:lnSpc>
                <a:spcPct val="110000"/>
              </a:lnSpc>
            </a:pPr>
            <a:r>
              <a:rPr sz="1300" b="1" i="0">
                <a:solidFill>
                  <a:srgbClr val="C0392B"/>
                </a:solidFill>
                <a:latin typeface="Arial"/>
              </a:rPr>
              <a:t>4,5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Weapon-Target Assignment: definición formal</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Asignar W armas a T objetivos para minimizar el valor esperado que sobrevive al ataque</a:t>
            </a:r>
          </a:p>
        </p:txBody>
      </p:sp>
      <p:sp>
        <p:nvSpPr>
          <p:cNvPr id="6" name="Rounded Rectangle 5"/>
          <p:cNvSpPr/>
          <p:nvPr/>
        </p:nvSpPr>
        <p:spPr>
          <a:xfrm>
            <a:off x="9677095" y="365760"/>
            <a:ext cx="2057400" cy="329184"/>
          </a:xfrm>
          <a:prstGeom prst="roundRect">
            <a:avLst>
              <a:gd name="adj" fmla="val 25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1 · PROBLEMA</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2 / 14</a:t>
            </a:r>
          </a:p>
        </p:txBody>
      </p:sp>
      <p:sp>
        <p:nvSpPr>
          <p:cNvPr id="9" name="Rounded Rectangle 8"/>
          <p:cNvSpPr/>
          <p:nvPr/>
        </p:nvSpPr>
        <p:spPr>
          <a:xfrm>
            <a:off x="457200" y="1325880"/>
            <a:ext cx="5760720" cy="13258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10515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17320"/>
            <a:ext cx="5440680" cy="365760"/>
          </a:xfrm>
          <a:prstGeom prst="rect">
            <a:avLst/>
          </a:prstGeom>
          <a:noFill/>
        </p:spPr>
        <p:txBody>
          <a:bodyPr wrap="square" anchor="t" lIns="45720" rIns="45720" tIns="27432" bIns="27432">
            <a:spAutoFit/>
          </a:bodyPr>
          <a:lstStyle/>
          <a:p>
            <a:pPr algn="l">
              <a:lnSpc>
                <a:spcPct val="110000"/>
              </a:lnSpc>
            </a:pPr>
            <a:r>
              <a:rPr sz="1300" b="1" i="0">
                <a:solidFill>
                  <a:srgbClr val="1F77B4"/>
                </a:solidFill>
                <a:latin typeface="Arial"/>
              </a:rPr>
              <a:t>ENTRADAS</a:t>
            </a:r>
          </a:p>
        </p:txBody>
      </p:sp>
      <p:sp>
        <p:nvSpPr>
          <p:cNvPr id="12" name="TextBox 11"/>
          <p:cNvSpPr txBox="1"/>
          <p:nvPr/>
        </p:nvSpPr>
        <p:spPr>
          <a:xfrm>
            <a:off x="658368" y="1764792"/>
            <a:ext cx="5440680" cy="822959"/>
          </a:xfrm>
          <a:prstGeom prst="rect">
            <a:avLst/>
          </a:prstGeom>
          <a:noFill/>
        </p:spPr>
        <p:txBody>
          <a:bodyPr wrap="square" anchor="t" lIns="45720" rIns="45720" tIns="27432" bIns="27432">
            <a:spAutoFit/>
          </a:bodyPr>
          <a:lstStyle/>
          <a:p>
            <a:pPr algn="l">
              <a:lnSpc>
                <a:spcPct val="110000"/>
              </a:lnSpc>
            </a:pPr>
            <a:r>
              <a:rPr sz="1200" b="1" i="0">
                <a:solidFill>
                  <a:srgbClr val="2E3540"/>
                </a:solidFill>
                <a:latin typeface="Arial"/>
              </a:rPr>
              <a:t>W armas, T objetivos</a:t>
            </a:r>
          </a:p>
          <a:p>
            <a:pPr algn="l">
              <a:lnSpc>
                <a:spcPct val="110000"/>
              </a:lnSpc>
            </a:pPr>
            <a:r>
              <a:rPr sz="1200" b="0" i="0">
                <a:solidFill>
                  <a:srgbClr val="2E3540"/>
                </a:solidFill>
                <a:latin typeface="Arial"/>
              </a:rPr>
              <a:t>Vⱼ &gt; 0: valor (amenaza) del objetivo j</a:t>
            </a:r>
          </a:p>
          <a:p>
            <a:pPr algn="l">
              <a:lnSpc>
                <a:spcPct val="110000"/>
              </a:lnSpc>
            </a:pPr>
            <a:r>
              <a:rPr sz="1200" b="0" i="0">
                <a:solidFill>
                  <a:srgbClr val="2E3540"/>
                </a:solidFill>
                <a:latin typeface="Arial"/>
              </a:rPr>
              <a:t>pᵢⱼ ∈ [0, 1]: prob. de que el arma i destruya j (qᵢⱼ = 1 − pᵢⱼ sobrevive)</a:t>
            </a:r>
          </a:p>
        </p:txBody>
      </p:sp>
      <p:sp>
        <p:nvSpPr>
          <p:cNvPr id="13" name="Rounded Rectangle 12"/>
          <p:cNvSpPr/>
          <p:nvPr/>
        </p:nvSpPr>
        <p:spPr>
          <a:xfrm>
            <a:off x="457200" y="2788920"/>
            <a:ext cx="5760720" cy="8686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926079"/>
            <a:ext cx="64008" cy="594359"/>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880360"/>
            <a:ext cx="5440680" cy="365760"/>
          </a:xfrm>
          <a:prstGeom prst="rect">
            <a:avLst/>
          </a:prstGeom>
          <a:noFill/>
        </p:spPr>
        <p:txBody>
          <a:bodyPr wrap="square" anchor="t" lIns="45720" rIns="45720" tIns="27432" bIns="27432">
            <a:spAutoFit/>
          </a:bodyPr>
          <a:lstStyle/>
          <a:p>
            <a:pPr algn="l">
              <a:lnSpc>
                <a:spcPct val="110000"/>
              </a:lnSpc>
            </a:pPr>
            <a:r>
              <a:rPr sz="1300" b="1" i="0">
                <a:solidFill>
                  <a:srgbClr val="2CA02C"/>
                </a:solidFill>
                <a:latin typeface="Arial"/>
              </a:rPr>
              <a:t>SALIDA</a:t>
            </a:r>
          </a:p>
        </p:txBody>
      </p:sp>
      <p:sp>
        <p:nvSpPr>
          <p:cNvPr id="16" name="TextBox 15"/>
          <p:cNvSpPr txBox="1"/>
          <p:nvPr/>
        </p:nvSpPr>
        <p:spPr>
          <a:xfrm>
            <a:off x="658368" y="3227832"/>
            <a:ext cx="5440680" cy="365759"/>
          </a:xfrm>
          <a:prstGeom prst="rect">
            <a:avLst/>
          </a:prstGeom>
          <a:noFill/>
        </p:spPr>
        <p:txBody>
          <a:bodyPr wrap="square" anchor="t" lIns="45720" rIns="45720" tIns="27432" bIns="27432">
            <a:spAutoFit/>
          </a:bodyPr>
          <a:lstStyle/>
          <a:p>
            <a:pPr algn="l">
              <a:lnSpc>
                <a:spcPct val="110000"/>
              </a:lnSpc>
            </a:pPr>
            <a:r>
              <a:rPr sz="1200" b="1" i="0">
                <a:solidFill>
                  <a:srgbClr val="2E3540"/>
                </a:solidFill>
                <a:latin typeface="Arial"/>
              </a:rPr>
              <a:t>X = [xᵢⱼ] binaria (W × T): </a:t>
            </a:r>
            <a:r>
              <a:rPr sz="1200" b="0" i="0">
                <a:solidFill>
                  <a:srgbClr val="2E3540"/>
                </a:solidFill>
                <a:latin typeface="Arial"/>
              </a:rPr>
              <a:t>xᵢⱼ = 1 si el arma i va al objetivo j</a:t>
            </a:r>
          </a:p>
        </p:txBody>
      </p:sp>
      <p:sp>
        <p:nvSpPr>
          <p:cNvPr id="17" name="Rounded Rectangle 16"/>
          <p:cNvSpPr/>
          <p:nvPr/>
        </p:nvSpPr>
        <p:spPr>
          <a:xfrm>
            <a:off x="457200" y="3794759"/>
            <a:ext cx="5760720" cy="8686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31920"/>
            <a:ext cx="64008" cy="59435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886199"/>
            <a:ext cx="5440680" cy="365760"/>
          </a:xfrm>
          <a:prstGeom prst="rect">
            <a:avLst/>
          </a:prstGeom>
          <a:noFill/>
        </p:spPr>
        <p:txBody>
          <a:bodyPr wrap="square" anchor="t" lIns="45720" rIns="45720" tIns="27432" bIns="27432">
            <a:spAutoFit/>
          </a:bodyPr>
          <a:lstStyle/>
          <a:p>
            <a:pPr algn="l">
              <a:lnSpc>
                <a:spcPct val="110000"/>
              </a:lnSpc>
            </a:pPr>
            <a:r>
              <a:rPr sz="1300" b="1" i="0">
                <a:solidFill>
                  <a:srgbClr val="C0392B"/>
                </a:solidFill>
                <a:latin typeface="Arial"/>
              </a:rPr>
              <a:t>RESTRICCIÓN</a:t>
            </a:r>
          </a:p>
        </p:txBody>
      </p:sp>
      <p:sp>
        <p:nvSpPr>
          <p:cNvPr id="20" name="TextBox 19"/>
          <p:cNvSpPr txBox="1"/>
          <p:nvPr/>
        </p:nvSpPr>
        <p:spPr>
          <a:xfrm>
            <a:off x="658368" y="4233671"/>
            <a:ext cx="5440680" cy="365759"/>
          </a:xfrm>
          <a:prstGeom prst="rect">
            <a:avLst/>
          </a:prstGeom>
          <a:noFill/>
        </p:spPr>
        <p:txBody>
          <a:bodyPr wrap="square" anchor="t" lIns="45720" rIns="45720" tIns="27432" bIns="27432">
            <a:spAutoFit/>
          </a:bodyPr>
          <a:lstStyle/>
          <a:p>
            <a:pPr algn="l">
              <a:lnSpc>
                <a:spcPct val="110000"/>
              </a:lnSpc>
            </a:pPr>
            <a:r>
              <a:rPr sz="1200" b="1" i="0">
                <a:solidFill>
                  <a:srgbClr val="2E3540"/>
                </a:solidFill>
                <a:latin typeface="Arial"/>
              </a:rPr>
              <a:t>Σⱼ xᵢⱼ ≤ 1  ∀ i</a:t>
            </a:r>
            <a:r>
              <a:rPr sz="1200" b="0" i="0">
                <a:solidFill>
                  <a:srgbClr val="2E3540"/>
                </a:solidFill>
                <a:latin typeface="Arial"/>
              </a:rPr>
              <a:t>: cada arma a lo más a un objetivo. </a:t>
            </a:r>
            <a:r>
              <a:rPr sz="1200" b="0" i="0">
                <a:solidFill>
                  <a:srgbClr val="2E3540"/>
                </a:solidFill>
                <a:latin typeface="Arial"/>
              </a:rPr>
              <a:t>Un objetivo puede recibir varias armas.</a:t>
            </a:r>
          </a:p>
        </p:txBody>
      </p:sp>
      <p:sp>
        <p:nvSpPr>
          <p:cNvPr id="21" name="Rounded Rectangle 20"/>
          <p:cNvSpPr/>
          <p:nvPr/>
        </p:nvSpPr>
        <p:spPr>
          <a:xfrm>
            <a:off x="457200" y="4800599"/>
            <a:ext cx="5760720" cy="13258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37759"/>
            <a:ext cx="64008" cy="1051560"/>
          </a:xfrm>
          <a:prstGeom prst="rect">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892039"/>
            <a:ext cx="5440680" cy="365760"/>
          </a:xfrm>
          <a:prstGeom prst="rect">
            <a:avLst/>
          </a:prstGeom>
          <a:noFill/>
        </p:spPr>
        <p:txBody>
          <a:bodyPr wrap="square" anchor="t" lIns="45720" rIns="45720" tIns="27432" bIns="27432">
            <a:spAutoFit/>
          </a:bodyPr>
          <a:lstStyle/>
          <a:p>
            <a:pPr algn="l">
              <a:lnSpc>
                <a:spcPct val="110000"/>
              </a:lnSpc>
            </a:pPr>
            <a:r>
              <a:rPr sz="1300" b="1" i="0">
                <a:solidFill>
                  <a:srgbClr val="9467BD"/>
                </a:solidFill>
                <a:latin typeface="Arial"/>
              </a:rPr>
              <a:t>FUNCIÓN OBJETIVO</a:t>
            </a:r>
          </a:p>
        </p:txBody>
      </p:sp>
      <p:sp>
        <p:nvSpPr>
          <p:cNvPr id="24" name="TextBox 23"/>
          <p:cNvSpPr txBox="1"/>
          <p:nvPr/>
        </p:nvSpPr>
        <p:spPr>
          <a:xfrm>
            <a:off x="658368" y="5239511"/>
            <a:ext cx="5440680" cy="822959"/>
          </a:xfrm>
          <a:prstGeom prst="rect">
            <a:avLst/>
          </a:prstGeom>
          <a:noFill/>
        </p:spPr>
        <p:txBody>
          <a:bodyPr wrap="square" anchor="t" lIns="45720" rIns="45720" tIns="27432" bIns="27432">
            <a:spAutoFit/>
          </a:bodyPr>
          <a:lstStyle/>
          <a:p>
            <a:pPr algn="l">
              <a:lnSpc>
                <a:spcPct val="110000"/>
              </a:lnSpc>
            </a:pPr>
            <a:r>
              <a:rPr sz="1200" b="0" i="0">
                <a:solidFill>
                  <a:srgbClr val="2E3540"/>
                </a:solidFill>
                <a:latin typeface="Arial"/>
              </a:rPr>
              <a:t/>
            </a:r>
          </a:p>
        </p:txBody>
      </p:sp>
      <p:pic>
        <p:nvPicPr>
          <p:cNvPr id="25" name="Picture 24" descr="obj.png"/>
          <p:cNvPicPr>
            <a:picLocks noChangeAspect="1"/>
          </p:cNvPicPr>
          <p:nvPr/>
        </p:nvPicPr>
        <p:blipFill>
          <a:blip r:embed="rId2"/>
          <a:stretch>
            <a:fillRect/>
          </a:stretch>
        </p:blipFill>
        <p:spPr>
          <a:xfrm>
            <a:off x="731520" y="5212079"/>
            <a:ext cx="3188606" cy="777240"/>
          </a:xfrm>
          <a:prstGeom prst="rect">
            <a:avLst/>
          </a:prstGeom>
        </p:spPr>
      </p:pic>
      <p:sp>
        <p:nvSpPr>
          <p:cNvPr id="26" name="TextBox 25"/>
          <p:cNvSpPr txBox="1"/>
          <p:nvPr/>
        </p:nvSpPr>
        <p:spPr>
          <a:xfrm>
            <a:off x="4526280" y="5212079"/>
            <a:ext cx="1600200" cy="822960"/>
          </a:xfrm>
          <a:prstGeom prst="rect">
            <a:avLst/>
          </a:prstGeom>
          <a:noFill/>
        </p:spPr>
        <p:txBody>
          <a:bodyPr wrap="square" anchor="ctr" lIns="45720" rIns="45720" tIns="27432" bIns="27432">
            <a:spAutoFit/>
          </a:bodyPr>
          <a:lstStyle/>
          <a:p>
            <a:pPr algn="l">
              <a:lnSpc>
                <a:spcPct val="110000"/>
              </a:lnSpc>
            </a:pPr>
            <a:r>
              <a:rPr sz="1100" b="0" i="0">
                <a:solidFill>
                  <a:srgbClr val="6B7585"/>
                </a:solidFill>
                <a:latin typeface="Arial"/>
              </a:rPr>
              <a:t>valor esperado que sobrevive</a:t>
            </a:r>
          </a:p>
        </p:txBody>
      </p:sp>
      <p:pic>
        <p:nvPicPr>
          <p:cNvPr id="27" name="Picture 26" descr="instancia.png"/>
          <p:cNvPicPr>
            <a:picLocks noChangeAspect="1"/>
          </p:cNvPicPr>
          <p:nvPr/>
        </p:nvPicPr>
        <p:blipFill>
          <a:blip r:embed="rId3"/>
          <a:stretch>
            <a:fillRect/>
          </a:stretch>
        </p:blipFill>
        <p:spPr>
          <a:xfrm>
            <a:off x="6446520" y="1932542"/>
            <a:ext cx="5303520" cy="1895635"/>
          </a:xfrm>
          <a:prstGeom prst="rect">
            <a:avLst/>
          </a:prstGeom>
        </p:spPr>
      </p:pic>
      <p:sp>
        <p:nvSpPr>
          <p:cNvPr id="28" name="Rounded Rectangle 27"/>
          <p:cNvSpPr/>
          <p:nvPr/>
        </p:nvSpPr>
        <p:spPr>
          <a:xfrm>
            <a:off x="6446520" y="4572000"/>
            <a:ext cx="1709928" cy="118872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636008"/>
            <a:ext cx="1709928" cy="411480"/>
          </a:xfrm>
          <a:prstGeom prst="rect">
            <a:avLst/>
          </a:prstGeom>
          <a:noFill/>
        </p:spPr>
        <p:txBody>
          <a:bodyPr wrap="square" anchor="t" lIns="45720" rIns="45720" tIns="27432" bIns="27432">
            <a:spAutoFit/>
          </a:bodyPr>
          <a:lstStyle/>
          <a:p>
            <a:pPr algn="ctr">
              <a:lnSpc>
                <a:spcPct val="110000"/>
              </a:lnSpc>
            </a:pPr>
            <a:r>
              <a:rPr sz="1500" b="1" i="0">
                <a:solidFill>
                  <a:srgbClr val="1F77B4"/>
                </a:solidFill>
                <a:latin typeface="Arial"/>
              </a:rPr>
              <a:t>NP-hard</a:t>
            </a:r>
          </a:p>
        </p:txBody>
      </p:sp>
      <p:sp>
        <p:nvSpPr>
          <p:cNvPr id="30" name="TextBox 29"/>
          <p:cNvSpPr txBox="1"/>
          <p:nvPr/>
        </p:nvSpPr>
        <p:spPr>
          <a:xfrm>
            <a:off x="6519672" y="5047488"/>
            <a:ext cx="1563624" cy="685800"/>
          </a:xfrm>
          <a:prstGeom prst="rect">
            <a:avLst/>
          </a:prstGeom>
          <a:noFill/>
        </p:spPr>
        <p:txBody>
          <a:bodyPr wrap="square" anchor="t" lIns="45720" rIns="45720" tIns="27432" bIns="27432">
            <a:spAutoFit/>
          </a:bodyPr>
          <a:lstStyle/>
          <a:p>
            <a:pPr algn="ctr">
              <a:lnSpc>
                <a:spcPct val="110000"/>
              </a:lnSpc>
            </a:pPr>
            <a:r>
              <a:rPr sz="1000" b="0" i="0">
                <a:solidFill>
                  <a:srgbClr val="6B7585"/>
                </a:solidFill>
                <a:latin typeface="Arial"/>
              </a:rPr>
              <a:t>objetivo no lineal (Lloyd &amp; Witsenhausen, 1986)</a:t>
            </a:r>
          </a:p>
        </p:txBody>
      </p:sp>
      <p:sp>
        <p:nvSpPr>
          <p:cNvPr id="31" name="Rounded Rectangle 30"/>
          <p:cNvSpPr/>
          <p:nvPr/>
        </p:nvSpPr>
        <p:spPr>
          <a:xfrm>
            <a:off x="8247888" y="4572000"/>
            <a:ext cx="1709928" cy="118872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4636008"/>
            <a:ext cx="1709928" cy="411480"/>
          </a:xfrm>
          <a:prstGeom prst="rect">
            <a:avLst/>
          </a:prstGeom>
          <a:noFill/>
        </p:spPr>
        <p:txBody>
          <a:bodyPr wrap="square" anchor="t" lIns="45720" rIns="45720" tIns="27432" bIns="27432">
            <a:spAutoFit/>
          </a:bodyPr>
          <a:lstStyle/>
          <a:p>
            <a:pPr algn="ctr">
              <a:lnSpc>
                <a:spcPct val="110000"/>
              </a:lnSpc>
            </a:pPr>
            <a:r>
              <a:rPr sz="1500" b="1" i="0">
                <a:solidFill>
                  <a:srgbClr val="1F77B4"/>
                </a:solidFill>
                <a:latin typeface="Arial"/>
              </a:rPr>
              <a:t>Tᵂ = 8¹⁰ ≈ 10⁹</a:t>
            </a:r>
          </a:p>
        </p:txBody>
      </p:sp>
      <p:sp>
        <p:nvSpPr>
          <p:cNvPr id="33" name="TextBox 32"/>
          <p:cNvSpPr txBox="1"/>
          <p:nvPr/>
        </p:nvSpPr>
        <p:spPr>
          <a:xfrm>
            <a:off x="8321040" y="5047488"/>
            <a:ext cx="1563624" cy="685800"/>
          </a:xfrm>
          <a:prstGeom prst="rect">
            <a:avLst/>
          </a:prstGeom>
          <a:noFill/>
        </p:spPr>
        <p:txBody>
          <a:bodyPr wrap="square" anchor="t" lIns="45720" rIns="45720" tIns="27432" bIns="27432">
            <a:spAutoFit/>
          </a:bodyPr>
          <a:lstStyle/>
          <a:p>
            <a:pPr algn="ctr">
              <a:lnSpc>
                <a:spcPct val="110000"/>
              </a:lnSpc>
            </a:pPr>
            <a:r>
              <a:rPr sz="1000" b="0" i="0">
                <a:solidFill>
                  <a:srgbClr val="6B7585"/>
                </a:solidFill>
                <a:latin typeface="Arial"/>
              </a:rPr>
              <a:t>asignaciones en 10 × 8</a:t>
            </a:r>
          </a:p>
        </p:txBody>
      </p:sp>
      <p:sp>
        <p:nvSpPr>
          <p:cNvPr id="34" name="Rounded Rectangle 33"/>
          <p:cNvSpPr/>
          <p:nvPr/>
        </p:nvSpPr>
        <p:spPr>
          <a:xfrm>
            <a:off x="10049256" y="4572000"/>
            <a:ext cx="1709928" cy="118872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49256" y="4636008"/>
            <a:ext cx="1709928" cy="411480"/>
          </a:xfrm>
          <a:prstGeom prst="rect">
            <a:avLst/>
          </a:prstGeom>
          <a:noFill/>
        </p:spPr>
        <p:txBody>
          <a:bodyPr wrap="square" anchor="t" lIns="45720" rIns="45720" tIns="27432" bIns="27432">
            <a:spAutoFit/>
          </a:bodyPr>
          <a:lstStyle/>
          <a:p>
            <a:pPr algn="ctr">
              <a:lnSpc>
                <a:spcPct val="110000"/>
              </a:lnSpc>
            </a:pPr>
            <a:r>
              <a:rPr sz="1500" b="1" i="0">
                <a:solidFill>
                  <a:srgbClr val="1F77B4"/>
                </a:solidFill>
                <a:latin typeface="Arial"/>
              </a:rPr>
              <a:t>Vⱼ ~ U{25..100}</a:t>
            </a:r>
          </a:p>
        </p:txBody>
      </p:sp>
      <p:sp>
        <p:nvSpPr>
          <p:cNvPr id="36" name="TextBox 35"/>
          <p:cNvSpPr txBox="1"/>
          <p:nvPr/>
        </p:nvSpPr>
        <p:spPr>
          <a:xfrm>
            <a:off x="10122408" y="5047488"/>
            <a:ext cx="1563624" cy="685800"/>
          </a:xfrm>
          <a:prstGeom prst="rect">
            <a:avLst/>
          </a:prstGeom>
          <a:noFill/>
        </p:spPr>
        <p:txBody>
          <a:bodyPr wrap="square" anchor="t" lIns="45720" rIns="45720" tIns="27432" bIns="27432">
            <a:spAutoFit/>
          </a:bodyPr>
          <a:lstStyle/>
          <a:p>
            <a:pPr algn="ctr">
              <a:lnSpc>
                <a:spcPct val="110000"/>
              </a:lnSpc>
            </a:pPr>
            <a:r>
              <a:rPr sz="1000" b="0" i="0">
                <a:solidFill>
                  <a:srgbClr val="6B7585"/>
                </a:solidFill>
                <a:latin typeface="Arial"/>
              </a:rPr>
              <a:t>pᵢⱼ ~ U(0,6; 0,9) (Ahuja et al., 2007)</a:t>
            </a:r>
          </a:p>
        </p:txBody>
      </p:sp>
      <p:sp>
        <p:nvSpPr>
          <p:cNvPr id="37" name="TextBox 36"/>
          <p:cNvSpPr txBox="1"/>
          <p:nvPr/>
        </p:nvSpPr>
        <p:spPr>
          <a:xfrm>
            <a:off x="6446520" y="5852160"/>
            <a:ext cx="5303520" cy="457200"/>
          </a:xfrm>
          <a:prstGeom prst="rect">
            <a:avLst/>
          </a:prstGeom>
          <a:noFill/>
        </p:spPr>
        <p:txBody>
          <a:bodyPr wrap="square" anchor="t" lIns="45720" rIns="45720" tIns="27432" bIns="27432">
            <a:spAutoFit/>
          </a:bodyPr>
          <a:lstStyle/>
          <a:p>
            <a:pPr algn="ctr">
              <a:lnSpc>
                <a:spcPct val="110000"/>
              </a:lnSpc>
            </a:pPr>
            <a:r>
              <a:rPr sz="1050" b="0" i="0">
                <a:solidFill>
                  <a:srgbClr val="6B7585"/>
                </a:solidFill>
                <a:latin typeface="Arial"/>
              </a:rPr>
              <a:t>Instancia de ejemplo 10 × 8: probabilidades pᵢⱼ (izq.) y valores Vⱼ (der.)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Un estado y su acción</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El modelo construye la solución par a par: en cada paso elige qué arma asignar y a qué objetivo</a:t>
            </a:r>
          </a:p>
        </p:txBody>
      </p:sp>
      <p:sp>
        <p:nvSpPr>
          <p:cNvPr id="6" name="Rounded Rectangle 5"/>
          <p:cNvSpPr/>
          <p:nvPr/>
        </p:nvSpPr>
        <p:spPr>
          <a:xfrm>
            <a:off x="9677095" y="365760"/>
            <a:ext cx="2057400" cy="329184"/>
          </a:xfrm>
          <a:prstGeom prst="roundRect">
            <a:avLst>
              <a:gd name="adj" fmla="val 25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1 · PROBLEMA</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3 / 14</a:t>
            </a:r>
          </a:p>
        </p:txBody>
      </p:sp>
      <p:pic>
        <p:nvPicPr>
          <p:cNvPr id="9" name="Picture 8" descr="instancia_estado_accion.png"/>
          <p:cNvPicPr>
            <a:picLocks noChangeAspect="1"/>
          </p:cNvPicPr>
          <p:nvPr/>
        </p:nvPicPr>
        <p:blipFill>
          <a:blip r:embed="rId2"/>
          <a:stretch>
            <a:fillRect/>
          </a:stretch>
        </p:blipFill>
        <p:spPr>
          <a:xfrm>
            <a:off x="320040" y="1227843"/>
            <a:ext cx="11567160" cy="3350753"/>
          </a:xfrm>
          <a:prstGeom prst="rect">
            <a:avLst/>
          </a:prstGeom>
        </p:spPr>
      </p:pic>
      <p:sp>
        <p:nvSpPr>
          <p:cNvPr id="10" name="Rounded Rectangle 9"/>
          <p:cNvSpPr/>
          <p:nvPr/>
        </p:nvSpPr>
        <p:spPr>
          <a:xfrm>
            <a:off x="457200" y="4800600"/>
            <a:ext cx="3637178" cy="14630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937760"/>
            <a:ext cx="64008" cy="11887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892040"/>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1F77B4"/>
                </a:solidFill>
                <a:latin typeface="Arial"/>
              </a:rPr>
              <a:t>ESTADO</a:t>
            </a:r>
          </a:p>
        </p:txBody>
      </p:sp>
      <p:sp>
        <p:nvSpPr>
          <p:cNvPr id="13" name="TextBox 12"/>
          <p:cNvSpPr txBox="1"/>
          <p:nvPr/>
        </p:nvSpPr>
        <p:spPr>
          <a:xfrm>
            <a:off x="658368" y="5239512"/>
            <a:ext cx="3317138" cy="960120"/>
          </a:xfrm>
          <a:prstGeom prst="rect">
            <a:avLst/>
          </a:prstGeom>
          <a:noFill/>
        </p:spPr>
        <p:txBody>
          <a:bodyPr wrap="square" anchor="t" lIns="45720" rIns="45720" tIns="27432" bIns="27432">
            <a:spAutoFit/>
          </a:bodyPr>
          <a:lstStyle/>
          <a:p>
            <a:pPr algn="l">
              <a:lnSpc>
                <a:spcPct val="110000"/>
              </a:lnSpc>
            </a:pPr>
            <a:r>
              <a:rPr sz="1200" b="0" i="0">
                <a:solidFill>
                  <a:srgbClr val="2E3540"/>
                </a:solidFill>
                <a:latin typeface="Arial"/>
              </a:rPr>
              <a:t>Asignación parcial: 2 armas ya asignadas (azul). </a:t>
            </a:r>
            <a:r>
              <a:rPr sz="1200" b="0" i="0">
                <a:solidFill>
                  <a:srgbClr val="2E3540"/>
                </a:solidFill>
                <a:latin typeface="Arial"/>
              </a:rPr>
              <a:t>qⱼ = prob. de que j sobreviva con lo asignado (color del objetivo).</a:t>
            </a:r>
          </a:p>
        </p:txBody>
      </p:sp>
      <p:sp>
        <p:nvSpPr>
          <p:cNvPr id="14" name="Rounded Rectangle 13"/>
          <p:cNvSpPr/>
          <p:nvPr/>
        </p:nvSpPr>
        <p:spPr>
          <a:xfrm>
            <a:off x="4277258" y="4800600"/>
            <a:ext cx="3637178" cy="14630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7258" y="4937760"/>
            <a:ext cx="64008" cy="118872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4892040"/>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7F7F7F"/>
                </a:solidFill>
                <a:latin typeface="Arial"/>
              </a:rPr>
              <a:t>ACCIONES POSIBLES</a:t>
            </a:r>
          </a:p>
        </p:txBody>
      </p:sp>
      <p:sp>
        <p:nvSpPr>
          <p:cNvPr id="17" name="TextBox 16"/>
          <p:cNvSpPr txBox="1"/>
          <p:nvPr/>
        </p:nvSpPr>
        <p:spPr>
          <a:xfrm>
            <a:off x="4478426" y="5239512"/>
            <a:ext cx="3317138" cy="960120"/>
          </a:xfrm>
          <a:prstGeom prst="rect">
            <a:avLst/>
          </a:prstGeom>
          <a:noFill/>
        </p:spPr>
        <p:txBody>
          <a:bodyPr wrap="square" anchor="t" lIns="45720" rIns="45720" tIns="27432" bIns="27432">
            <a:spAutoFit/>
          </a:bodyPr>
          <a:lstStyle/>
          <a:p>
            <a:pPr algn="l">
              <a:lnSpc>
                <a:spcPct val="110000"/>
              </a:lnSpc>
            </a:pPr>
            <a:r>
              <a:rPr sz="1200" b="0" i="0">
                <a:solidFill>
                  <a:srgbClr val="2E3540"/>
                </a:solidFill>
                <a:latin typeface="Arial"/>
              </a:rPr>
              <a:t>Todos los pares (arma libre, objetivo): </a:t>
            </a:r>
            <a:r>
              <a:rPr sz="1200" b="1" i="0">
                <a:solidFill>
                  <a:srgbClr val="2E3540"/>
                </a:solidFill>
                <a:latin typeface="Arial"/>
              </a:rPr>
              <a:t>64 en este paso</a:t>
            </a:r>
            <a:r>
              <a:rPr sz="1200" b="0" i="0">
                <a:solidFill>
                  <a:srgbClr val="2E3540"/>
                </a:solidFill>
                <a:latin typeface="Arial"/>
              </a:rPr>
              <a:t> (80 al inicio, 8 al final).</a:t>
            </a:r>
          </a:p>
        </p:txBody>
      </p:sp>
      <p:sp>
        <p:nvSpPr>
          <p:cNvPr id="18" name="Rounded Rectangle 17"/>
          <p:cNvSpPr/>
          <p:nvPr/>
        </p:nvSpPr>
        <p:spPr>
          <a:xfrm>
            <a:off x="8097316" y="4800600"/>
            <a:ext cx="3637178" cy="14630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7316" y="4937760"/>
            <a:ext cx="64008" cy="1188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8484" y="4892040"/>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C0392B"/>
                </a:solidFill>
                <a:latin typeface="Arial"/>
              </a:rPr>
              <a:t>ACCIÓN ESCOGIDA</a:t>
            </a:r>
          </a:p>
        </p:txBody>
      </p:sp>
      <p:sp>
        <p:nvSpPr>
          <p:cNvPr id="21" name="TextBox 20"/>
          <p:cNvSpPr txBox="1"/>
          <p:nvPr/>
        </p:nvSpPr>
        <p:spPr>
          <a:xfrm>
            <a:off x="8298484" y="5239512"/>
            <a:ext cx="3317138" cy="960120"/>
          </a:xfrm>
          <a:prstGeom prst="rect">
            <a:avLst/>
          </a:prstGeom>
          <a:noFill/>
        </p:spPr>
        <p:txBody>
          <a:bodyPr wrap="square" anchor="t" lIns="45720" rIns="45720" tIns="27432" bIns="27432">
            <a:spAutoFit/>
          </a:bodyPr>
          <a:lstStyle/>
          <a:p>
            <a:pPr algn="l">
              <a:lnSpc>
                <a:spcPct val="110000"/>
              </a:lnSpc>
            </a:pPr>
            <a:r>
              <a:rPr sz="1200" b="1" i="0">
                <a:solidFill>
                  <a:srgbClr val="2E3540"/>
                </a:solidFill>
                <a:latin typeface="Arial"/>
              </a:rPr>
              <a:t>Arma 0 → objetivo 3 (rojo). </a:t>
            </a:r>
            <a:r>
              <a:rPr sz="1200" b="0" i="0">
                <a:solidFill>
                  <a:srgbClr val="2E3540"/>
                </a:solidFill>
                <a:latin typeface="Arial"/>
              </a:rPr>
              <a:t>Transición: xᵢⱼ = 1 y qⱼ ← qⱼ · (1 − pᵢⱼ).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Secuencia de entrada: una fila por acción posible</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Matriz (1 + W·T) × 16 — 81 × 16 en 10 × 8. Todas las filas pasan por los mismos pesos</a:t>
            </a:r>
          </a:p>
        </p:txBody>
      </p:sp>
      <p:sp>
        <p:nvSpPr>
          <p:cNvPr id="6" name="Rounded Rectangle 5"/>
          <p:cNvSpPr/>
          <p:nvPr/>
        </p:nvSpPr>
        <p:spPr>
          <a:xfrm>
            <a:off x="9677095" y="365760"/>
            <a:ext cx="2057400" cy="329184"/>
          </a:xfrm>
          <a:prstGeom prst="roundRect">
            <a:avLst>
              <a:gd name="adj" fmla="val 25000"/>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2 · REPRESENTACIÓN</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4 / 14</a:t>
            </a:r>
          </a:p>
        </p:txBody>
      </p:sp>
      <p:pic>
        <p:nvPicPr>
          <p:cNvPr id="9" name="Picture 8" descr="estado.png"/>
          <p:cNvPicPr>
            <a:picLocks noChangeAspect="1"/>
          </p:cNvPicPr>
          <p:nvPr/>
        </p:nvPicPr>
        <p:blipFill>
          <a:blip r:embed="rId2"/>
          <a:stretch>
            <a:fillRect/>
          </a:stretch>
        </p:blipFill>
        <p:spPr>
          <a:xfrm>
            <a:off x="320040" y="1261448"/>
            <a:ext cx="7680960" cy="2460582"/>
          </a:xfrm>
          <a:prstGeom prst="rect">
            <a:avLst/>
          </a:prstGeom>
        </p:spPr>
      </p:pic>
      <p:sp>
        <p:nvSpPr>
          <p:cNvPr id="10" name="Rounded Rectangle 9"/>
          <p:cNvSpPr/>
          <p:nvPr/>
        </p:nvSpPr>
        <p:spPr>
          <a:xfrm>
            <a:off x="8183879" y="1261872"/>
            <a:ext cx="3566160" cy="24688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325880"/>
            <a:ext cx="3291840" cy="320040"/>
          </a:xfrm>
          <a:prstGeom prst="rect">
            <a:avLst/>
          </a:prstGeom>
          <a:noFill/>
        </p:spPr>
        <p:txBody>
          <a:bodyPr wrap="square" anchor="t" lIns="45720" rIns="45720" tIns="27432" bIns="27432">
            <a:spAutoFit/>
          </a:bodyPr>
          <a:lstStyle/>
          <a:p>
            <a:pPr algn="l">
              <a:lnSpc>
                <a:spcPct val="110000"/>
              </a:lnSpc>
            </a:pPr>
            <a:r>
              <a:rPr sz="1400" b="1" i="0">
                <a:solidFill>
                  <a:srgbClr val="1B2A41"/>
                </a:solidFill>
                <a:latin typeface="Arial"/>
              </a:rPr>
              <a:t>¿Qué es cada elemento?</a:t>
            </a:r>
          </a:p>
        </p:txBody>
      </p:sp>
      <p:sp>
        <p:nvSpPr>
          <p:cNvPr id="12" name="Rounded Rectangle 11"/>
          <p:cNvSpPr/>
          <p:nvPr/>
        </p:nvSpPr>
        <p:spPr>
          <a:xfrm>
            <a:off x="8321040" y="1737360"/>
            <a:ext cx="1051560" cy="384048"/>
          </a:xfrm>
          <a:prstGeom prst="roundRect">
            <a:avLst>
              <a:gd name="adj" fmla="val 25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100" b="1" i="0">
                <a:solidFill>
                  <a:srgbClr val="FFFFFF"/>
                </a:solidFill>
                <a:latin typeface="Arial"/>
              </a:rPr>
              <a:t>fila 0</a:t>
            </a:r>
          </a:p>
        </p:txBody>
      </p:sp>
      <p:sp>
        <p:nvSpPr>
          <p:cNvPr id="13" name="TextBox 12"/>
          <p:cNvSpPr txBox="1"/>
          <p:nvPr/>
        </p:nvSpPr>
        <p:spPr>
          <a:xfrm>
            <a:off x="9464040" y="1700784"/>
            <a:ext cx="2240280" cy="548640"/>
          </a:xfrm>
          <a:prstGeom prst="rect">
            <a:avLst/>
          </a:prstGeom>
          <a:noFill/>
        </p:spPr>
        <p:txBody>
          <a:bodyPr wrap="square" anchor="t" lIns="45720" rIns="45720" tIns="27432" bIns="27432">
            <a:spAutoFit/>
          </a:bodyPr>
          <a:lstStyle/>
          <a:p>
            <a:pPr algn="l">
              <a:lnSpc>
                <a:spcPct val="110000"/>
              </a:lnSpc>
            </a:pPr>
            <a:r>
              <a:rPr sz="1050" b="1" i="0">
                <a:solidFill>
                  <a:srgbClr val="2E3540"/>
                </a:solidFill>
                <a:latin typeface="Arial"/>
              </a:rPr>
              <a:t>fila global [CLS]</a:t>
            </a:r>
            <a:r>
              <a:rPr sz="1050" b="0" i="0">
                <a:solidFill>
                  <a:srgbClr val="2E3540"/>
                </a:solidFill>
                <a:latin typeface="Arial"/>
              </a:rPr>
              <a:t>: resume el estado; forma la query</a:t>
            </a:r>
          </a:p>
        </p:txBody>
      </p:sp>
      <p:sp>
        <p:nvSpPr>
          <p:cNvPr id="14" name="Rounded Rectangle 13"/>
          <p:cNvSpPr/>
          <p:nvPr/>
        </p:nvSpPr>
        <p:spPr>
          <a:xfrm>
            <a:off x="8321040" y="2377440"/>
            <a:ext cx="1051560" cy="384048"/>
          </a:xfrm>
          <a:prstGeom prst="roundRect">
            <a:avLst>
              <a:gd name="adj" fmla="val 25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1 + i·T + j</a:t>
            </a:r>
          </a:p>
        </p:txBody>
      </p:sp>
      <p:sp>
        <p:nvSpPr>
          <p:cNvPr id="15" name="TextBox 14"/>
          <p:cNvSpPr txBox="1"/>
          <p:nvPr/>
        </p:nvSpPr>
        <p:spPr>
          <a:xfrm>
            <a:off x="9464040" y="2340864"/>
            <a:ext cx="2240280" cy="640080"/>
          </a:xfrm>
          <a:prstGeom prst="rect">
            <a:avLst/>
          </a:prstGeom>
          <a:noFill/>
        </p:spPr>
        <p:txBody>
          <a:bodyPr wrap="square" anchor="t" lIns="45720" rIns="45720" tIns="27432" bIns="27432">
            <a:spAutoFit/>
          </a:bodyPr>
          <a:lstStyle/>
          <a:p>
            <a:pPr algn="l">
              <a:lnSpc>
                <a:spcPct val="110000"/>
              </a:lnSpc>
            </a:pPr>
            <a:r>
              <a:rPr sz="1050" b="1" i="0">
                <a:solidFill>
                  <a:srgbClr val="2E3540"/>
                </a:solidFill>
                <a:latin typeface="Arial"/>
              </a:rPr>
              <a:t>par (arma i → objetivo j)</a:t>
            </a:r>
            <a:r>
              <a:rPr sz="1050" b="0" i="0">
                <a:solidFill>
                  <a:srgbClr val="2E3540"/>
                </a:solidFill>
                <a:latin typeface="Arial"/>
              </a:rPr>
              <a:t>: el estado visto desde la acción “asignar i a j”</a:t>
            </a:r>
          </a:p>
        </p:txBody>
      </p:sp>
      <p:sp>
        <p:nvSpPr>
          <p:cNvPr id="16" name="TextBox 15"/>
          <p:cNvSpPr txBox="1"/>
          <p:nvPr/>
        </p:nvSpPr>
        <p:spPr>
          <a:xfrm>
            <a:off x="8321040" y="3063240"/>
            <a:ext cx="3337560" cy="640080"/>
          </a:xfrm>
          <a:prstGeom prst="rect">
            <a:avLst/>
          </a:prstGeom>
          <a:noFill/>
        </p:spPr>
        <p:txBody>
          <a:bodyPr wrap="square" anchor="t" lIns="45720" rIns="45720" tIns="27432" bIns="27432">
            <a:spAutoFit/>
          </a:bodyPr>
          <a:lstStyle/>
          <a:p>
            <a:pPr algn="l">
              <a:lnSpc>
                <a:spcPct val="110000"/>
              </a:lnSpc>
            </a:pPr>
            <a:r>
              <a:rPr sz="1050" b="0" i="0">
                <a:solidFill>
                  <a:srgbClr val="6B7585"/>
                </a:solidFill>
                <a:latin typeface="Arial"/>
              </a:rPr>
              <a:t>Con k armas libres hay </a:t>
            </a:r>
            <a:r>
              <a:rPr sz="1050" b="1" i="0">
                <a:solidFill>
                  <a:srgbClr val="6B7585"/>
                </a:solidFill>
                <a:latin typeface="Arial"/>
              </a:rPr>
              <a:t>k·T filas válidas</a:t>
            </a:r>
            <a:r>
              <a:rPr sz="1050" b="0" i="0">
                <a:solidFill>
                  <a:srgbClr val="6B7585"/>
                </a:solidFill>
                <a:latin typeface="Arial"/>
              </a:rPr>
              <a:t> = las acciones del entorno.</a:t>
            </a:r>
          </a:p>
        </p:txBody>
      </p:sp>
      <p:sp>
        <p:nvSpPr>
          <p:cNvPr id="17" name="Rounded Rectangle 16"/>
          <p:cNvSpPr/>
          <p:nvPr/>
        </p:nvSpPr>
        <p:spPr>
          <a:xfrm>
            <a:off x="457200" y="3931920"/>
            <a:ext cx="3637178" cy="1188720"/>
          </a:xfrm>
          <a:prstGeom prst="roundRect">
            <a:avLst>
              <a:gd name="adj" fmla="val 6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69080"/>
            <a:ext cx="64008" cy="9144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023359"/>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1F77B4"/>
                </a:solidFill>
                <a:latin typeface="Arial"/>
              </a:rPr>
              <a:t>Propias del par (0–2)</a:t>
            </a:r>
          </a:p>
        </p:txBody>
      </p:sp>
      <p:sp>
        <p:nvSpPr>
          <p:cNvPr id="20" name="TextBox 19"/>
          <p:cNvSpPr txBox="1"/>
          <p:nvPr/>
        </p:nvSpPr>
        <p:spPr>
          <a:xfrm>
            <a:off x="658368" y="4370831"/>
            <a:ext cx="3317138" cy="685800"/>
          </a:xfrm>
          <a:prstGeom prst="rect">
            <a:avLst/>
          </a:prstGeom>
          <a:noFill/>
        </p:spPr>
        <p:txBody>
          <a:bodyPr wrap="square" anchor="t" lIns="45720" rIns="45720" tIns="27432" bIns="27432">
            <a:spAutoFit/>
          </a:bodyPr>
          <a:lstStyle/>
          <a:p>
            <a:pPr algn="l">
              <a:lnSpc>
                <a:spcPct val="110000"/>
              </a:lnSpc>
            </a:pPr>
            <a:r>
              <a:rPr sz="1150" b="0" i="0">
                <a:solidFill>
                  <a:srgbClr val="2E3540"/>
                </a:solidFill>
                <a:latin typeface="Arial"/>
              </a:rPr>
              <a:t>describen la acción por sí misma: efectividad pᵢⱼ y valor Vⱼ</a:t>
            </a:r>
          </a:p>
        </p:txBody>
      </p:sp>
      <p:sp>
        <p:nvSpPr>
          <p:cNvPr id="21" name="Rounded Rectangle 20"/>
          <p:cNvSpPr/>
          <p:nvPr/>
        </p:nvSpPr>
        <p:spPr>
          <a:xfrm>
            <a:off x="4277258" y="3931920"/>
            <a:ext cx="3637178" cy="1188720"/>
          </a:xfrm>
          <a:prstGeom prst="roundRect">
            <a:avLst>
              <a:gd name="adj" fmla="val 6000"/>
            </a:avLst>
          </a:prstGeom>
          <a:solidFill>
            <a:srgbClr val="F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7258" y="4069080"/>
            <a:ext cx="64008"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8426" y="4023359"/>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C0392B"/>
                </a:solidFill>
                <a:latin typeface="Arial"/>
              </a:rPr>
              <a:t>Flags de estado (3–5)</a:t>
            </a:r>
          </a:p>
        </p:txBody>
      </p:sp>
      <p:sp>
        <p:nvSpPr>
          <p:cNvPr id="24" name="TextBox 23"/>
          <p:cNvSpPr txBox="1"/>
          <p:nvPr/>
        </p:nvSpPr>
        <p:spPr>
          <a:xfrm>
            <a:off x="4478426" y="4370831"/>
            <a:ext cx="3317138" cy="685800"/>
          </a:xfrm>
          <a:prstGeom prst="rect">
            <a:avLst/>
          </a:prstGeom>
          <a:noFill/>
        </p:spPr>
        <p:txBody>
          <a:bodyPr wrap="square" anchor="t" lIns="45720" rIns="45720" tIns="27432" bIns="27432">
            <a:spAutoFit/>
          </a:bodyPr>
          <a:lstStyle/>
          <a:p>
            <a:pPr algn="l">
              <a:lnSpc>
                <a:spcPct val="110000"/>
              </a:lnSpc>
            </a:pPr>
            <a:r>
              <a:rPr sz="1150" b="0" i="0">
                <a:solidFill>
                  <a:srgbClr val="2E3540"/>
                </a:solidFill>
                <a:latin typeface="Arial"/>
              </a:rPr>
              <a:t>query (es_global), máscara (no_disponible) y pares ya asignados</a:t>
            </a:r>
          </a:p>
        </p:txBody>
      </p:sp>
      <p:sp>
        <p:nvSpPr>
          <p:cNvPr id="25" name="Rounded Rectangle 24"/>
          <p:cNvSpPr/>
          <p:nvPr/>
        </p:nvSpPr>
        <p:spPr>
          <a:xfrm>
            <a:off x="8097316" y="3931920"/>
            <a:ext cx="3637178" cy="1188720"/>
          </a:xfrm>
          <a:prstGeom prst="roundRect">
            <a:avLst>
              <a:gd name="adj" fmla="val 6000"/>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7316" y="4069080"/>
            <a:ext cx="64008" cy="9144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8484" y="4023359"/>
            <a:ext cx="3317138" cy="365760"/>
          </a:xfrm>
          <a:prstGeom prst="rect">
            <a:avLst/>
          </a:prstGeom>
          <a:noFill/>
        </p:spPr>
        <p:txBody>
          <a:bodyPr wrap="square" anchor="t" lIns="45720" rIns="45720" tIns="27432" bIns="27432">
            <a:spAutoFit/>
          </a:bodyPr>
          <a:lstStyle/>
          <a:p>
            <a:pPr algn="l">
              <a:lnSpc>
                <a:spcPct val="110000"/>
              </a:lnSpc>
            </a:pPr>
            <a:r>
              <a:rPr sz="1300" b="1" i="0">
                <a:solidFill>
                  <a:srgbClr val="2CA02C"/>
                </a:solidFill>
                <a:latin typeface="Arial"/>
              </a:rPr>
              <a:t>Relativas al estado (6–15)</a:t>
            </a:r>
          </a:p>
        </p:txBody>
      </p:sp>
      <p:sp>
        <p:nvSpPr>
          <p:cNvPr id="28" name="TextBox 27"/>
          <p:cNvSpPr txBox="1"/>
          <p:nvPr/>
        </p:nvSpPr>
        <p:spPr>
          <a:xfrm>
            <a:off x="8298484" y="4370831"/>
            <a:ext cx="3317138" cy="685800"/>
          </a:xfrm>
          <a:prstGeom prst="rect">
            <a:avLst/>
          </a:prstGeom>
          <a:noFill/>
        </p:spPr>
        <p:txBody>
          <a:bodyPr wrap="square" anchor="t" lIns="45720" rIns="45720" tIns="27432" bIns="27432">
            <a:spAutoFit/>
          </a:bodyPr>
          <a:lstStyle/>
          <a:p>
            <a:pPr algn="l">
              <a:lnSpc>
                <a:spcPct val="110000"/>
              </a:lnSpc>
            </a:pPr>
            <a:r>
              <a:rPr sz="1150" b="0" i="0">
                <a:solidFill>
                  <a:srgbClr val="2E3540"/>
                </a:solidFill>
                <a:latin typeface="Arial"/>
              </a:rPr>
              <a:t>lo que miran las heurísticas: ganancia marginal (MMR), regret y anticipación</a:t>
            </a:r>
          </a:p>
        </p:txBody>
      </p:sp>
      <p:sp>
        <p:nvSpPr>
          <p:cNvPr id="29" name="Rounded Rectangle 28"/>
          <p:cNvSpPr/>
          <p:nvPr/>
        </p:nvSpPr>
        <p:spPr>
          <a:xfrm>
            <a:off x="457200" y="5257800"/>
            <a:ext cx="11277295" cy="1005840"/>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285232"/>
            <a:ext cx="10911535" cy="960120"/>
          </a:xfrm>
          <a:prstGeom prst="rect">
            <a:avLst/>
          </a:prstGeom>
          <a:noFill/>
        </p:spPr>
        <p:txBody>
          <a:bodyPr wrap="square" anchor="ctr" lIns="45720" rIns="45720" tIns="27432" bIns="27432">
            <a:spAutoFit/>
          </a:bodyPr>
          <a:lstStyle/>
          <a:p>
            <a:pPr algn="l">
              <a:lnSpc>
                <a:spcPct val="110000"/>
              </a:lnSpc>
            </a:pPr>
            <a:r>
              <a:rPr sz="1150" b="1" i="0">
                <a:solidFill>
                  <a:srgbClr val="2E3540"/>
                </a:solidFill>
                <a:latin typeface="Arial"/>
              </a:rPr>
              <a:t>¿Por qué pares y no objetivos? </a:t>
            </a:r>
            <a:r>
              <a:rPr sz="1150" b="0" i="0">
                <a:solidFill>
                  <a:srgbClr val="2E3540"/>
                </a:solidFill>
                <a:latin typeface="Arial"/>
              </a:rPr>
              <a:t>MMR, la heurística constructiva clásica del WTAP, evalúa la ganancia de cada par (arma libre, objetivo). Con una fila por par, el puntero elige arma y objetivo a la vez (sin orden fijo de armas), la máscara es natural y el tamaño de la secuencia se adapta a cualquier W y T. Todo está normalizado por instancia: ningún peso depende del índice de la fila.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Features por elemento (0–7): qué capturan y por qué</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Azul = propias del par · rojo = flags de estado · verde = relativas al estado (★ = las más importantes)</a:t>
            </a:r>
          </a:p>
        </p:txBody>
      </p:sp>
      <p:sp>
        <p:nvSpPr>
          <p:cNvPr id="6" name="Rounded Rectangle 5"/>
          <p:cNvSpPr/>
          <p:nvPr/>
        </p:nvSpPr>
        <p:spPr>
          <a:xfrm>
            <a:off x="9677095" y="365760"/>
            <a:ext cx="2057400" cy="329184"/>
          </a:xfrm>
          <a:prstGeom prst="roundRect">
            <a:avLst>
              <a:gd name="adj" fmla="val 25000"/>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2 · REPRESENTACIÓN</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5 / 14</a:t>
            </a:r>
          </a:p>
        </p:txBody>
      </p:sp>
      <p:graphicFrame>
        <p:nvGraphicFramePr>
          <p:cNvPr id="9" name="Table 8"/>
          <p:cNvGraphicFramePr>
            <a:graphicFrameLocks noGrp="1"/>
          </p:cNvGraphicFramePr>
          <p:nvPr/>
        </p:nvGraphicFramePr>
        <p:xfrm>
          <a:off x="457200" y="1280160"/>
          <a:ext cx="11274552" cy="5431536"/>
        </p:xfrm>
        <a:graphic>
          <a:graphicData uri="http://schemas.openxmlformats.org/drawingml/2006/table">
            <a:tbl>
              <a:tblPr firstRow="1" bandRow="1">
                <a:tableStyleId>{5C22544A-7EE6-4342-B048-85BDC9FD1C3A}</a:tableStyleId>
              </a:tblPr>
              <a:tblGrid>
                <a:gridCol w="457200"/>
                <a:gridCol w="1828800"/>
                <a:gridCol w="2971800"/>
                <a:gridCol w="3017520"/>
                <a:gridCol w="2999232"/>
              </a:tblGrid>
              <a:tr h="603504">
                <a:tc>
                  <a:txBody>
                    <a:bodyPr wrap="square" anchor="ctr" lIns="45720" rIns="45720" tIns="27432" bIns="27432"/>
                    <a:lstStyle/>
                    <a:p>
                      <a:pPr algn="ctr">
                        <a:lnSpc>
                          <a:spcPct val="100000"/>
                        </a:lnSpc>
                      </a:pPr>
                      <a:r>
                        <a:rPr sz="1200" b="1" i="0">
                          <a:solidFill>
                            <a:srgbClr val="FFFFFF"/>
                          </a:solidFill>
                          <a:latin typeface="Arial"/>
                        </a:rPr>
                        <a:t>#</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Feature</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Qué captura</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Por qué es relevante</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Relación con la decisión</a:t>
                      </a:r>
                    </a:p>
                  </a:txBody>
                  <a:tcPr marL="54864" marR="54864" marT="18288" marB="18288">
                    <a:solidFill>
                      <a:srgbClr val="1B2A41"/>
                    </a:solidFill>
                  </a:tcPr>
                </a:tc>
              </a:tr>
              <a:tr h="603504">
                <a:tc>
                  <a:txBody>
                    <a:bodyPr wrap="square" anchor="ctr" lIns="45720" rIns="45720" tIns="27432" bIns="27432"/>
                    <a:lstStyle/>
                    <a:p>
                      <a:pPr algn="ctr">
                        <a:lnSpc>
                          <a:spcPct val="100000"/>
                        </a:lnSpc>
                      </a:pPr>
                      <a:r>
                        <a:rPr sz="1150" b="0" i="0">
                          <a:solidFill>
                            <a:srgbClr val="2E3540"/>
                          </a:solidFill>
                          <a:latin typeface="Arial"/>
                        </a:rPr>
                        <a:t>0</a:t>
                      </a:r>
                    </a:p>
                  </a:txBody>
                  <a:tcPr marL="54864" marR="54864" marT="18288" marB="18288">
                    <a:solidFill>
                      <a:srgbClr val="DCEAF7"/>
                    </a:solidFill>
                  </a:tcPr>
                </a:tc>
                <a:tc>
                  <a:txBody>
                    <a:bodyPr wrap="square" anchor="ctr" lIns="45720" rIns="45720" tIns="27432" bIns="27432"/>
                    <a:lstStyle/>
                    <a:p>
                      <a:pPr algn="l">
                        <a:lnSpc>
                          <a:spcPct val="100000"/>
                        </a:lnSpc>
                      </a:pPr>
                      <a:r>
                        <a:rPr sz="1100" b="1" i="0">
                          <a:solidFill>
                            <a:srgbClr val="2E3540"/>
                          </a:solidFill>
                          <a:latin typeface="Courier New"/>
                        </a:rPr>
                        <a:t>p_ij</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prob. de que el arma i destruya j</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define la efectividad de la asignación</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pares con p alto reducen más el costo</a:t>
                      </a:r>
                    </a:p>
                  </a:txBody>
                  <a:tcPr marL="54864" marR="54864" marT="18288" marB="18288">
                    <a:solidFill>
                      <a:srgbClr val="DCEAF7"/>
                    </a:solidFill>
                  </a:tcPr>
                </a:tc>
              </a:tr>
              <a:tr h="603504">
                <a:tc>
                  <a:txBody>
                    <a:bodyPr wrap="square" anchor="ctr" lIns="45720" rIns="45720" tIns="27432" bIns="27432"/>
                    <a:lstStyle/>
                    <a:p>
                      <a:pPr algn="ctr">
                        <a:lnSpc>
                          <a:spcPct val="100000"/>
                        </a:lnSpc>
                      </a:pPr>
                      <a:r>
                        <a:rPr sz="1150" b="0" i="0">
                          <a:solidFill>
                            <a:srgbClr val="2E3540"/>
                          </a:solidFill>
                          <a:latin typeface="Arial"/>
                        </a:rPr>
                        <a:t>1</a:t>
                      </a:r>
                    </a:p>
                  </a:txBody>
                  <a:tcPr marL="54864" marR="54864" marT="18288" marB="18288">
                    <a:solidFill>
                      <a:srgbClr val="DCEAF7"/>
                    </a:solidFill>
                  </a:tcPr>
                </a:tc>
                <a:tc>
                  <a:txBody>
                    <a:bodyPr wrap="square" anchor="ctr" lIns="45720" rIns="45720" tIns="27432" bIns="27432"/>
                    <a:lstStyle/>
                    <a:p>
                      <a:pPr algn="l">
                        <a:lnSpc>
                          <a:spcPct val="100000"/>
                        </a:lnSpc>
                      </a:pPr>
                      <a:r>
                        <a:rPr sz="1100" b="1" i="0">
                          <a:solidFill>
                            <a:srgbClr val="2E3540"/>
                          </a:solidFill>
                          <a:latin typeface="Courier New"/>
                        </a:rPr>
                        <a:t>valor</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Vⱼ / max V</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el costo pondera cada objetivo por Vⱼ</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conviene cubrir antes los objetivos valiosos</a:t>
                      </a:r>
                    </a:p>
                  </a:txBody>
                  <a:tcPr marL="54864" marR="54864" marT="18288" marB="18288">
                    <a:solidFill>
                      <a:srgbClr val="DCEAF7"/>
                    </a:solidFill>
                  </a:tcPr>
                </a:tc>
              </a:tr>
              <a:tr h="603504">
                <a:tc>
                  <a:txBody>
                    <a:bodyPr wrap="square" anchor="ctr" lIns="45720" rIns="45720" tIns="27432" bIns="27432"/>
                    <a:lstStyle/>
                    <a:p>
                      <a:pPr algn="ctr">
                        <a:lnSpc>
                          <a:spcPct val="100000"/>
                        </a:lnSpc>
                      </a:pPr>
                      <a:r>
                        <a:rPr sz="1150" b="0" i="0">
                          <a:solidFill>
                            <a:srgbClr val="2E3540"/>
                          </a:solidFill>
                          <a:latin typeface="Arial"/>
                        </a:rPr>
                        <a:t>2</a:t>
                      </a:r>
                    </a:p>
                  </a:txBody>
                  <a:tcPr marL="54864" marR="54864" marT="18288" marB="18288">
                    <a:solidFill>
                      <a:srgbClr val="DCEAF7"/>
                    </a:solidFill>
                  </a:tcPr>
                </a:tc>
                <a:tc>
                  <a:txBody>
                    <a:bodyPr wrap="square" anchor="ctr" lIns="45720" rIns="45720" tIns="27432" bIns="27432"/>
                    <a:lstStyle/>
                    <a:p>
                      <a:pPr algn="l">
                        <a:lnSpc>
                          <a:spcPct val="100000"/>
                        </a:lnSpc>
                      </a:pPr>
                      <a:r>
                        <a:rPr sz="1100" b="1" i="0">
                          <a:solidFill>
                            <a:srgbClr val="2E3540"/>
                          </a:solidFill>
                          <a:latin typeface="Courier New"/>
                        </a:rPr>
                        <a:t>p_vs_mejor</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pᵢⱼ − maxⱼ′ pᵢⱼ′ (≤ 0)</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costo de oportunidad del arma i</a:t>
                      </a:r>
                    </a:p>
                  </a:txBody>
                  <a:tcPr marL="54864" marR="54864" marT="18288" marB="18288">
                    <a:solidFill>
                      <a:srgbClr val="DCEAF7"/>
                    </a:solidFill>
                  </a:tcPr>
                </a:tc>
                <a:tc>
                  <a:txBody>
                    <a:bodyPr wrap="square" anchor="ctr" lIns="45720" rIns="45720" tIns="27432" bIns="27432"/>
                    <a:lstStyle/>
                    <a:p>
                      <a:pPr algn="l">
                        <a:lnSpc>
                          <a:spcPct val="100000"/>
                        </a:lnSpc>
                      </a:pPr>
                      <a:r>
                        <a:rPr sz="1150" b="0" i="0">
                          <a:solidFill>
                            <a:srgbClr val="2E3540"/>
                          </a:solidFill>
                          <a:latin typeface="Arial"/>
                        </a:rPr>
                        <a:t>0 ⇒ j es el mejor uso posible de esa arma</a:t>
                      </a:r>
                    </a:p>
                  </a:txBody>
                  <a:tcPr marL="54864" marR="54864" marT="18288" marB="18288">
                    <a:solidFill>
                      <a:srgbClr val="DCEAF7"/>
                    </a:solidFill>
                  </a:tcPr>
                </a:tc>
              </a:tr>
              <a:tr h="603504">
                <a:tc>
                  <a:txBody>
                    <a:bodyPr wrap="square" anchor="ctr" lIns="45720" rIns="45720" tIns="27432" bIns="27432"/>
                    <a:lstStyle/>
                    <a:p>
                      <a:pPr algn="ctr">
                        <a:lnSpc>
                          <a:spcPct val="100000"/>
                        </a:lnSpc>
                      </a:pPr>
                      <a:r>
                        <a:rPr sz="1150" b="0" i="0">
                          <a:solidFill>
                            <a:srgbClr val="2E3540"/>
                          </a:solidFill>
                          <a:latin typeface="Arial"/>
                        </a:rPr>
                        <a:t>3</a:t>
                      </a:r>
                    </a:p>
                  </a:txBody>
                  <a:tcPr marL="54864" marR="54864" marT="18288" marB="18288">
                    <a:solidFill>
                      <a:srgbClr val="F9DEDC"/>
                    </a:solidFill>
                  </a:tcPr>
                </a:tc>
                <a:tc>
                  <a:txBody>
                    <a:bodyPr wrap="square" anchor="ctr" lIns="45720" rIns="45720" tIns="27432" bIns="27432"/>
                    <a:lstStyle/>
                    <a:p>
                      <a:pPr algn="l">
                        <a:lnSpc>
                          <a:spcPct val="100000"/>
                        </a:lnSpc>
                      </a:pPr>
                      <a:r>
                        <a:rPr sz="1100" b="1" i="0">
                          <a:solidFill>
                            <a:srgbClr val="2E3540"/>
                          </a:solidFill>
                          <a:latin typeface="Courier New"/>
                        </a:rPr>
                        <a:t>es_global</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1 solo en la fila 0</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el decoder debe ubicar la fila que resume el estado</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forma la query del puntero</a:t>
                      </a:r>
                    </a:p>
                  </a:txBody>
                  <a:tcPr marL="54864" marR="54864" marT="18288" marB="18288">
                    <a:solidFill>
                      <a:srgbClr val="F9DEDC"/>
                    </a:solidFill>
                  </a:tcPr>
                </a:tc>
              </a:tr>
              <a:tr h="603504">
                <a:tc>
                  <a:txBody>
                    <a:bodyPr wrap="square" anchor="ctr" lIns="45720" rIns="45720" tIns="27432" bIns="27432"/>
                    <a:lstStyle/>
                    <a:p>
                      <a:pPr algn="ctr">
                        <a:lnSpc>
                          <a:spcPct val="100000"/>
                        </a:lnSpc>
                      </a:pPr>
                      <a:r>
                        <a:rPr sz="1150" b="0" i="0">
                          <a:solidFill>
                            <a:srgbClr val="2E3540"/>
                          </a:solidFill>
                          <a:latin typeface="Arial"/>
                        </a:rPr>
                        <a:t>4</a:t>
                      </a:r>
                    </a:p>
                  </a:txBody>
                  <a:tcPr marL="54864" marR="54864" marT="18288" marB="18288">
                    <a:solidFill>
                      <a:srgbClr val="F9DEDC"/>
                    </a:solidFill>
                  </a:tcPr>
                </a:tc>
                <a:tc>
                  <a:txBody>
                    <a:bodyPr wrap="square" anchor="ctr" lIns="45720" rIns="45720" tIns="27432" bIns="27432"/>
                    <a:lstStyle/>
                    <a:p>
                      <a:pPr algn="l">
                        <a:lnSpc>
                          <a:spcPct val="100000"/>
                        </a:lnSpc>
                      </a:pPr>
                      <a:r>
                        <a:rPr sz="1100" b="1" i="0">
                          <a:solidFill>
                            <a:srgbClr val="2E3540"/>
                          </a:solidFill>
                          <a:latin typeface="Courier New"/>
                        </a:rPr>
                        <a:t>no_disponible</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1 si el arma i ya fue asignada (o fila 0)</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codifica la restricción Σⱼ xᵢⱼ ≤ 1</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máscara: logit −10⁹ ⇒ probabilidad 0</a:t>
                      </a:r>
                    </a:p>
                  </a:txBody>
                  <a:tcPr marL="54864" marR="54864" marT="18288" marB="18288">
                    <a:solidFill>
                      <a:srgbClr val="F9DEDC"/>
                    </a:solidFill>
                  </a:tcPr>
                </a:tc>
              </a:tr>
              <a:tr h="603504">
                <a:tc>
                  <a:txBody>
                    <a:bodyPr wrap="square" anchor="ctr" lIns="45720" rIns="45720" tIns="27432" bIns="27432"/>
                    <a:lstStyle/>
                    <a:p>
                      <a:pPr algn="ctr">
                        <a:lnSpc>
                          <a:spcPct val="100000"/>
                        </a:lnSpc>
                      </a:pPr>
                      <a:r>
                        <a:rPr sz="1150" b="0" i="0">
                          <a:solidFill>
                            <a:srgbClr val="2E3540"/>
                          </a:solidFill>
                          <a:latin typeface="Arial"/>
                        </a:rPr>
                        <a:t>5</a:t>
                      </a:r>
                    </a:p>
                  </a:txBody>
                  <a:tcPr marL="54864" marR="54864" marT="18288" marB="18288">
                    <a:solidFill>
                      <a:srgbClr val="F9DEDC"/>
                    </a:solidFill>
                  </a:tcPr>
                </a:tc>
                <a:tc>
                  <a:txBody>
                    <a:bodyPr wrap="square" anchor="ctr" lIns="45720" rIns="45720" tIns="27432" bIns="27432"/>
                    <a:lstStyle/>
                    <a:p>
                      <a:pPr algn="l">
                        <a:lnSpc>
                          <a:spcPct val="100000"/>
                        </a:lnSpc>
                      </a:pPr>
                      <a:r>
                        <a:rPr sz="1100" b="1" i="0">
                          <a:solidFill>
                            <a:srgbClr val="2E3540"/>
                          </a:solidFill>
                          <a:latin typeface="Courier New"/>
                        </a:rPr>
                        <a:t>asignado</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1 si xᵢⱼ = 1 en la solución parcial</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contexto: qué pares ya se eligieron</a:t>
                      </a:r>
                    </a:p>
                  </a:txBody>
                  <a:tcPr marL="54864" marR="54864" marT="18288" marB="18288">
                    <a:solidFill>
                      <a:srgbClr val="F9DEDC"/>
                    </a:solidFill>
                  </a:tcPr>
                </a:tc>
                <a:tc>
                  <a:txBody>
                    <a:bodyPr wrap="square" anchor="ctr" lIns="45720" rIns="45720" tIns="27432" bIns="27432"/>
                    <a:lstStyle/>
                    <a:p>
                      <a:pPr algn="l">
                        <a:lnSpc>
                          <a:spcPct val="100000"/>
                        </a:lnSpc>
                      </a:pPr>
                      <a:r>
                        <a:rPr sz="1150" b="0" i="0">
                          <a:solidFill>
                            <a:srgbClr val="2E3540"/>
                          </a:solidFill>
                          <a:latin typeface="Arial"/>
                        </a:rPr>
                        <a:t>la atención ve qué objetivos ya están cubiertos</a:t>
                      </a:r>
                    </a:p>
                  </a:txBody>
                  <a:tcPr marL="54864" marR="54864" marT="18288" marB="18288">
                    <a:solidFill>
                      <a:srgbClr val="F9DEDC"/>
                    </a:solidFill>
                  </a:tcPr>
                </a:tc>
              </a:tr>
              <a:tr h="603504">
                <a:tc>
                  <a:txBody>
                    <a:bodyPr wrap="square" anchor="ctr" lIns="45720" rIns="45720" tIns="27432" bIns="27432"/>
                    <a:lstStyle/>
                    <a:p>
                      <a:pPr algn="ctr">
                        <a:lnSpc>
                          <a:spcPct val="100000"/>
                        </a:lnSpc>
                      </a:pPr>
                      <a:r>
                        <a:rPr sz="1150" b="0" i="0">
                          <a:solidFill>
                            <a:srgbClr val="2E3540"/>
                          </a:solidFill>
                          <a:latin typeface="Arial"/>
                        </a:rPr>
                        <a:t>6</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q_sobrevive</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qⱼ con lo asignado</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rendimientos decrecientes: cada arma actúa sobre lo que queda</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qⱼ bajo ⇒ otra arma en j gana poco</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7</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valor_en_juego</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Vⱼ · qⱼ / max V</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es el término del costo asociado a 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mucho valor en juego atrae armas</a:t>
                      </a:r>
                    </a:p>
                  </a:txBody>
                  <a:tcPr marL="54864" marR="54864" marT="18288" marB="18288">
                    <a:solidFill>
                      <a:srgbClr val="DFF0D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Features por elemento (8–15): qué capturan y por qué</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Azul = propias del par · rojo = flags de estado · verde = relativas al estado (★ = las más importantes)</a:t>
            </a:r>
          </a:p>
        </p:txBody>
      </p:sp>
      <p:sp>
        <p:nvSpPr>
          <p:cNvPr id="6" name="Rounded Rectangle 5"/>
          <p:cNvSpPr/>
          <p:nvPr/>
        </p:nvSpPr>
        <p:spPr>
          <a:xfrm>
            <a:off x="9677095" y="365760"/>
            <a:ext cx="2057400" cy="329184"/>
          </a:xfrm>
          <a:prstGeom prst="roundRect">
            <a:avLst>
              <a:gd name="adj" fmla="val 25000"/>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2 · REPRESENTACIÓN</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6 / 14</a:t>
            </a:r>
          </a:p>
        </p:txBody>
      </p:sp>
      <p:graphicFrame>
        <p:nvGraphicFramePr>
          <p:cNvPr id="9" name="Table 8"/>
          <p:cNvGraphicFramePr>
            <a:graphicFrameLocks noGrp="1"/>
          </p:cNvGraphicFramePr>
          <p:nvPr/>
        </p:nvGraphicFramePr>
        <p:xfrm>
          <a:off x="457200" y="1280160"/>
          <a:ext cx="11274552" cy="5431536"/>
        </p:xfrm>
        <a:graphic>
          <a:graphicData uri="http://schemas.openxmlformats.org/drawingml/2006/table">
            <a:tbl>
              <a:tblPr firstRow="1" bandRow="1">
                <a:tableStyleId>{5C22544A-7EE6-4342-B048-85BDC9FD1C3A}</a:tableStyleId>
              </a:tblPr>
              <a:tblGrid>
                <a:gridCol w="457200"/>
                <a:gridCol w="1828800"/>
                <a:gridCol w="2971800"/>
                <a:gridCol w="3017520"/>
                <a:gridCol w="2999232"/>
              </a:tblGrid>
              <a:tr h="603504">
                <a:tc>
                  <a:txBody>
                    <a:bodyPr wrap="square" anchor="ctr" lIns="45720" rIns="45720" tIns="27432" bIns="27432"/>
                    <a:lstStyle/>
                    <a:p>
                      <a:pPr algn="ctr">
                        <a:lnSpc>
                          <a:spcPct val="100000"/>
                        </a:lnSpc>
                      </a:pPr>
                      <a:r>
                        <a:rPr sz="1200" b="1" i="0">
                          <a:solidFill>
                            <a:srgbClr val="FFFFFF"/>
                          </a:solidFill>
                          <a:latin typeface="Arial"/>
                        </a:rPr>
                        <a:t>#</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Feature</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Qué captura</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Por qué es relevante</a:t>
                      </a:r>
                    </a:p>
                  </a:txBody>
                  <a:tcPr marL="54864" marR="54864" marT="18288" marB="18288">
                    <a:solidFill>
                      <a:srgbClr val="1B2A41"/>
                    </a:solidFill>
                  </a:tcPr>
                </a:tc>
                <a:tc>
                  <a:txBody>
                    <a:bodyPr wrap="square" anchor="ctr" lIns="45720" rIns="45720" tIns="27432" bIns="27432"/>
                    <a:lstStyle/>
                    <a:p>
                      <a:pPr algn="l">
                        <a:lnSpc>
                          <a:spcPct val="100000"/>
                        </a:lnSpc>
                      </a:pPr>
                      <a:r>
                        <a:rPr sz="1200" b="1" i="0">
                          <a:solidFill>
                            <a:srgbClr val="FFFFFF"/>
                          </a:solidFill>
                          <a:latin typeface="Arial"/>
                        </a:rPr>
                        <a:t>Relación con la decisión</a:t>
                      </a:r>
                    </a:p>
                  </a:txBody>
                  <a:tcPr marL="54864" marR="54864" marT="18288" marB="18288">
                    <a:solidFill>
                      <a:srgbClr val="1B2A41"/>
                    </a:solidFill>
                  </a:tcPr>
                </a:tc>
              </a:tr>
              <a:tr h="603504">
                <a:tc>
                  <a:txBody>
                    <a:bodyPr wrap="square" anchor="ctr" lIns="45720" rIns="45720" tIns="27432" bIns="27432"/>
                    <a:lstStyle/>
                    <a:p>
                      <a:pPr algn="ctr">
                        <a:lnSpc>
                          <a:spcPct val="100000"/>
                        </a:lnSpc>
                      </a:pPr>
                      <a:r>
                        <a:rPr sz="1150" b="0" i="0">
                          <a:solidFill>
                            <a:srgbClr val="2E3540"/>
                          </a:solidFill>
                          <a:latin typeface="Arial"/>
                        </a:rPr>
                        <a:t>8</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ganancia ★</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Vⱼ qⱼ pᵢⱼ / máx. de los pares válidos</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reducción inmediata del costo: el criterio de MMR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candidato natural; el modelo aprende cuándo no seguirlo</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9</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es_mmr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1 en el par que elegiría MMR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resume la decisión greedy en una columna</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referencia explícita que el modelo corrige</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10</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armas_en_obj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nº de armas ya en j / W</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saturación del objetivo</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evita concentrar demasiadas armas</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11</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ventaja</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pᵢⱼ − media de p de las armas libres en 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¿es i comparativamente buena para 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favorece usar el arma “especialista”</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12</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arrepentimiento</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gᵢⱼ − mejor g de otra arma libre en 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regret: ¿otra arma lo haría mejor?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negativo ⇒ conviene reservar j para otra arma</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13</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mmr_completa ★</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1 si al completar con MMR el arma i va a j</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anticipa las decisiones futuras</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en la Tarea 4, la anticipación fue lo más valioso</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14</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q_final_mmr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qⱼ al completar con MMR</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¿quedará j bien cubierto al final?</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evita sobre-asignar lo que se cubrirá después</a:t>
                      </a:r>
                    </a:p>
                  </a:txBody>
                  <a:tcPr marL="54864" marR="54864" marT="18288" marB="18288">
                    <a:solidFill>
                      <a:srgbClr val="DFF0DF"/>
                    </a:solidFill>
                  </a:tcPr>
                </a:tc>
              </a:tr>
              <a:tr h="603504">
                <a:tc>
                  <a:txBody>
                    <a:bodyPr wrap="square" anchor="ctr" lIns="45720" rIns="45720" tIns="27432" bIns="27432"/>
                    <a:lstStyle/>
                    <a:p>
                      <a:pPr algn="ctr">
                        <a:lnSpc>
                          <a:spcPct val="100000"/>
                        </a:lnSpc>
                      </a:pPr>
                      <a:r>
                        <a:rPr sz="1150" b="0" i="0">
                          <a:solidFill>
                            <a:srgbClr val="2E3540"/>
                          </a:solidFill>
                          <a:latin typeface="Arial"/>
                        </a:rPr>
                        <a:t>15</a:t>
                      </a:r>
                    </a:p>
                  </a:txBody>
                  <a:tcPr marL="54864" marR="54864" marT="18288" marB="18288">
                    <a:solidFill>
                      <a:srgbClr val="DFF0DF"/>
                    </a:solidFill>
                  </a:tcPr>
                </a:tc>
                <a:tc>
                  <a:txBody>
                    <a:bodyPr wrap="square" anchor="ctr" lIns="45720" rIns="45720" tIns="27432" bIns="27432"/>
                    <a:lstStyle/>
                    <a:p>
                      <a:pPr algn="l">
                        <a:lnSpc>
                          <a:spcPct val="100000"/>
                        </a:lnSpc>
                      </a:pPr>
                      <a:r>
                        <a:rPr sz="1100" b="1" i="0">
                          <a:solidFill>
                            <a:srgbClr val="2E3540"/>
                          </a:solidFill>
                          <a:latin typeface="Courier New"/>
                        </a:rPr>
                        <a:t>frac_restantes</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armas libres / W (en todas las filas)</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etapa de la construcción</a:t>
                      </a:r>
                    </a:p>
                  </a:txBody>
                  <a:tcPr marL="54864" marR="54864" marT="18288" marB="18288">
                    <a:solidFill>
                      <a:srgbClr val="DFF0DF"/>
                    </a:solidFill>
                  </a:tcPr>
                </a:tc>
                <a:tc>
                  <a:txBody>
                    <a:bodyPr wrap="square" anchor="ctr" lIns="45720" rIns="45720" tIns="27432" bIns="27432"/>
                    <a:lstStyle/>
                    <a:p>
                      <a:pPr algn="l">
                        <a:lnSpc>
                          <a:spcPct val="100000"/>
                        </a:lnSpc>
                      </a:pPr>
                      <a:r>
                        <a:rPr sz="1150" b="0" i="0">
                          <a:solidFill>
                            <a:srgbClr val="2E3540"/>
                          </a:solidFill>
                          <a:latin typeface="Arial"/>
                        </a:rPr>
                        <a:t>al inicio hay más margen; al final hay que cerrar</a:t>
                      </a:r>
                    </a:p>
                  </a:txBody>
                  <a:tcPr marL="54864" marR="54864" marT="18288" marB="18288">
                    <a:solidFill>
                      <a:srgbClr val="DFF0D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Generación de datos: de la instancia al par (x, y)</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Aprendizaje por imitación: el experto resuelve, la solución se descompone en decisiones y cada decisión es un ejemplo</a:t>
            </a:r>
          </a:p>
        </p:txBody>
      </p:sp>
      <p:sp>
        <p:nvSpPr>
          <p:cNvPr id="6" name="Rounded Rectangle 5"/>
          <p:cNvSpPr/>
          <p:nvPr/>
        </p:nvSpPr>
        <p:spPr>
          <a:xfrm>
            <a:off x="9677095" y="365760"/>
            <a:ext cx="2057400" cy="329184"/>
          </a:xfrm>
          <a:prstGeom prst="roundRect">
            <a:avLst>
              <a:gd name="adj" fmla="val 25000"/>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3 · DATOS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7 / 14</a:t>
            </a:r>
          </a:p>
        </p:txBody>
      </p:sp>
      <p:sp>
        <p:nvSpPr>
          <p:cNvPr id="9" name="Rounded Rectangle 8"/>
          <p:cNvSpPr/>
          <p:nvPr/>
        </p:nvSpPr>
        <p:spPr>
          <a:xfrm>
            <a:off x="457200" y="1325880"/>
            <a:ext cx="2011680" cy="1463040"/>
          </a:xfrm>
          <a:prstGeom prst="roundRect">
            <a:avLst>
              <a:gd name="adj" fmla="val 1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400" b="1" i="0">
                <a:solidFill>
                  <a:srgbClr val="FFFFFF"/>
                </a:solidFill>
                <a:latin typeface="Arial"/>
              </a:rPr>
              <a:t>Instancia</a:t>
            </a:r>
          </a:p>
          <a:p>
            <a:pPr algn="ctr">
              <a:lnSpc>
                <a:spcPct val="100000"/>
              </a:lnSpc>
            </a:pPr>
            <a:r>
              <a:rPr sz="1100" b="0" i="0">
                <a:solidFill>
                  <a:srgbClr val="FFFFFF"/>
                </a:solidFill>
                <a:latin typeface="Arial"/>
              </a:rPr>
              <a:t>Vⱼ ~ U{25..100}
pᵢⱼ ~ U(0,6; 0,9)
W = 10, T = 8</a:t>
            </a:r>
          </a:p>
        </p:txBody>
      </p:sp>
      <p:cxnSp>
        <p:nvCxnSpPr>
          <p:cNvPr id="10" name="Connector 9"/>
          <p:cNvCxnSpPr/>
          <p:nvPr/>
        </p:nvCxnSpPr>
        <p:spPr>
          <a:xfrm>
            <a:off x="2496312" y="2057400"/>
            <a:ext cx="249859" cy="0"/>
          </a:xfrm>
          <a:prstGeom prst="line">
            <a:avLst/>
          </a:prstGeom>
          <a:ln w="3175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73603" y="1325880"/>
            <a:ext cx="2011680" cy="1463040"/>
          </a:xfrm>
          <a:prstGeom prst="roundRect">
            <a:avLst>
              <a:gd name="adj" fmla="val 10000"/>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400" b="1" i="0">
                <a:solidFill>
                  <a:srgbClr val="FFFFFF"/>
                </a:solidFill>
                <a:latin typeface="Arial"/>
              </a:rPr>
              <a:t>Experto: ILS</a:t>
            </a:r>
          </a:p>
          <a:p>
            <a:pPr algn="ctr">
              <a:lnSpc>
                <a:spcPct val="100000"/>
              </a:lnSpc>
            </a:pPr>
            <a:r>
              <a:rPr sz="1100" b="0" i="0">
                <a:solidFill>
                  <a:srgbClr val="FFFFFF"/>
                </a:solidFill>
                <a:latin typeface="Arial"/>
              </a:rPr>
              <a:t>MMR + búsqueda local
(reassign, swap)
+ perturbación</a:t>
            </a:r>
          </a:p>
        </p:txBody>
      </p:sp>
      <p:cxnSp>
        <p:nvCxnSpPr>
          <p:cNvPr id="12" name="Connector 11"/>
          <p:cNvCxnSpPr/>
          <p:nvPr/>
        </p:nvCxnSpPr>
        <p:spPr>
          <a:xfrm>
            <a:off x="4812715" y="2057400"/>
            <a:ext cx="249860" cy="0"/>
          </a:xfrm>
          <a:prstGeom prst="line">
            <a:avLst/>
          </a:prstGeom>
          <a:ln w="3175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90007" y="1325880"/>
            <a:ext cx="2011680" cy="1463040"/>
          </a:xfrm>
          <a:prstGeom prst="roundRect">
            <a:avLst>
              <a:gd name="adj" fmla="val 10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400" b="1" i="0">
                <a:solidFill>
                  <a:srgbClr val="FFFFFF"/>
                </a:solidFill>
                <a:latin typeface="Arial"/>
              </a:rPr>
              <a:t>Solución</a:t>
            </a:r>
          </a:p>
          <a:p>
            <a:pPr algn="ctr">
              <a:lnSpc>
                <a:spcPct val="100000"/>
              </a:lnSpc>
            </a:pPr>
            <a:r>
              <a:rPr sz="1100" b="0" i="0">
                <a:solidFill>
                  <a:srgbClr val="FFFFFF"/>
                </a:solidFill>
                <a:latin typeface="Arial"/>
              </a:rPr>
              <a:t>10 pares (i, a*ᵢ)
sin orden</a:t>
            </a:r>
          </a:p>
        </p:txBody>
      </p:sp>
      <p:cxnSp>
        <p:nvCxnSpPr>
          <p:cNvPr id="14" name="Connector 13"/>
          <p:cNvCxnSpPr/>
          <p:nvPr/>
        </p:nvCxnSpPr>
        <p:spPr>
          <a:xfrm>
            <a:off x="7129119" y="2057400"/>
            <a:ext cx="249860" cy="0"/>
          </a:xfrm>
          <a:prstGeom prst="line">
            <a:avLst/>
          </a:prstGeom>
          <a:ln w="3175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06411" y="1325880"/>
            <a:ext cx="2011680" cy="1463040"/>
          </a:xfrm>
          <a:prstGeom prst="roundRect">
            <a:avLst>
              <a:gd name="adj" fmla="val 10000"/>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400" b="1" i="0">
                <a:solidFill>
                  <a:srgbClr val="FFFFFF"/>
                </a:solidFill>
                <a:latin typeface="Arial"/>
              </a:rPr>
              <a:t>Descomposición</a:t>
            </a:r>
          </a:p>
          <a:p>
            <a:pPr algn="ctr">
              <a:lnSpc>
                <a:spcPct val="100000"/>
              </a:lnSpc>
            </a:pPr>
            <a:r>
              <a:rPr sz="1100" b="0" i="0">
                <a:solidFill>
                  <a:srgbClr val="FFFFFF"/>
                </a:solidFill>
                <a:latin typeface="Arial"/>
              </a:rPr>
              <a:t>en cada paso: par del
experto con mayor
ganancia Vⱼqⱼpᵢⱼ</a:t>
            </a:r>
          </a:p>
        </p:txBody>
      </p:sp>
      <p:cxnSp>
        <p:nvCxnSpPr>
          <p:cNvPr id="16" name="Connector 15"/>
          <p:cNvCxnSpPr/>
          <p:nvPr/>
        </p:nvCxnSpPr>
        <p:spPr>
          <a:xfrm>
            <a:off x="9445523" y="2057400"/>
            <a:ext cx="249860" cy="0"/>
          </a:xfrm>
          <a:prstGeom prst="line">
            <a:avLst/>
          </a:prstGeom>
          <a:ln w="3175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22815" y="1325880"/>
            <a:ext cx="2011680" cy="1463040"/>
          </a:xfrm>
          <a:prstGeom prst="roundRect">
            <a:avLst>
              <a:gd name="adj" fmla="val 1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400" b="1" i="0">
                <a:solidFill>
                  <a:srgbClr val="FFFFFF"/>
                </a:solidFill>
                <a:latin typeface="Arial"/>
              </a:rPr>
              <a:t>Ejemplo (x, y)</a:t>
            </a:r>
          </a:p>
          <a:p>
            <a:pPr algn="ctr">
              <a:lnSpc>
                <a:spcPct val="100000"/>
              </a:lnSpc>
            </a:pPr>
            <a:r>
              <a:rPr sz="1100" b="0" i="0">
                <a:solidFill>
                  <a:srgbClr val="FFFFFF"/>
                </a:solidFill>
                <a:latin typeface="Arial"/>
              </a:rPr>
              <a:t>x = state2vec (81 × 16)
y = 1 + i·T + j
(10 por instancia)</a:t>
            </a:r>
          </a:p>
        </p:txBody>
      </p:sp>
      <p:sp>
        <p:nvSpPr>
          <p:cNvPr id="18" name="Rounded Rectangle 17"/>
          <p:cNvSpPr/>
          <p:nvPr/>
        </p:nvSpPr>
        <p:spPr>
          <a:xfrm>
            <a:off x="457200" y="3017520"/>
            <a:ext cx="3749039" cy="20574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154679"/>
            <a:ext cx="64008" cy="178308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08960"/>
            <a:ext cx="3428999" cy="365760"/>
          </a:xfrm>
          <a:prstGeom prst="rect">
            <a:avLst/>
          </a:prstGeom>
          <a:noFill/>
        </p:spPr>
        <p:txBody>
          <a:bodyPr wrap="square" anchor="t" lIns="45720" rIns="45720" tIns="27432" bIns="27432">
            <a:spAutoFit/>
          </a:bodyPr>
          <a:lstStyle/>
          <a:p>
            <a:pPr algn="l">
              <a:lnSpc>
                <a:spcPct val="110000"/>
              </a:lnSpc>
            </a:pPr>
            <a:r>
              <a:rPr sz="1400" b="1" i="0">
                <a:solidFill>
                  <a:srgbClr val="2CA02C"/>
                </a:solidFill>
                <a:latin typeface="Arial"/>
              </a:rPr>
              <a:t>¿POR QUÉ ESTE EXPERTO?</a:t>
            </a:r>
          </a:p>
        </p:txBody>
      </p:sp>
      <p:sp>
        <p:nvSpPr>
          <p:cNvPr id="21" name="TextBox 20"/>
          <p:cNvSpPr txBox="1"/>
          <p:nvPr/>
        </p:nvSpPr>
        <p:spPr>
          <a:xfrm>
            <a:off x="658368" y="3456432"/>
            <a:ext cx="3428999" cy="1554480"/>
          </a:xfrm>
          <a:prstGeom prst="rect">
            <a:avLst/>
          </a:prstGeom>
          <a:noFill/>
        </p:spPr>
        <p:txBody>
          <a:bodyPr wrap="square" anchor="t" lIns="45720" rIns="45720" tIns="27432" bIns="27432">
            <a:spAutoFit/>
          </a:bodyPr>
          <a:lstStyle/>
          <a:p>
            <a:pPr algn="l">
              <a:lnSpc>
                <a:spcPct val="110000"/>
              </a:lnSpc>
            </a:pPr>
            <a:r>
              <a:rPr sz="1100" b="1" i="0">
                <a:solidFill>
                  <a:srgbClr val="2E3540"/>
                </a:solidFill>
                <a:latin typeface="Arial"/>
              </a:rPr>
              <a:t>Óptimo verificado: </a:t>
            </a:r>
            <a:r>
              <a:rPr sz="1100" b="0" i="0">
                <a:solidFill>
                  <a:srgbClr val="2E3540"/>
                </a:solidFill>
                <a:latin typeface="Arial"/>
              </a:rPr>
              <a:t>10/10 (10 × 8, meet-in-the-middle) y 30/30 (5 × 4, fuerza bruta).</a:t>
            </a:r>
          </a:p>
          <a:p>
            <a:pPr algn="l">
              <a:lnSpc>
                <a:spcPct val="110000"/>
              </a:lnSpc>
            </a:pPr>
            <a:r>
              <a:rPr sz="1100" b="1" i="0">
                <a:solidFill>
                  <a:srgbClr val="2E3540"/>
                </a:solidFill>
                <a:latin typeface="Arial"/>
              </a:rPr>
              <a:t>Rápido: </a:t>
            </a:r>
            <a:r>
              <a:rPr sz="1100" b="0" i="0">
                <a:solidFill>
                  <a:srgbClr val="2E3540"/>
                </a:solidFill>
                <a:latin typeface="Arial"/>
              </a:rPr>
              <a:t>≈20 ms por instancia; el exacto tarda ≈2 s en 10 × 8 y no escala.</a:t>
            </a:r>
          </a:p>
          <a:p>
            <a:pPr algn="l">
              <a:lnSpc>
                <a:spcPct val="110000"/>
              </a:lnSpc>
            </a:pPr>
            <a:r>
              <a:rPr sz="1100" b="1" i="0">
                <a:solidFill>
                  <a:srgbClr val="2E3540"/>
                </a:solidFill>
                <a:latin typeface="Arial"/>
              </a:rPr>
              <a:t>Constructivo vs búsqueda local: </a:t>
            </a:r>
            <a:r>
              <a:rPr sz="1100" b="0" i="0">
                <a:solidFill>
                  <a:srgbClr val="2E3540"/>
                </a:solidFill>
                <a:latin typeface="Arial"/>
              </a:rPr>
              <a:t>imitamos la solución final, no la trayectoria de movimientos (ligada a perturbaciones aleatorias).</a:t>
            </a:r>
          </a:p>
        </p:txBody>
      </p:sp>
      <p:sp>
        <p:nvSpPr>
          <p:cNvPr id="22" name="Rounded Rectangle 21"/>
          <p:cNvSpPr/>
          <p:nvPr/>
        </p:nvSpPr>
        <p:spPr>
          <a:xfrm>
            <a:off x="4343400" y="3017520"/>
            <a:ext cx="3657600" cy="20574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154679"/>
            <a:ext cx="64008" cy="1783080"/>
          </a:xfrm>
          <a:prstGeom prst="rect">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108960"/>
            <a:ext cx="3337560" cy="365760"/>
          </a:xfrm>
          <a:prstGeom prst="rect">
            <a:avLst/>
          </a:prstGeom>
          <a:noFill/>
        </p:spPr>
        <p:txBody>
          <a:bodyPr wrap="square" anchor="t" lIns="45720" rIns="45720" tIns="27432" bIns="27432">
            <a:spAutoFit/>
          </a:bodyPr>
          <a:lstStyle/>
          <a:p>
            <a:pPr algn="l">
              <a:lnSpc>
                <a:spcPct val="110000"/>
              </a:lnSpc>
            </a:pPr>
            <a:r>
              <a:rPr sz="1400" b="1" i="0">
                <a:solidFill>
                  <a:srgbClr val="9467BD"/>
                </a:solidFill>
                <a:latin typeface="Arial"/>
              </a:rPr>
              <a:t>DESCOMPOSICIÓN</a:t>
            </a:r>
          </a:p>
        </p:txBody>
      </p:sp>
      <p:sp>
        <p:nvSpPr>
          <p:cNvPr id="25" name="TextBox 24"/>
          <p:cNvSpPr txBox="1"/>
          <p:nvPr/>
        </p:nvSpPr>
        <p:spPr>
          <a:xfrm>
            <a:off x="4544568" y="3456432"/>
            <a:ext cx="3337560" cy="1554480"/>
          </a:xfrm>
          <a:prstGeom prst="rect">
            <a:avLst/>
          </a:prstGeom>
          <a:noFill/>
        </p:spPr>
        <p:txBody>
          <a:bodyPr wrap="square" anchor="t" lIns="45720" rIns="45720" tIns="27432" bIns="27432">
            <a:spAutoFit/>
          </a:bodyPr>
          <a:lstStyle/>
          <a:p>
            <a:pPr algn="l">
              <a:lnSpc>
                <a:spcPct val="110000"/>
              </a:lnSpc>
            </a:pPr>
            <a:r>
              <a:rPr sz="1100" b="1" i="0">
                <a:solidFill>
                  <a:srgbClr val="2E3540"/>
                </a:solidFill>
                <a:latin typeface="Arial"/>
              </a:rPr>
              <a:t>Estado inicial: </a:t>
            </a:r>
            <a:r>
              <a:rPr sz="1100" b="0" i="0">
                <a:solidFill>
                  <a:srgbClr val="2E3540"/>
                </a:solidFill>
                <a:latin typeface="Arial"/>
              </a:rPr>
              <a:t>ninguna arma asignada.</a:t>
            </a:r>
          </a:p>
          <a:p>
            <a:pPr algn="l">
              <a:lnSpc>
                <a:spcPct val="110000"/>
              </a:lnSpc>
            </a:pPr>
            <a:r>
              <a:rPr sz="1100" b="1" i="0">
                <a:solidFill>
                  <a:srgbClr val="2E3540"/>
                </a:solidFill>
                <a:latin typeface="Arial"/>
              </a:rPr>
              <a:t>Acción: </a:t>
            </a:r>
            <a:r>
              <a:rPr sz="1100" b="0" i="0">
                <a:solidFill>
                  <a:srgbClr val="2E3540"/>
                </a:solidFill>
                <a:latin typeface="Arial"/>
              </a:rPr>
              <a:t>par (arma libre, objetivo); k·T posibles.</a:t>
            </a:r>
          </a:p>
          <a:p>
            <a:pPr algn="l">
              <a:lnSpc>
                <a:spcPct val="110000"/>
              </a:lnSpc>
            </a:pPr>
            <a:r>
              <a:rPr sz="1100" b="1" i="0">
                <a:solidFill>
                  <a:srgbClr val="2E3540"/>
                </a:solidFill>
                <a:latin typeface="Arial"/>
              </a:rPr>
              <a:t>Orden: </a:t>
            </a:r>
            <a:r>
              <a:rPr sz="1100" b="0" i="0">
                <a:solidFill>
                  <a:srgbClr val="2E3540"/>
                </a:solidFill>
                <a:latin typeface="Arial"/>
              </a:rPr>
              <a:t>mayor ganancia marginal entre los pares del experto pendientes → etiqueta única por estado y reconstruye exactamente su solución.</a:t>
            </a:r>
          </a:p>
          <a:p>
            <a:pPr algn="l">
              <a:lnSpc>
                <a:spcPct val="110000"/>
              </a:lnSpc>
            </a:pPr>
            <a:r>
              <a:rPr sz="1100" b="1" i="0">
                <a:solidFill>
                  <a:srgbClr val="2E3540"/>
                </a:solidFill>
                <a:latin typeface="Arial"/>
              </a:rPr>
              <a:t>Término: </a:t>
            </a:r>
            <a:r>
              <a:rPr sz="1100" b="0" i="0">
                <a:solidFill>
                  <a:srgbClr val="2E3540"/>
                </a:solidFill>
                <a:latin typeface="Arial"/>
              </a:rPr>
              <a:t>las W armas asignadas (10 decisiones).</a:t>
            </a:r>
          </a:p>
        </p:txBody>
      </p:sp>
      <p:sp>
        <p:nvSpPr>
          <p:cNvPr id="26" name="Rounded Rectangle 25"/>
          <p:cNvSpPr/>
          <p:nvPr/>
        </p:nvSpPr>
        <p:spPr>
          <a:xfrm>
            <a:off x="8138160" y="3017520"/>
            <a:ext cx="3611880" cy="20574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3154679"/>
            <a:ext cx="64008" cy="17830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3108960"/>
            <a:ext cx="3291840" cy="365760"/>
          </a:xfrm>
          <a:prstGeom prst="rect">
            <a:avLst/>
          </a:prstGeom>
          <a:noFill/>
        </p:spPr>
        <p:txBody>
          <a:bodyPr wrap="square" anchor="t" lIns="45720" rIns="45720" tIns="27432" bIns="27432">
            <a:spAutoFit/>
          </a:bodyPr>
          <a:lstStyle/>
          <a:p>
            <a:pPr algn="l">
              <a:lnSpc>
                <a:spcPct val="110000"/>
              </a:lnSpc>
            </a:pPr>
            <a:r>
              <a:rPr sz="1400" b="1" i="0">
                <a:solidFill>
                  <a:srgbClr val="E8710A"/>
                </a:solidFill>
                <a:latin typeface="Arial"/>
              </a:rPr>
              <a:t>SALIDA (ETIQUETA)</a:t>
            </a:r>
          </a:p>
        </p:txBody>
      </p:sp>
      <p:sp>
        <p:nvSpPr>
          <p:cNvPr id="29" name="TextBox 28"/>
          <p:cNvSpPr txBox="1"/>
          <p:nvPr/>
        </p:nvSpPr>
        <p:spPr>
          <a:xfrm>
            <a:off x="8339328" y="3456432"/>
            <a:ext cx="3291840" cy="1554480"/>
          </a:xfrm>
          <a:prstGeom prst="rect">
            <a:avLst/>
          </a:prstGeom>
          <a:noFill/>
        </p:spPr>
        <p:txBody>
          <a:bodyPr wrap="square" anchor="t" lIns="45720" rIns="45720" tIns="27432" bIns="27432">
            <a:spAutoFit/>
          </a:bodyPr>
          <a:lstStyle/>
          <a:p>
            <a:pPr algn="l">
              <a:lnSpc>
                <a:spcPct val="110000"/>
              </a:lnSpc>
            </a:pPr>
            <a:r>
              <a:rPr sz="1100" b="1" i="0">
                <a:solidFill>
                  <a:srgbClr val="2E3540"/>
                </a:solidFill>
                <a:latin typeface="Arial"/>
              </a:rPr>
              <a:t>y = índice de la fila escogida</a:t>
            </a:r>
            <a:r>
              <a:rPr sz="1100" b="0" i="0">
                <a:solidFill>
                  <a:srgbClr val="2E3540"/>
                </a:solidFill>
                <a:latin typeface="Arial"/>
              </a:rPr>
              <a:t> (entero) ≡ vector one-hot de largo 1 + W·T.</a:t>
            </a:r>
          </a:p>
          <a:p>
            <a:pPr algn="l">
              <a:lnSpc>
                <a:spcPct val="110000"/>
              </a:lnSpc>
              <a:spcAft>
                <a:spcPts val="400"/>
              </a:spcAft>
            </a:pPr>
            <a:r>
              <a:rPr sz="1100" b="0" i="0">
                <a:solidFill>
                  <a:srgbClr val="2E3540"/>
                </a:solidFill>
                <a:latin typeface="Arial"/>
              </a:rPr>
              <a:t>Las filas enmascaradas nunca son la etiqueta (verificado en todas las muestras).</a:t>
            </a:r>
          </a:p>
          <a:p>
            <a:pPr algn="l">
              <a:lnSpc>
                <a:spcPct val="110000"/>
              </a:lnSpc>
            </a:pPr>
            <a:r>
              <a:rPr sz="1100" b="1" i="0">
                <a:solidFill>
                  <a:srgbClr val="2E3540"/>
                </a:solidFill>
                <a:latin typeface="Arial"/>
              </a:rPr>
              <a:t>Pérdida: </a:t>
            </a:r>
            <a:r>
              <a:rPr sz="1100" b="0" i="0">
                <a:solidFill>
                  <a:srgbClr val="2E3540"/>
                </a:solidFill>
                <a:latin typeface="Arial"/>
              </a:rPr>
              <a:t>CrossEntropy sobre los logits enmascarados.</a:t>
            </a:r>
          </a:p>
        </p:txBody>
      </p:sp>
      <p:sp>
        <p:nvSpPr>
          <p:cNvPr id="30" name="Rounded Rectangle 29"/>
          <p:cNvSpPr/>
          <p:nvPr/>
        </p:nvSpPr>
        <p:spPr>
          <a:xfrm>
            <a:off x="457200" y="5212080"/>
            <a:ext cx="2697480" cy="109728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212080"/>
            <a:ext cx="2697480" cy="73152"/>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321808"/>
            <a:ext cx="2697480" cy="502920"/>
          </a:xfrm>
          <a:prstGeom prst="rect">
            <a:avLst/>
          </a:prstGeom>
          <a:noFill/>
        </p:spPr>
        <p:txBody>
          <a:bodyPr wrap="square" anchor="t" lIns="45720" rIns="45720" tIns="27432" bIns="27432">
            <a:spAutoFit/>
          </a:bodyPr>
          <a:lstStyle/>
          <a:p>
            <a:pPr algn="ctr">
              <a:lnSpc>
                <a:spcPct val="110000"/>
              </a:lnSpc>
            </a:pPr>
            <a:r>
              <a:rPr sz="2100" b="1" i="0">
                <a:solidFill>
                  <a:srgbClr val="1B2A41"/>
                </a:solidFill>
                <a:latin typeface="Arial"/>
              </a:rPr>
              <a:t>6.000</a:t>
            </a:r>
          </a:p>
        </p:txBody>
      </p:sp>
      <p:sp>
        <p:nvSpPr>
          <p:cNvPr id="33" name="TextBox 32"/>
          <p:cNvSpPr txBox="1"/>
          <p:nvPr/>
        </p:nvSpPr>
        <p:spPr>
          <a:xfrm>
            <a:off x="502920" y="5797296"/>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instancias de entrenamiento</a:t>
            </a:r>
          </a:p>
        </p:txBody>
      </p:sp>
      <p:sp>
        <p:nvSpPr>
          <p:cNvPr id="34" name="TextBox 33"/>
          <p:cNvSpPr txBox="1"/>
          <p:nvPr/>
        </p:nvSpPr>
        <p:spPr>
          <a:xfrm>
            <a:off x="502920" y="605332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 60.000 pares (x, y)</a:t>
            </a:r>
          </a:p>
        </p:txBody>
      </p:sp>
      <p:sp>
        <p:nvSpPr>
          <p:cNvPr id="35" name="Rounded Rectangle 34"/>
          <p:cNvSpPr/>
          <p:nvPr/>
        </p:nvSpPr>
        <p:spPr>
          <a:xfrm>
            <a:off x="3319272" y="5212080"/>
            <a:ext cx="2697480" cy="109728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19272" y="5212080"/>
            <a:ext cx="2697480" cy="7315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19272" y="5321808"/>
            <a:ext cx="2697480" cy="502920"/>
          </a:xfrm>
          <a:prstGeom prst="rect">
            <a:avLst/>
          </a:prstGeom>
          <a:noFill/>
        </p:spPr>
        <p:txBody>
          <a:bodyPr wrap="square" anchor="t" lIns="45720" rIns="45720" tIns="27432" bIns="27432">
            <a:spAutoFit/>
          </a:bodyPr>
          <a:lstStyle/>
          <a:p>
            <a:pPr algn="ctr">
              <a:lnSpc>
                <a:spcPct val="110000"/>
              </a:lnSpc>
            </a:pPr>
            <a:r>
              <a:rPr sz="2100" b="1" i="0">
                <a:solidFill>
                  <a:srgbClr val="1F77B4"/>
                </a:solidFill>
                <a:latin typeface="Arial"/>
              </a:rPr>
              <a:t>300</a:t>
            </a:r>
          </a:p>
        </p:txBody>
      </p:sp>
      <p:sp>
        <p:nvSpPr>
          <p:cNvPr id="38" name="TextBox 37"/>
          <p:cNvSpPr txBox="1"/>
          <p:nvPr/>
        </p:nvSpPr>
        <p:spPr>
          <a:xfrm>
            <a:off x="3364991" y="5797296"/>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instancias de validación</a:t>
            </a:r>
          </a:p>
        </p:txBody>
      </p:sp>
      <p:sp>
        <p:nvSpPr>
          <p:cNvPr id="39" name="TextBox 38"/>
          <p:cNvSpPr txBox="1"/>
          <p:nvPr/>
        </p:nvSpPr>
        <p:spPr>
          <a:xfrm>
            <a:off x="3364991" y="605332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 3.000 pares</a:t>
            </a:r>
          </a:p>
        </p:txBody>
      </p:sp>
      <p:sp>
        <p:nvSpPr>
          <p:cNvPr id="40" name="Rounded Rectangle 39"/>
          <p:cNvSpPr/>
          <p:nvPr/>
        </p:nvSpPr>
        <p:spPr>
          <a:xfrm>
            <a:off x="6181344" y="5212080"/>
            <a:ext cx="2697480" cy="109728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81344" y="5212080"/>
            <a:ext cx="2697480" cy="73152"/>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81344" y="5321808"/>
            <a:ext cx="2697480" cy="502920"/>
          </a:xfrm>
          <a:prstGeom prst="rect">
            <a:avLst/>
          </a:prstGeom>
          <a:noFill/>
        </p:spPr>
        <p:txBody>
          <a:bodyPr wrap="square" anchor="t" lIns="45720" rIns="45720" tIns="27432" bIns="27432">
            <a:spAutoFit/>
          </a:bodyPr>
          <a:lstStyle/>
          <a:p>
            <a:pPr algn="ctr">
              <a:lnSpc>
                <a:spcPct val="110000"/>
              </a:lnSpc>
            </a:pPr>
            <a:r>
              <a:rPr sz="2100" b="1" i="0">
                <a:solidFill>
                  <a:srgbClr val="2CA02C"/>
                </a:solidFill>
                <a:latin typeface="Arial"/>
              </a:rPr>
              <a:t>50</a:t>
            </a:r>
          </a:p>
        </p:txBody>
      </p:sp>
      <p:sp>
        <p:nvSpPr>
          <p:cNvPr id="43" name="TextBox 42"/>
          <p:cNvSpPr txBox="1"/>
          <p:nvPr/>
        </p:nvSpPr>
        <p:spPr>
          <a:xfrm>
            <a:off x="6227064" y="5797296"/>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instancias de prueba (10 × 8)</a:t>
            </a:r>
          </a:p>
        </p:txBody>
      </p:sp>
      <p:sp>
        <p:nvSpPr>
          <p:cNvPr id="44" name="TextBox 43"/>
          <p:cNvSpPr txBox="1"/>
          <p:nvPr/>
        </p:nvSpPr>
        <p:spPr>
          <a:xfrm>
            <a:off x="6227064" y="605332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las mismas de la Tarea 4</a:t>
            </a:r>
          </a:p>
        </p:txBody>
      </p:sp>
      <p:sp>
        <p:nvSpPr>
          <p:cNvPr id="45" name="Rounded Rectangle 44"/>
          <p:cNvSpPr/>
          <p:nvPr/>
        </p:nvSpPr>
        <p:spPr>
          <a:xfrm>
            <a:off x="9043416" y="5212080"/>
            <a:ext cx="2697480" cy="109728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43416" y="5212080"/>
            <a:ext cx="2697480" cy="73152"/>
          </a:xfrm>
          <a:prstGeom prst="rect">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43416" y="5321808"/>
            <a:ext cx="2697480" cy="502920"/>
          </a:xfrm>
          <a:prstGeom prst="rect">
            <a:avLst/>
          </a:prstGeom>
          <a:noFill/>
        </p:spPr>
        <p:txBody>
          <a:bodyPr wrap="square" anchor="t" lIns="45720" rIns="45720" tIns="27432" bIns="27432">
            <a:spAutoFit/>
          </a:bodyPr>
          <a:lstStyle/>
          <a:p>
            <a:pPr algn="ctr">
              <a:lnSpc>
                <a:spcPct val="110000"/>
              </a:lnSpc>
            </a:pPr>
            <a:r>
              <a:rPr sz="2100" b="1" i="0">
                <a:solidFill>
                  <a:srgbClr val="9467BD"/>
                </a:solidFill>
                <a:latin typeface="Arial"/>
              </a:rPr>
              <a:t>+ 120</a:t>
            </a:r>
          </a:p>
        </p:txBody>
      </p:sp>
      <p:sp>
        <p:nvSpPr>
          <p:cNvPr id="48" name="TextBox 47"/>
          <p:cNvSpPr txBox="1"/>
          <p:nvPr/>
        </p:nvSpPr>
        <p:spPr>
          <a:xfrm>
            <a:off x="9089136" y="5797296"/>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instancias por tamaño</a:t>
            </a:r>
          </a:p>
        </p:txBody>
      </p:sp>
      <p:sp>
        <p:nvSpPr>
          <p:cNvPr id="49" name="TextBox 48"/>
          <p:cNvSpPr txBox="1"/>
          <p:nvPr/>
        </p:nvSpPr>
        <p:spPr>
          <a:xfrm>
            <a:off x="9089136" y="605332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5×4, 15×10, 20×15, 30×20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Arquitectura: encoder + decoder con puntero</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El encoder contextualiza la secuencia; el decoder convierte el estado en una distribución sobre las acciones</a:t>
            </a:r>
          </a:p>
        </p:txBody>
      </p:sp>
      <p:sp>
        <p:nvSpPr>
          <p:cNvPr id="6" name="Rounded Rectangle 5"/>
          <p:cNvSpPr/>
          <p:nvPr/>
        </p:nvSpPr>
        <p:spPr>
          <a:xfrm>
            <a:off x="9677095" y="365760"/>
            <a:ext cx="2057400" cy="329184"/>
          </a:xfrm>
          <a:prstGeom prst="roundRect">
            <a:avLst>
              <a:gd name="adj" fmla="val 25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4 · ARQUITECTURA</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8 / 14</a:t>
            </a:r>
          </a:p>
        </p:txBody>
      </p:sp>
      <p:sp>
        <p:nvSpPr>
          <p:cNvPr id="9" name="Rounded Rectangle 8"/>
          <p:cNvSpPr/>
          <p:nvPr/>
        </p:nvSpPr>
        <p:spPr>
          <a:xfrm>
            <a:off x="411480" y="1234440"/>
            <a:ext cx="5532120" cy="5074920"/>
          </a:xfrm>
          <a:prstGeom prst="roundRect">
            <a:avLst>
              <a:gd name="adj" fmla="val 4000"/>
            </a:avLst>
          </a:prstGeom>
          <a:solidFill>
            <a:srgbClr val="F1F6FC"/>
          </a:solidFill>
          <a:ln w="254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1234440"/>
            <a:ext cx="5532120" cy="5074920"/>
          </a:xfrm>
          <a:prstGeom prst="roundRect">
            <a:avLst>
              <a:gd name="adj" fmla="val 4000"/>
            </a:avLst>
          </a:prstGeom>
          <a:solidFill>
            <a:srgbClr val="FEF6EE"/>
          </a:solidFill>
          <a:ln w="25400">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298448"/>
            <a:ext cx="3200400" cy="365760"/>
          </a:xfrm>
          <a:prstGeom prst="rect">
            <a:avLst/>
          </a:prstGeom>
          <a:noFill/>
        </p:spPr>
        <p:txBody>
          <a:bodyPr wrap="square" anchor="t" lIns="45720" rIns="45720" tIns="27432" bIns="27432">
            <a:spAutoFit/>
          </a:bodyPr>
          <a:lstStyle/>
          <a:p>
            <a:pPr algn="l">
              <a:lnSpc>
                <a:spcPct val="110000"/>
              </a:lnSpc>
            </a:pPr>
            <a:r>
              <a:rPr sz="1700" b="1" i="0">
                <a:solidFill>
                  <a:srgbClr val="1F77B4"/>
                </a:solidFill>
                <a:latin typeface="Arial"/>
              </a:rPr>
              <a:t>ENCODER</a:t>
            </a:r>
          </a:p>
        </p:txBody>
      </p:sp>
      <p:sp>
        <p:nvSpPr>
          <p:cNvPr id="12" name="TextBox 11"/>
          <p:cNvSpPr txBox="1"/>
          <p:nvPr/>
        </p:nvSpPr>
        <p:spPr>
          <a:xfrm>
            <a:off x="6446520" y="1298448"/>
            <a:ext cx="3200400" cy="365760"/>
          </a:xfrm>
          <a:prstGeom prst="rect">
            <a:avLst/>
          </a:prstGeom>
          <a:noFill/>
        </p:spPr>
        <p:txBody>
          <a:bodyPr wrap="square" anchor="t" lIns="45720" rIns="45720" tIns="27432" bIns="27432">
            <a:spAutoFit/>
          </a:bodyPr>
          <a:lstStyle/>
          <a:p>
            <a:pPr algn="l">
              <a:lnSpc>
                <a:spcPct val="110000"/>
              </a:lnSpc>
            </a:pPr>
            <a:r>
              <a:rPr sz="1700" b="1" i="0">
                <a:solidFill>
                  <a:srgbClr val="E8710A"/>
                </a:solidFill>
                <a:latin typeface="Arial"/>
              </a:rPr>
              <a:t>DECODER</a:t>
            </a:r>
          </a:p>
        </p:txBody>
      </p:sp>
      <p:sp>
        <p:nvSpPr>
          <p:cNvPr id="13" name="TextBox 12"/>
          <p:cNvSpPr txBox="1"/>
          <p:nvPr/>
        </p:nvSpPr>
        <p:spPr>
          <a:xfrm>
            <a:off x="2011680" y="1344168"/>
            <a:ext cx="3840480" cy="320040"/>
          </a:xfrm>
          <a:prstGeom prst="rect">
            <a:avLst/>
          </a:prstGeom>
          <a:noFill/>
        </p:spPr>
        <p:txBody>
          <a:bodyPr wrap="square" anchor="t" lIns="45720" rIns="45720" tIns="27432" bIns="27432">
            <a:spAutoFit/>
          </a:bodyPr>
          <a:lstStyle/>
          <a:p>
            <a:pPr algn="r">
              <a:lnSpc>
                <a:spcPct val="110000"/>
              </a:lnSpc>
            </a:pPr>
            <a:r>
              <a:rPr sz="1050" b="0" i="0">
                <a:solidFill>
                  <a:srgbClr val="6B7585"/>
                </a:solidFill>
                <a:latin typeface="Arial"/>
              </a:rPr>
              <a:t>2 capas · 1 cabeza · d = 64 · se recalcula en cada paso</a:t>
            </a:r>
          </a:p>
        </p:txBody>
      </p:sp>
      <p:sp>
        <p:nvSpPr>
          <p:cNvPr id="14" name="TextBox 13"/>
          <p:cNvSpPr txBox="1"/>
          <p:nvPr/>
        </p:nvSpPr>
        <p:spPr>
          <a:xfrm>
            <a:off x="7863840" y="1344168"/>
            <a:ext cx="3840480" cy="320040"/>
          </a:xfrm>
          <a:prstGeom prst="rect">
            <a:avLst/>
          </a:prstGeom>
          <a:noFill/>
        </p:spPr>
        <p:txBody>
          <a:bodyPr wrap="square" anchor="t" lIns="45720" rIns="45720" tIns="27432" bIns="27432">
            <a:spAutoFit/>
          </a:bodyPr>
          <a:lstStyle/>
          <a:p>
            <a:pPr algn="r">
              <a:lnSpc>
                <a:spcPct val="110000"/>
              </a:lnSpc>
            </a:pPr>
            <a:r>
              <a:rPr sz="1050" b="0" i="0">
                <a:solidFill>
                  <a:srgbClr val="6B7585"/>
                </a:solidFill>
                <a:latin typeface="Arial"/>
              </a:rPr>
              <a:t>1 capa de decisión (sin glimpse) · W pasos</a:t>
            </a:r>
          </a:p>
        </p:txBody>
      </p:sp>
      <p:sp>
        <p:nvSpPr>
          <p:cNvPr id="15" name="TextBox 14"/>
          <p:cNvSpPr txBox="1"/>
          <p:nvPr/>
        </p:nvSpPr>
        <p:spPr>
          <a:xfrm>
            <a:off x="548640" y="1874519"/>
            <a:ext cx="868680" cy="274320"/>
          </a:xfrm>
          <a:prstGeom prst="rect">
            <a:avLst/>
          </a:prstGeom>
          <a:noFill/>
        </p:spPr>
        <p:txBody>
          <a:bodyPr wrap="square" anchor="t" lIns="45720" rIns="45720" tIns="27432" bIns="27432">
            <a:spAutoFit/>
          </a:bodyPr>
          <a:lstStyle/>
          <a:p>
            <a:pPr algn="l">
              <a:lnSpc>
                <a:spcPct val="110000"/>
              </a:lnSpc>
            </a:pPr>
            <a:r>
              <a:rPr sz="900" b="1" i="0">
                <a:solidFill>
                  <a:srgbClr val="1F77B4"/>
                </a:solidFill>
                <a:latin typeface="Arial"/>
              </a:rPr>
              <a:t>ENTRA</a:t>
            </a:r>
          </a:p>
        </p:txBody>
      </p:sp>
      <p:sp>
        <p:nvSpPr>
          <p:cNvPr id="16" name="Rounded Rectangle 15"/>
          <p:cNvSpPr/>
          <p:nvPr/>
        </p:nvSpPr>
        <p:spPr>
          <a:xfrm>
            <a:off x="1417320" y="1783080"/>
            <a:ext cx="4343400" cy="658368"/>
          </a:xfrm>
          <a:prstGeom prst="roundRect">
            <a:avLst>
              <a:gd name="adj" fmla="val 1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200" b="1" i="0">
                <a:solidFill>
                  <a:srgbClr val="FFFFFF"/>
                </a:solidFill>
                <a:latin typeface="Arial"/>
              </a:rPr>
              <a:t>Secuencia de entrada: (1 + W·T) × 16</a:t>
            </a:r>
          </a:p>
          <a:p>
            <a:pPr algn="ctr">
              <a:lnSpc>
                <a:spcPct val="100000"/>
              </a:lnSpc>
            </a:pPr>
            <a:r>
              <a:rPr sz="1000" b="0" i="0">
                <a:solidFill>
                  <a:srgbClr val="FFFFFF"/>
                </a:solidFill>
                <a:latin typeface="Arial"/>
              </a:rPr>
              <a:t>fila 0 = global [CLS] · filas 1 + i·T + j = pares (arma i, objetivo j)</a:t>
            </a:r>
          </a:p>
        </p:txBody>
      </p:sp>
      <p:cxnSp>
        <p:nvCxnSpPr>
          <p:cNvPr id="17" name="Connector 16"/>
          <p:cNvCxnSpPr/>
          <p:nvPr/>
        </p:nvCxnSpPr>
        <p:spPr>
          <a:xfrm>
            <a:off x="3589020" y="2459736"/>
            <a:ext cx="0" cy="155448"/>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2697480"/>
            <a:ext cx="868680" cy="274320"/>
          </a:xfrm>
          <a:prstGeom prst="rect">
            <a:avLst/>
          </a:prstGeom>
          <a:noFill/>
        </p:spPr>
        <p:txBody>
          <a:bodyPr wrap="square" anchor="t" lIns="45720" rIns="45720" tIns="27432" bIns="27432">
            <a:spAutoFit/>
          </a:bodyPr>
          <a:lstStyle/>
          <a:p>
            <a:pPr algn="l">
              <a:lnSpc>
                <a:spcPct val="110000"/>
              </a:lnSpc>
            </a:pPr>
            <a:r>
              <a:rPr sz="900" b="1" i="0">
                <a:solidFill>
                  <a:srgbClr val="1F77B4"/>
                </a:solidFill>
                <a:latin typeface="Arial"/>
              </a:rPr>
              <a:t>HACE</a:t>
            </a:r>
          </a:p>
        </p:txBody>
      </p:sp>
      <p:sp>
        <p:nvSpPr>
          <p:cNvPr id="19" name="Rounded Rectangle 18"/>
          <p:cNvSpPr/>
          <p:nvPr/>
        </p:nvSpPr>
        <p:spPr>
          <a:xfrm>
            <a:off x="1417320" y="2633472"/>
            <a:ext cx="4343400" cy="502920"/>
          </a:xfrm>
          <a:prstGeom prst="roundRect">
            <a:avLst>
              <a:gd name="adj" fmla="val 10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200" b="1" i="0">
                <a:solidFill>
                  <a:srgbClr val="FFFFFF"/>
                </a:solidFill>
                <a:latin typeface="Arial"/>
              </a:rPr>
              <a:t>Embedding lineal compartido 16 → 64</a:t>
            </a:r>
          </a:p>
          <a:p>
            <a:pPr algn="ctr">
              <a:lnSpc>
                <a:spcPct val="100000"/>
              </a:lnSpc>
            </a:pPr>
            <a:r>
              <a:rPr sz="1000" b="0" i="0">
                <a:solidFill>
                  <a:srgbClr val="FFFFFF"/>
                </a:solidFill>
                <a:latin typeface="Arial"/>
              </a:rPr>
              <a:t>mismos pesos para todas las filas</a:t>
            </a:r>
          </a:p>
        </p:txBody>
      </p:sp>
      <p:cxnSp>
        <p:nvCxnSpPr>
          <p:cNvPr id="20" name="Connector 19"/>
          <p:cNvCxnSpPr/>
          <p:nvPr/>
        </p:nvCxnSpPr>
        <p:spPr>
          <a:xfrm>
            <a:off x="3589020" y="3154680"/>
            <a:ext cx="0" cy="155448"/>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344168" y="3310128"/>
            <a:ext cx="4489704" cy="1783080"/>
          </a:xfrm>
          <a:prstGeom prst="roundRect">
            <a:avLst>
              <a:gd name="adj" fmla="val 6000"/>
            </a:avLst>
          </a:prstGeom>
          <a:no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3328416"/>
            <a:ext cx="731520" cy="274320"/>
          </a:xfrm>
          <a:prstGeom prst="rect">
            <a:avLst/>
          </a:prstGeom>
          <a:noFill/>
        </p:spPr>
        <p:txBody>
          <a:bodyPr wrap="square" anchor="t" lIns="45720" rIns="45720" tIns="27432" bIns="27432">
            <a:spAutoFit/>
          </a:bodyPr>
          <a:lstStyle/>
          <a:p>
            <a:pPr algn="r">
              <a:lnSpc>
                <a:spcPct val="110000"/>
              </a:lnSpc>
            </a:pPr>
            <a:r>
              <a:rPr sz="1300" b="1" i="0">
                <a:solidFill>
                  <a:srgbClr val="1F77B4"/>
                </a:solidFill>
                <a:latin typeface="Arial"/>
              </a:rPr>
              <a:t>× 2</a:t>
            </a:r>
          </a:p>
        </p:txBody>
      </p:sp>
      <p:sp>
        <p:nvSpPr>
          <p:cNvPr id="23" name="Rounded Rectangle 22"/>
          <p:cNvSpPr/>
          <p:nvPr/>
        </p:nvSpPr>
        <p:spPr>
          <a:xfrm>
            <a:off x="1508760" y="3429000"/>
            <a:ext cx="3474720" cy="658368"/>
          </a:xfrm>
          <a:prstGeom prst="roundRect">
            <a:avLst>
              <a:gd name="adj" fmla="val 10000"/>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Self-attention (1 cabeza)</a:t>
            </a:r>
          </a:p>
          <a:p>
            <a:pPr algn="ctr">
              <a:lnSpc>
                <a:spcPct val="100000"/>
              </a:lnSpc>
            </a:pPr>
            <a:r>
              <a:rPr sz="950" b="0" i="0">
                <a:solidFill>
                  <a:srgbClr val="FFFFFF"/>
                </a:solidFill>
                <a:latin typeface="Arial"/>
              </a:rPr>
              <a:t>A = softmax(QKᵀ/√d) · cada par mira a todos
+ residual + LayerNorm</a:t>
            </a:r>
          </a:p>
        </p:txBody>
      </p:sp>
      <p:cxnSp>
        <p:nvCxnSpPr>
          <p:cNvPr id="24" name="Connector 23"/>
          <p:cNvCxnSpPr/>
          <p:nvPr/>
        </p:nvCxnSpPr>
        <p:spPr>
          <a:xfrm>
            <a:off x="3200400" y="4105656"/>
            <a:ext cx="0" cy="146304"/>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08760" y="4270248"/>
            <a:ext cx="3474720" cy="685800"/>
          </a:xfrm>
          <a:prstGeom prst="roundRect">
            <a:avLst>
              <a:gd name="adj" fmla="val 10000"/>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Feed-forward por fila</a:t>
            </a:r>
          </a:p>
          <a:p>
            <a:pPr algn="ctr">
              <a:lnSpc>
                <a:spcPct val="100000"/>
              </a:lnSpc>
            </a:pPr>
            <a:r>
              <a:rPr sz="950" b="0" i="0">
                <a:solidFill>
                  <a:srgbClr val="FFFFFF"/>
                </a:solidFill>
                <a:latin typeface="Arial"/>
              </a:rPr>
              <a:t>64 → 128 → 64 (ReLU)
+ residual + LayerNorm</a:t>
            </a:r>
          </a:p>
        </p:txBody>
      </p:sp>
      <p:cxnSp>
        <p:nvCxnSpPr>
          <p:cNvPr id="26" name="Connector 25"/>
          <p:cNvCxnSpPr/>
          <p:nvPr/>
        </p:nvCxnSpPr>
        <p:spPr>
          <a:xfrm>
            <a:off x="3589020" y="5111496"/>
            <a:ext cx="0" cy="173736"/>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5394960"/>
            <a:ext cx="868680" cy="274320"/>
          </a:xfrm>
          <a:prstGeom prst="rect">
            <a:avLst/>
          </a:prstGeom>
          <a:noFill/>
        </p:spPr>
        <p:txBody>
          <a:bodyPr wrap="square" anchor="t" lIns="45720" rIns="45720" tIns="27432" bIns="27432">
            <a:spAutoFit/>
          </a:bodyPr>
          <a:lstStyle/>
          <a:p>
            <a:pPr algn="l">
              <a:lnSpc>
                <a:spcPct val="110000"/>
              </a:lnSpc>
            </a:pPr>
            <a:r>
              <a:rPr sz="900" b="1" i="0">
                <a:solidFill>
                  <a:srgbClr val="1F77B4"/>
                </a:solidFill>
                <a:latin typeface="Arial"/>
              </a:rPr>
              <a:t>SALE</a:t>
            </a:r>
          </a:p>
        </p:txBody>
      </p:sp>
      <p:sp>
        <p:nvSpPr>
          <p:cNvPr id="28" name="Rounded Rectangle 27"/>
          <p:cNvSpPr/>
          <p:nvPr/>
        </p:nvSpPr>
        <p:spPr>
          <a:xfrm>
            <a:off x="1417320" y="5303520"/>
            <a:ext cx="4343400" cy="868680"/>
          </a:xfrm>
          <a:prstGeom prst="roundRect">
            <a:avLst>
              <a:gd name="adj" fmla="val 10000"/>
            </a:avLst>
          </a:prstGeom>
          <a:solidFill>
            <a:srgbClr val="154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250" b="1" i="0">
                <a:solidFill>
                  <a:srgbClr val="FFFFFF"/>
                </a:solidFill>
                <a:latin typeface="Arial"/>
              </a:rPr>
              <a:t>H ∈ ℝ^((1+W·T) × 64)</a:t>
            </a:r>
          </a:p>
          <a:p>
            <a:pPr algn="ctr">
              <a:lnSpc>
                <a:spcPct val="100000"/>
              </a:lnSpc>
            </a:pPr>
            <a:r>
              <a:rPr sz="1000" b="0" i="0">
                <a:solidFill>
                  <a:srgbClr val="FFFFFF"/>
                </a:solidFill>
                <a:latin typeface="Arial"/>
              </a:rPr>
              <a:t>un embedding contextualizado por fila: cada par “sabe” del estado
global y de los demás pares de la instancia</a:t>
            </a:r>
          </a:p>
        </p:txBody>
      </p:sp>
      <p:cxnSp>
        <p:nvCxnSpPr>
          <p:cNvPr id="29" name="Connector 28"/>
          <p:cNvCxnSpPr/>
          <p:nvPr/>
        </p:nvCxnSpPr>
        <p:spPr>
          <a:xfrm>
            <a:off x="5779007" y="5733288"/>
            <a:ext cx="1490473" cy="0"/>
          </a:xfrm>
          <a:prstGeom prst="line">
            <a:avLst/>
          </a:prstGeom>
          <a:ln w="38100">
            <a:solidFill>
              <a:srgbClr val="1B2A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715000" y="5760720"/>
            <a:ext cx="914400" cy="274320"/>
          </a:xfrm>
          <a:prstGeom prst="rect">
            <a:avLst/>
          </a:prstGeom>
          <a:noFill/>
        </p:spPr>
        <p:txBody>
          <a:bodyPr wrap="square" anchor="t" lIns="45720" rIns="45720" tIns="27432" bIns="27432">
            <a:spAutoFit/>
          </a:bodyPr>
          <a:lstStyle/>
          <a:p>
            <a:pPr algn="ctr">
              <a:lnSpc>
                <a:spcPct val="110000"/>
              </a:lnSpc>
            </a:pPr>
            <a:r>
              <a:rPr sz="1100" b="1" i="0">
                <a:solidFill>
                  <a:srgbClr val="1B2A41"/>
                </a:solidFill>
                <a:latin typeface="Arial"/>
              </a:rPr>
              <a:t>H</a:t>
            </a:r>
          </a:p>
        </p:txBody>
      </p:sp>
      <p:sp>
        <p:nvSpPr>
          <p:cNvPr id="31" name="TextBox 30"/>
          <p:cNvSpPr txBox="1"/>
          <p:nvPr/>
        </p:nvSpPr>
        <p:spPr>
          <a:xfrm>
            <a:off x="6400800" y="5394960"/>
            <a:ext cx="868680" cy="274320"/>
          </a:xfrm>
          <a:prstGeom prst="rect">
            <a:avLst/>
          </a:prstGeom>
          <a:noFill/>
        </p:spPr>
        <p:txBody>
          <a:bodyPr wrap="square" anchor="t" lIns="45720" rIns="45720" tIns="27432" bIns="27432">
            <a:spAutoFit/>
          </a:bodyPr>
          <a:lstStyle/>
          <a:p>
            <a:pPr algn="l">
              <a:lnSpc>
                <a:spcPct val="110000"/>
              </a:lnSpc>
            </a:pPr>
            <a:r>
              <a:rPr sz="900" b="1" i="0">
                <a:solidFill>
                  <a:srgbClr val="E8710A"/>
                </a:solidFill>
                <a:latin typeface="Arial"/>
              </a:rPr>
              <a:t>ENTRA</a:t>
            </a:r>
          </a:p>
        </p:txBody>
      </p:sp>
      <p:sp>
        <p:nvSpPr>
          <p:cNvPr id="32" name="Rounded Rectangle 31"/>
          <p:cNvSpPr/>
          <p:nvPr/>
        </p:nvSpPr>
        <p:spPr>
          <a:xfrm>
            <a:off x="7269480" y="5303520"/>
            <a:ext cx="4343400" cy="868680"/>
          </a:xfrm>
          <a:prstGeom prst="roundRect">
            <a:avLst>
              <a:gd name="adj" fmla="val 10000"/>
            </a:avLst>
          </a:prstGeom>
          <a:solidFill>
            <a:srgbClr val="8A4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H + flag es_global (col. 3) + máscara (col. 4)</a:t>
            </a:r>
          </a:p>
          <a:p>
            <a:pPr algn="ctr">
              <a:lnSpc>
                <a:spcPct val="100000"/>
              </a:lnSpc>
            </a:pPr>
            <a:r>
              <a:rPr sz="1000" b="0" i="0">
                <a:solidFill>
                  <a:srgbClr val="FFFFFF"/>
                </a:solidFill>
                <a:latin typeface="Arial"/>
              </a:rPr>
              <a:t>estado parcial ya codificado en H · qué filas son acciones válidas</a:t>
            </a:r>
          </a:p>
        </p:txBody>
      </p:sp>
      <p:cxnSp>
        <p:nvCxnSpPr>
          <p:cNvPr id="33" name="Connector 32"/>
          <p:cNvCxnSpPr/>
          <p:nvPr/>
        </p:nvCxnSpPr>
        <p:spPr>
          <a:xfrm flipV="1">
            <a:off x="9441180" y="5120640"/>
            <a:ext cx="0" cy="164592"/>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00800" y="4526280"/>
            <a:ext cx="868680" cy="274320"/>
          </a:xfrm>
          <a:prstGeom prst="rect">
            <a:avLst/>
          </a:prstGeom>
          <a:noFill/>
        </p:spPr>
        <p:txBody>
          <a:bodyPr wrap="square" anchor="t" lIns="45720" rIns="45720" tIns="27432" bIns="27432">
            <a:spAutoFit/>
          </a:bodyPr>
          <a:lstStyle/>
          <a:p>
            <a:pPr algn="l">
              <a:lnSpc>
                <a:spcPct val="110000"/>
              </a:lnSpc>
            </a:pPr>
            <a:r>
              <a:rPr sz="900" b="1" i="0">
                <a:solidFill>
                  <a:srgbClr val="E8710A"/>
                </a:solidFill>
                <a:latin typeface="Arial"/>
              </a:rPr>
              <a:t>HACE</a:t>
            </a:r>
          </a:p>
        </p:txBody>
      </p:sp>
      <p:sp>
        <p:nvSpPr>
          <p:cNvPr id="35" name="Rounded Rectangle 34"/>
          <p:cNvSpPr/>
          <p:nvPr/>
        </p:nvSpPr>
        <p:spPr>
          <a:xfrm>
            <a:off x="7269480" y="4434840"/>
            <a:ext cx="4343400" cy="658368"/>
          </a:xfrm>
          <a:prstGeom prst="roundRect">
            <a:avLst>
              <a:gd name="adj" fmla="val 1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Contexto: [h_global ; promedio de h disponibles]</a:t>
            </a:r>
          </a:p>
          <a:p>
            <a:pPr algn="ctr">
              <a:lnSpc>
                <a:spcPct val="100000"/>
              </a:lnSpc>
            </a:pPr>
            <a:r>
              <a:rPr sz="1000" b="0" i="0">
                <a:solidFill>
                  <a:srgbClr val="FFFFFF"/>
                </a:solidFill>
                <a:latin typeface="Arial"/>
              </a:rPr>
              <a:t>fila [CLS] + embedding del grafo (128) → q = W_c[·] ∈ ℝ⁶⁴</a:t>
            </a:r>
          </a:p>
        </p:txBody>
      </p:sp>
      <p:cxnSp>
        <p:nvCxnSpPr>
          <p:cNvPr id="36" name="Connector 35"/>
          <p:cNvCxnSpPr/>
          <p:nvPr/>
        </p:nvCxnSpPr>
        <p:spPr>
          <a:xfrm flipV="1">
            <a:off x="9441180" y="4261104"/>
            <a:ext cx="0" cy="155448"/>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269480" y="3593592"/>
            <a:ext cx="4343400" cy="640080"/>
          </a:xfrm>
          <a:prstGeom prst="roundRect">
            <a:avLst>
              <a:gd name="adj" fmla="val 1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Puntero (atención de 1 consulta)</a:t>
            </a:r>
          </a:p>
          <a:p>
            <a:pPr algn="ctr">
              <a:lnSpc>
                <a:spcPct val="100000"/>
              </a:lnSpc>
            </a:pPr>
            <a:r>
              <a:rPr sz="1000" b="0" i="0">
                <a:solidFill>
                  <a:srgbClr val="FFFFFF"/>
                </a:solidFill>
                <a:latin typeface="Arial"/>
              </a:rPr>
              <a:t>uᵣ = (W_q q) · (W_k hᵣ) / √64  — un logit por fila</a:t>
            </a:r>
          </a:p>
        </p:txBody>
      </p:sp>
      <p:cxnSp>
        <p:nvCxnSpPr>
          <p:cNvPr id="38" name="Connector 37"/>
          <p:cNvCxnSpPr/>
          <p:nvPr/>
        </p:nvCxnSpPr>
        <p:spPr>
          <a:xfrm flipV="1">
            <a:off x="9441180" y="3419856"/>
            <a:ext cx="0" cy="155448"/>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269480" y="2798064"/>
            <a:ext cx="4343400" cy="594360"/>
          </a:xfrm>
          <a:prstGeom prst="roundRect">
            <a:avLst>
              <a:gd name="adj" fmla="val 1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50" b="1" i="0">
                <a:solidFill>
                  <a:srgbClr val="FFFFFF"/>
                </a:solidFill>
                <a:latin typeface="Arial"/>
              </a:rPr>
              <a:t>Máscara</a:t>
            </a:r>
          </a:p>
          <a:p>
            <a:pPr algn="ctr">
              <a:lnSpc>
                <a:spcPct val="100000"/>
              </a:lnSpc>
            </a:pPr>
            <a:r>
              <a:rPr sz="1000" b="0" i="0">
                <a:solidFill>
                  <a:srgbClr val="FFFFFF"/>
                </a:solidFill>
                <a:latin typeface="Arial"/>
              </a:rPr>
              <a:t>uᵣ = −10⁹ si no_disponible = 1 (arma usada o fila global)</a:t>
            </a:r>
          </a:p>
        </p:txBody>
      </p:sp>
      <p:cxnSp>
        <p:nvCxnSpPr>
          <p:cNvPr id="40" name="Connector 39"/>
          <p:cNvCxnSpPr/>
          <p:nvPr/>
        </p:nvCxnSpPr>
        <p:spPr>
          <a:xfrm flipV="1">
            <a:off x="9441180" y="2624328"/>
            <a:ext cx="0" cy="155448"/>
          </a:xfrm>
          <a:prstGeom prst="line">
            <a:avLst/>
          </a:prstGeom>
          <a:ln w="25400">
            <a:solidFill>
              <a:srgbClr val="6B75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0" y="1874519"/>
            <a:ext cx="868680" cy="274320"/>
          </a:xfrm>
          <a:prstGeom prst="rect">
            <a:avLst/>
          </a:prstGeom>
          <a:noFill/>
        </p:spPr>
        <p:txBody>
          <a:bodyPr wrap="square" anchor="t" lIns="45720" rIns="45720" tIns="27432" bIns="27432">
            <a:spAutoFit/>
          </a:bodyPr>
          <a:lstStyle/>
          <a:p>
            <a:pPr algn="l">
              <a:lnSpc>
                <a:spcPct val="110000"/>
              </a:lnSpc>
            </a:pPr>
            <a:r>
              <a:rPr sz="900" b="1" i="0">
                <a:solidFill>
                  <a:srgbClr val="E8710A"/>
                </a:solidFill>
                <a:latin typeface="Arial"/>
              </a:rPr>
              <a:t>SALE</a:t>
            </a:r>
          </a:p>
        </p:txBody>
      </p:sp>
      <p:sp>
        <p:nvSpPr>
          <p:cNvPr id="42" name="Rounded Rectangle 41"/>
          <p:cNvSpPr/>
          <p:nvPr/>
        </p:nvSpPr>
        <p:spPr>
          <a:xfrm>
            <a:off x="7269480" y="1783080"/>
            <a:ext cx="4343400" cy="822960"/>
          </a:xfrm>
          <a:prstGeom prst="roundRect">
            <a:avLst>
              <a:gd name="adj" fmla="val 10000"/>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250" b="1" i="0">
                <a:solidFill>
                  <a:srgbClr val="FFFFFF"/>
                </a:solidFill>
                <a:latin typeface="Arial"/>
              </a:rPr>
              <a:t>Softmax → P(acción = fila r)</a:t>
            </a:r>
          </a:p>
          <a:p>
            <a:pPr algn="ctr">
              <a:lnSpc>
                <a:spcPct val="100000"/>
              </a:lnSpc>
            </a:pPr>
            <a:r>
              <a:rPr sz="1000" b="0" i="0">
                <a:solidFill>
                  <a:srgbClr val="FFFFFF"/>
                </a:solidFill>
                <a:latin typeface="Arial"/>
              </a:rPr>
              <a:t>distribución sobre las k·T acciones válidas
GreedyAgent toma el argmax → env.state_transition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Arquitectura en detalle y comparación con Glimpse</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75.776 parámetros entrenables · ningún peso depende de W ni de T</a:t>
            </a:r>
          </a:p>
        </p:txBody>
      </p:sp>
      <p:sp>
        <p:nvSpPr>
          <p:cNvPr id="6" name="Rounded Rectangle 5"/>
          <p:cNvSpPr/>
          <p:nvPr/>
        </p:nvSpPr>
        <p:spPr>
          <a:xfrm>
            <a:off x="9677095" y="365760"/>
            <a:ext cx="2057400" cy="329184"/>
          </a:xfrm>
          <a:prstGeom prst="roundRect">
            <a:avLst>
              <a:gd name="adj" fmla="val 25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4 · ARQUITECTURA</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9 / 14</a:t>
            </a:r>
          </a:p>
        </p:txBody>
      </p:sp>
      <p:graphicFrame>
        <p:nvGraphicFramePr>
          <p:cNvPr id="9" name="Table 8"/>
          <p:cNvGraphicFramePr>
            <a:graphicFrameLocks noGrp="1"/>
          </p:cNvGraphicFramePr>
          <p:nvPr/>
        </p:nvGraphicFramePr>
        <p:xfrm>
          <a:off x="457200" y="1280160"/>
          <a:ext cx="6766559" cy="3657600"/>
        </p:xfrm>
        <a:graphic>
          <a:graphicData uri="http://schemas.openxmlformats.org/drawingml/2006/table">
            <a:tbl>
              <a:tblPr firstRow="1" bandRow="1">
                <a:tableStyleId>{5C22544A-7EE6-4342-B048-85BDC9FD1C3A}</a:tableStyleId>
              </a:tblPr>
              <a:tblGrid>
                <a:gridCol w="1325880"/>
                <a:gridCol w="3977639"/>
                <a:gridCol w="1463040"/>
              </a:tblGrid>
              <a:tr h="457200">
                <a:tc>
                  <a:txBody>
                    <a:bodyPr wrap="square" anchor="ctr" lIns="45720" rIns="45720" tIns="27432" bIns="27432"/>
                    <a:lstStyle/>
                    <a:p>
                      <a:pPr algn="l">
                        <a:lnSpc>
                          <a:spcPct val="100000"/>
                        </a:lnSpc>
                      </a:pPr>
                      <a:r>
                        <a:rPr sz="1100" b="1" i="0">
                          <a:solidFill>
                            <a:srgbClr val="FFFFFF"/>
                          </a:solidFill>
                          <a:latin typeface="Arial"/>
                        </a:rPr>
                        <a:t>Etapa</a:t>
                      </a:r>
                    </a:p>
                  </a:txBody>
                  <a:tcPr marL="54864" marR="54864" marT="18288" marB="18288">
                    <a:solidFill>
                      <a:srgbClr val="1B2A41"/>
                    </a:solidFill>
                  </a:tcPr>
                </a:tc>
                <a:tc>
                  <a:txBody>
                    <a:bodyPr wrap="square" anchor="ctr" lIns="45720" rIns="45720" tIns="27432" bIns="27432"/>
                    <a:lstStyle/>
                    <a:p>
                      <a:pPr algn="l">
                        <a:lnSpc>
                          <a:spcPct val="100000"/>
                        </a:lnSpc>
                      </a:pPr>
                      <a:r>
                        <a:rPr sz="1100" b="1" i="0">
                          <a:solidFill>
                            <a:srgbClr val="FFFFFF"/>
                          </a:solidFill>
                          <a:latin typeface="Arial"/>
                        </a:rPr>
                        <a:t>Operación</a:t>
                      </a:r>
                    </a:p>
                  </a:txBody>
                  <a:tcPr marL="54864" marR="54864" marT="18288" marB="18288">
                    <a:solidFill>
                      <a:srgbClr val="1B2A41"/>
                    </a:solidFill>
                  </a:tcPr>
                </a:tc>
                <a:tc>
                  <a:txBody>
                    <a:bodyPr wrap="square" anchor="ctr" lIns="45720" rIns="45720" tIns="27432" bIns="27432"/>
                    <a:lstStyle/>
                    <a:p>
                      <a:pPr algn="ctr">
                        <a:lnSpc>
                          <a:spcPct val="100000"/>
                        </a:lnSpc>
                      </a:pPr>
                      <a:r>
                        <a:rPr sz="1100" b="1" i="0">
                          <a:solidFill>
                            <a:srgbClr val="FFFFFF"/>
                          </a:solidFill>
                          <a:latin typeface="Arial"/>
                        </a:rPr>
                        <a:t>Forma (10 × 8)</a:t>
                      </a:r>
                    </a:p>
                  </a:txBody>
                  <a:tcPr marL="54864" marR="54864" marT="18288" marB="18288">
                    <a:solidFill>
                      <a:srgbClr val="1B2A41"/>
                    </a:solidFill>
                  </a:tcPr>
                </a:tc>
              </a:tr>
              <a:tr h="457200">
                <a:tc>
                  <a:txBody>
                    <a:bodyPr wrap="square" anchor="ctr" lIns="45720" rIns="45720" tIns="27432" bIns="27432"/>
                    <a:lstStyle/>
                    <a:p>
                      <a:pPr algn="l">
                        <a:lnSpc>
                          <a:spcPct val="100000"/>
                        </a:lnSpc>
                      </a:pPr>
                      <a:r>
                        <a:rPr sz="1100" b="1" i="0">
                          <a:solidFill>
                            <a:srgbClr val="2E3540"/>
                          </a:solidFill>
                          <a:latin typeface="Arial"/>
                        </a:rPr>
                        <a:t>Entrada</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state2vec(estado)</a:t>
                      </a:r>
                    </a:p>
                  </a:txBody>
                  <a:tcPr marL="54864" marR="54864" marT="18288" marB="18288">
                    <a:solidFill>
                      <a:srgbClr val="F3F5F8"/>
                    </a:solidFill>
                  </a:tcPr>
                </a:tc>
                <a:tc>
                  <a:txBody>
                    <a:bodyPr wrap="square" anchor="ctr" lIns="45720" rIns="45720" tIns="27432" bIns="27432"/>
                    <a:lstStyle/>
                    <a:p>
                      <a:pPr algn="ctr">
                        <a:lnSpc>
                          <a:spcPct val="100000"/>
                        </a:lnSpc>
                      </a:pPr>
                      <a:r>
                        <a:rPr sz="1100" b="0" i="0">
                          <a:solidFill>
                            <a:srgbClr val="2E3540"/>
                          </a:solidFill>
                          <a:latin typeface="Arial"/>
                        </a:rPr>
                        <a:t>81 × 16</a:t>
                      </a:r>
                    </a:p>
                  </a:txBody>
                  <a:tcPr marL="54864" marR="54864" marT="18288" marB="18288">
                    <a:solidFill>
                      <a:srgbClr val="F3F5F8"/>
                    </a:solidFill>
                  </a:tcPr>
                </a:tc>
              </a:tr>
              <a:tr h="457200">
                <a:tc>
                  <a:txBody>
                    <a:bodyPr wrap="square" anchor="ctr" lIns="45720" rIns="45720" tIns="27432" bIns="27432"/>
                    <a:lstStyle/>
                    <a:p>
                      <a:pPr algn="l">
                        <a:lnSpc>
                          <a:spcPct val="100000"/>
                        </a:lnSpc>
                      </a:pPr>
                      <a:r>
                        <a:rPr sz="1100" b="1" i="0">
                          <a:solidFill>
                            <a:srgbClr val="2E3540"/>
                          </a:solidFill>
                          <a:latin typeface="Arial"/>
                        </a:rPr>
                        <a:t>Embedding</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Linear(16, 64), compartido</a:t>
                      </a:r>
                    </a:p>
                  </a:txBody>
                  <a:tcPr marL="54864" marR="54864" marT="18288" marB="18288">
                    <a:solidFill>
                      <a:srgbClr val="FFFFFF"/>
                    </a:solidFill>
                  </a:tcPr>
                </a:tc>
                <a:tc>
                  <a:txBody>
                    <a:bodyPr wrap="square" anchor="ctr" lIns="45720" rIns="45720" tIns="27432" bIns="27432"/>
                    <a:lstStyle/>
                    <a:p>
                      <a:pPr algn="ctr">
                        <a:lnSpc>
                          <a:spcPct val="100000"/>
                        </a:lnSpc>
                      </a:pPr>
                      <a:r>
                        <a:rPr sz="1100" b="0" i="0">
                          <a:solidFill>
                            <a:srgbClr val="2E3540"/>
                          </a:solidFill>
                          <a:latin typeface="Arial"/>
                        </a:rPr>
                        <a:t>81 × 64</a:t>
                      </a:r>
                    </a:p>
                  </a:txBody>
                  <a:tcPr marL="54864" marR="54864" marT="18288" marB="18288">
                    <a:solidFill>
                      <a:srgbClr val="FFFFFF"/>
                    </a:solidFill>
                  </a:tcPr>
                </a:tc>
              </a:tr>
              <a:tr h="457200">
                <a:tc>
                  <a:txBody>
                    <a:bodyPr wrap="square" anchor="ctr" lIns="45720" rIns="45720" tIns="27432" bIns="27432"/>
                    <a:lstStyle/>
                    <a:p>
                      <a:pPr algn="l">
                        <a:lnSpc>
                          <a:spcPct val="100000"/>
                        </a:lnSpc>
                      </a:pPr>
                      <a:r>
                        <a:rPr sz="1100" b="1" i="0">
                          <a:solidFill>
                            <a:srgbClr val="2E3540"/>
                          </a:solidFill>
                          <a:latin typeface="Arial"/>
                        </a:rPr>
                        <a:t>Encoder × 2</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self-attention (1 cabeza) + FF 64→128→64, residual + LayerNorm</a:t>
                      </a:r>
                    </a:p>
                  </a:txBody>
                  <a:tcPr marL="54864" marR="54864" marT="18288" marB="18288">
                    <a:solidFill>
                      <a:srgbClr val="F3F5F8"/>
                    </a:solidFill>
                  </a:tcPr>
                </a:tc>
                <a:tc>
                  <a:txBody>
                    <a:bodyPr wrap="square" anchor="ctr" lIns="45720" rIns="45720" tIns="27432" bIns="27432"/>
                    <a:lstStyle/>
                    <a:p>
                      <a:pPr algn="ctr">
                        <a:lnSpc>
                          <a:spcPct val="100000"/>
                        </a:lnSpc>
                      </a:pPr>
                      <a:r>
                        <a:rPr sz="1100" b="0" i="0">
                          <a:solidFill>
                            <a:srgbClr val="2E3540"/>
                          </a:solidFill>
                          <a:latin typeface="Arial"/>
                        </a:rPr>
                        <a:t>81 × 64</a:t>
                      </a:r>
                    </a:p>
                  </a:txBody>
                  <a:tcPr marL="54864" marR="54864" marT="18288" marB="18288">
                    <a:solidFill>
                      <a:srgbClr val="F3F5F8"/>
                    </a:solidFill>
                  </a:tcPr>
                </a:tc>
              </a:tr>
              <a:tr h="457200">
                <a:tc>
                  <a:txBody>
                    <a:bodyPr wrap="square" anchor="ctr" lIns="45720" rIns="45720" tIns="27432" bIns="27432"/>
                    <a:lstStyle/>
                    <a:p>
                      <a:pPr algn="l">
                        <a:lnSpc>
                          <a:spcPct val="100000"/>
                        </a:lnSpc>
                      </a:pPr>
                      <a:r>
                        <a:rPr sz="1100" b="1" i="0">
                          <a:solidFill>
                            <a:srgbClr val="2E3540"/>
                          </a:solidFill>
                          <a:latin typeface="Arial"/>
                        </a:rPr>
                        <a:t>Contexto</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[h_global ; promedio de filas disponibles]</a:t>
                      </a:r>
                    </a:p>
                  </a:txBody>
                  <a:tcPr marL="54864" marR="54864" marT="18288" marB="18288">
                    <a:solidFill>
                      <a:srgbClr val="FFFFFF"/>
                    </a:solidFill>
                  </a:tcPr>
                </a:tc>
                <a:tc>
                  <a:txBody>
                    <a:bodyPr wrap="square" anchor="ctr" lIns="45720" rIns="45720" tIns="27432" bIns="27432"/>
                    <a:lstStyle/>
                    <a:p>
                      <a:pPr algn="ctr">
                        <a:lnSpc>
                          <a:spcPct val="100000"/>
                        </a:lnSpc>
                      </a:pPr>
                      <a:r>
                        <a:rPr sz="1100" b="0" i="0">
                          <a:solidFill>
                            <a:srgbClr val="2E3540"/>
                          </a:solidFill>
                          <a:latin typeface="Arial"/>
                        </a:rPr>
                        <a:t>128</a:t>
                      </a:r>
                    </a:p>
                  </a:txBody>
                  <a:tcPr marL="54864" marR="54864" marT="18288" marB="18288">
                    <a:solidFill>
                      <a:srgbClr val="FFFFFF"/>
                    </a:solidFill>
                  </a:tcPr>
                </a:tc>
              </a:tr>
              <a:tr h="457200">
                <a:tc>
                  <a:txBody>
                    <a:bodyPr wrap="square" anchor="ctr" lIns="45720" rIns="45720" tIns="27432" bIns="27432"/>
                    <a:lstStyle/>
                    <a:p>
                      <a:pPr algn="l">
                        <a:lnSpc>
                          <a:spcPct val="100000"/>
                        </a:lnSpc>
                      </a:pPr>
                      <a:r>
                        <a:rPr sz="1100" b="1" i="0">
                          <a:solidFill>
                            <a:srgbClr val="2E3540"/>
                          </a:solidFill>
                          <a:latin typeface="Arial"/>
                        </a:rPr>
                        <a:t>Query</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q = W_c · contexto</a:t>
                      </a:r>
                    </a:p>
                  </a:txBody>
                  <a:tcPr marL="54864" marR="54864" marT="18288" marB="18288">
                    <a:solidFill>
                      <a:srgbClr val="F3F5F8"/>
                    </a:solidFill>
                  </a:tcPr>
                </a:tc>
                <a:tc>
                  <a:txBody>
                    <a:bodyPr wrap="square" anchor="ctr" lIns="45720" rIns="45720" tIns="27432" bIns="27432"/>
                    <a:lstStyle/>
                    <a:p>
                      <a:pPr algn="ctr">
                        <a:lnSpc>
                          <a:spcPct val="100000"/>
                        </a:lnSpc>
                      </a:pPr>
                      <a:r>
                        <a:rPr sz="1100" b="0" i="0">
                          <a:solidFill>
                            <a:srgbClr val="2E3540"/>
                          </a:solidFill>
                          <a:latin typeface="Arial"/>
                        </a:rPr>
                        <a:t>64</a:t>
                      </a:r>
                    </a:p>
                  </a:txBody>
                  <a:tcPr marL="54864" marR="54864" marT="18288" marB="18288">
                    <a:solidFill>
                      <a:srgbClr val="F3F5F8"/>
                    </a:solidFill>
                  </a:tcPr>
                </a:tc>
              </a:tr>
              <a:tr h="457200">
                <a:tc>
                  <a:txBody>
                    <a:bodyPr wrap="square" anchor="ctr" lIns="45720" rIns="45720" tIns="27432" bIns="27432"/>
                    <a:lstStyle/>
                    <a:p>
                      <a:pPr algn="l">
                        <a:lnSpc>
                          <a:spcPct val="100000"/>
                        </a:lnSpc>
                      </a:pPr>
                      <a:r>
                        <a:rPr sz="1100" b="1" i="0">
                          <a:solidFill>
                            <a:srgbClr val="2E3540"/>
                          </a:solidFill>
                          <a:latin typeface="Arial"/>
                        </a:rPr>
                        <a:t>Puntero</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uᵣ = (W_q q)·(W_k hᵣ)/√64, máscara col. 4</a:t>
                      </a:r>
                    </a:p>
                  </a:txBody>
                  <a:tcPr marL="54864" marR="54864" marT="18288" marB="18288">
                    <a:solidFill>
                      <a:srgbClr val="FFFFFF"/>
                    </a:solidFill>
                  </a:tcPr>
                </a:tc>
                <a:tc>
                  <a:txBody>
                    <a:bodyPr wrap="square" anchor="ctr" lIns="45720" rIns="45720" tIns="27432" bIns="27432"/>
                    <a:lstStyle/>
                    <a:p>
                      <a:pPr algn="ctr">
                        <a:lnSpc>
                          <a:spcPct val="100000"/>
                        </a:lnSpc>
                      </a:pPr>
                      <a:r>
                        <a:rPr sz="1100" b="0" i="0">
                          <a:solidFill>
                            <a:srgbClr val="2E3540"/>
                          </a:solidFill>
                          <a:latin typeface="Arial"/>
                        </a:rPr>
                        <a:t>81 logits</a:t>
                      </a:r>
                    </a:p>
                  </a:txBody>
                  <a:tcPr marL="54864" marR="54864" marT="18288" marB="18288">
                    <a:solidFill>
                      <a:srgbClr val="FFFFFF"/>
                    </a:solidFill>
                  </a:tcPr>
                </a:tc>
              </a:tr>
              <a:tr h="457200">
                <a:tc>
                  <a:txBody>
                    <a:bodyPr wrap="square" anchor="ctr" lIns="45720" rIns="45720" tIns="27432" bIns="27432"/>
                    <a:lstStyle/>
                    <a:p>
                      <a:pPr algn="l">
                        <a:lnSpc>
                          <a:spcPct val="100000"/>
                        </a:lnSpc>
                      </a:pPr>
                      <a:r>
                        <a:rPr sz="1100" b="1" i="0">
                          <a:solidFill>
                            <a:srgbClr val="2E3540"/>
                          </a:solidFill>
                          <a:latin typeface="Arial"/>
                        </a:rPr>
                        <a:t>Salida</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softmax(u)</a:t>
                      </a:r>
                    </a:p>
                  </a:txBody>
                  <a:tcPr marL="54864" marR="54864" marT="18288" marB="18288">
                    <a:solidFill>
                      <a:srgbClr val="F3F5F8"/>
                    </a:solidFill>
                  </a:tcPr>
                </a:tc>
                <a:tc>
                  <a:txBody>
                    <a:bodyPr wrap="square" anchor="ctr" lIns="45720" rIns="45720" tIns="27432" bIns="27432"/>
                    <a:lstStyle/>
                    <a:p>
                      <a:pPr algn="ctr">
                        <a:lnSpc>
                          <a:spcPct val="100000"/>
                        </a:lnSpc>
                      </a:pPr>
                      <a:r>
                        <a:rPr sz="1100" b="0" i="0">
                          <a:solidFill>
                            <a:srgbClr val="2E3540"/>
                          </a:solidFill>
                          <a:latin typeface="Arial"/>
                        </a:rPr>
                        <a:t>81 probabilidades</a:t>
                      </a:r>
                    </a:p>
                  </a:txBody>
                  <a:tcPr marL="54864" marR="54864" marT="18288" marB="18288">
                    <a:solidFill>
                      <a:srgbClr val="F3F5F8"/>
                    </a:solidFill>
                  </a:tcPr>
                </a:tc>
              </a:tr>
            </a:tbl>
          </a:graphicData>
        </a:graphic>
      </p:graphicFrame>
      <p:sp>
        <p:nvSpPr>
          <p:cNvPr id="10" name="Rounded Rectangle 9"/>
          <p:cNvSpPr/>
          <p:nvPr/>
        </p:nvSpPr>
        <p:spPr>
          <a:xfrm>
            <a:off x="7452360" y="1280160"/>
            <a:ext cx="4297680" cy="26517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344168"/>
            <a:ext cx="4023360" cy="320040"/>
          </a:xfrm>
          <a:prstGeom prst="rect">
            <a:avLst/>
          </a:prstGeom>
          <a:noFill/>
        </p:spPr>
        <p:txBody>
          <a:bodyPr wrap="square" anchor="t" lIns="45720" rIns="45720" tIns="27432" bIns="27432">
            <a:spAutoFit/>
          </a:bodyPr>
          <a:lstStyle/>
          <a:p>
            <a:pPr algn="l">
              <a:lnSpc>
                <a:spcPct val="110000"/>
              </a:lnSpc>
            </a:pPr>
            <a:r>
              <a:rPr sz="1300" b="1" i="0">
                <a:solidFill>
                  <a:srgbClr val="1B2A41"/>
                </a:solidFill>
                <a:latin typeface="Arial"/>
              </a:rPr>
              <a:t>Ecuaciones</a:t>
            </a:r>
          </a:p>
        </p:txBody>
      </p:sp>
      <p:sp>
        <p:nvSpPr>
          <p:cNvPr id="12" name="TextBox 11"/>
          <p:cNvSpPr txBox="1"/>
          <p:nvPr/>
        </p:nvSpPr>
        <p:spPr>
          <a:xfrm>
            <a:off x="7589520" y="1691640"/>
            <a:ext cx="402336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Encoder (por capa)</a:t>
            </a:r>
          </a:p>
        </p:txBody>
      </p:sp>
      <p:pic>
        <p:nvPicPr>
          <p:cNvPr id="13" name="Picture 12" descr="att.png"/>
          <p:cNvPicPr>
            <a:picLocks noChangeAspect="1"/>
          </p:cNvPicPr>
          <p:nvPr/>
        </p:nvPicPr>
        <p:blipFill>
          <a:blip r:embed="rId2"/>
          <a:stretch>
            <a:fillRect/>
          </a:stretch>
        </p:blipFill>
        <p:spPr>
          <a:xfrm>
            <a:off x="7589520" y="1944879"/>
            <a:ext cx="4023360" cy="453640"/>
          </a:xfrm>
          <a:prstGeom prst="rect">
            <a:avLst/>
          </a:prstGeom>
        </p:spPr>
      </p:pic>
      <p:sp>
        <p:nvSpPr>
          <p:cNvPr id="14" name="TextBox 13"/>
          <p:cNvSpPr txBox="1"/>
          <p:nvPr/>
        </p:nvSpPr>
        <p:spPr>
          <a:xfrm>
            <a:off x="7589520" y="2468880"/>
            <a:ext cx="402336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Decoder: query de contexto</a:t>
            </a:r>
          </a:p>
        </p:txBody>
      </p:sp>
      <p:pic>
        <p:nvPicPr>
          <p:cNvPr id="15" name="Picture 14" descr="q.png"/>
          <p:cNvPicPr>
            <a:picLocks noChangeAspect="1"/>
          </p:cNvPicPr>
          <p:nvPr/>
        </p:nvPicPr>
        <p:blipFill>
          <a:blip r:embed="rId3"/>
          <a:stretch>
            <a:fillRect/>
          </a:stretch>
        </p:blipFill>
        <p:spPr>
          <a:xfrm>
            <a:off x="7589520" y="2697480"/>
            <a:ext cx="2798064" cy="411480"/>
          </a:xfrm>
          <a:prstGeom prst="rect">
            <a:avLst/>
          </a:prstGeom>
        </p:spPr>
      </p:pic>
      <p:sp>
        <p:nvSpPr>
          <p:cNvPr id="16" name="TextBox 15"/>
          <p:cNvSpPr txBox="1"/>
          <p:nvPr/>
        </p:nvSpPr>
        <p:spPr>
          <a:xfrm>
            <a:off x="7589520" y="3127248"/>
            <a:ext cx="402336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Decoder: puntero</a:t>
            </a:r>
          </a:p>
        </p:txBody>
      </p:sp>
      <p:pic>
        <p:nvPicPr>
          <p:cNvPr id="17" name="Picture 16" descr="ptr.png"/>
          <p:cNvPicPr>
            <a:picLocks noChangeAspect="1"/>
          </p:cNvPicPr>
          <p:nvPr/>
        </p:nvPicPr>
        <p:blipFill>
          <a:blip r:embed="rId4"/>
          <a:stretch>
            <a:fillRect/>
          </a:stretch>
        </p:blipFill>
        <p:spPr>
          <a:xfrm>
            <a:off x="7589520" y="3374347"/>
            <a:ext cx="4023360" cy="465920"/>
          </a:xfrm>
          <a:prstGeom prst="rect">
            <a:avLst/>
          </a:prstGeom>
        </p:spPr>
      </p:pic>
      <p:sp>
        <p:nvSpPr>
          <p:cNvPr id="18" name="Rounded Rectangle 17"/>
          <p:cNvSpPr/>
          <p:nvPr/>
        </p:nvSpPr>
        <p:spPr>
          <a:xfrm>
            <a:off x="457200" y="5120640"/>
            <a:ext cx="6766560" cy="11887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5257800"/>
            <a:ext cx="64008" cy="9144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212079"/>
            <a:ext cx="6446520" cy="365760"/>
          </a:xfrm>
          <a:prstGeom prst="rect">
            <a:avLst/>
          </a:prstGeom>
          <a:noFill/>
        </p:spPr>
        <p:txBody>
          <a:bodyPr wrap="square" anchor="t" lIns="45720" rIns="45720" tIns="27432" bIns="27432">
            <a:spAutoFit/>
          </a:bodyPr>
          <a:lstStyle/>
          <a:p>
            <a:pPr algn="l">
              <a:lnSpc>
                <a:spcPct val="110000"/>
              </a:lnSpc>
            </a:pPr>
            <a:r>
              <a:rPr sz="1400" b="1" i="0">
                <a:solidFill>
                  <a:srgbClr val="1F77B4"/>
                </a:solidFill>
                <a:latin typeface="Arial"/>
              </a:rPr>
              <a:t>POR QUÉ SE RE-CODIFICA EN CADA PASO</a:t>
            </a:r>
          </a:p>
        </p:txBody>
      </p:sp>
      <p:sp>
        <p:nvSpPr>
          <p:cNvPr id="21" name="TextBox 20"/>
          <p:cNvSpPr txBox="1"/>
          <p:nvPr/>
        </p:nvSpPr>
        <p:spPr>
          <a:xfrm>
            <a:off x="658368" y="5559552"/>
            <a:ext cx="6446520" cy="685800"/>
          </a:xfrm>
          <a:prstGeom prst="rect">
            <a:avLst/>
          </a:prstGeom>
          <a:noFill/>
        </p:spPr>
        <p:txBody>
          <a:bodyPr wrap="square" anchor="t" lIns="45720" rIns="45720" tIns="27432" bIns="27432">
            <a:spAutoFit/>
          </a:bodyPr>
          <a:lstStyle/>
          <a:p>
            <a:pPr algn="l">
              <a:lnSpc>
                <a:spcPct val="110000"/>
              </a:lnSpc>
            </a:pPr>
            <a:r>
              <a:rPr sz="1100" b="0" i="0">
                <a:solidFill>
                  <a:srgbClr val="2E3540"/>
                </a:solidFill>
                <a:latin typeface="Arial"/>
              </a:rPr>
              <a:t>Las features incluyen el estado (armas libres, qⱼ, ganancia, anticipación MMR), así que H cambia en cada decisión. Costo: W pasadas del encoder por instancia (≈</a:t>
            </a:r>
            <a:r>
              <a:rPr sz="1100" b="1" i="0">
                <a:solidFill>
                  <a:srgbClr val="2E3540"/>
                </a:solidFill>
                <a:latin typeface="Arial"/>
              </a:rPr>
              <a:t>18 ms</a:t>
            </a:r>
            <a:r>
              <a:rPr sz="1100" b="0" i="0">
                <a:solidFill>
                  <a:srgbClr val="2E3540"/>
                </a:solidFill>
                <a:latin typeface="Arial"/>
              </a:rPr>
              <a:t> por instancia 10 × 8).</a:t>
            </a:r>
          </a:p>
        </p:txBody>
      </p:sp>
      <p:sp>
        <p:nvSpPr>
          <p:cNvPr id="22" name="Rounded Rectangle 21"/>
          <p:cNvSpPr/>
          <p:nvPr/>
        </p:nvSpPr>
        <p:spPr>
          <a:xfrm>
            <a:off x="7452360" y="4069080"/>
            <a:ext cx="4297680" cy="22402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4206240"/>
            <a:ext cx="64008" cy="196596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4160520"/>
            <a:ext cx="3977640" cy="365760"/>
          </a:xfrm>
          <a:prstGeom prst="rect">
            <a:avLst/>
          </a:prstGeom>
          <a:noFill/>
        </p:spPr>
        <p:txBody>
          <a:bodyPr wrap="square" anchor="t" lIns="45720" rIns="45720" tIns="27432" bIns="27432">
            <a:spAutoFit/>
          </a:bodyPr>
          <a:lstStyle/>
          <a:p>
            <a:pPr algn="l">
              <a:lnSpc>
                <a:spcPct val="110000"/>
              </a:lnSpc>
            </a:pPr>
            <a:r>
              <a:rPr sz="1400" b="1" i="0">
                <a:solidFill>
                  <a:srgbClr val="E8710A"/>
                </a:solidFill>
                <a:latin typeface="Arial"/>
              </a:rPr>
              <a:t>VS. GLIMPSE (KOOL ET AL., 2019)</a:t>
            </a:r>
          </a:p>
        </p:txBody>
      </p:sp>
      <p:sp>
        <p:nvSpPr>
          <p:cNvPr id="25" name="TextBox 24"/>
          <p:cNvSpPr txBox="1"/>
          <p:nvPr/>
        </p:nvSpPr>
        <p:spPr>
          <a:xfrm>
            <a:off x="7653528" y="4507992"/>
            <a:ext cx="3977640" cy="1737360"/>
          </a:xfrm>
          <a:prstGeom prst="rect">
            <a:avLst/>
          </a:prstGeom>
          <a:noFill/>
        </p:spPr>
        <p:txBody>
          <a:bodyPr wrap="square" anchor="t" lIns="45720" rIns="45720" tIns="27432" bIns="27432">
            <a:spAutoFit/>
          </a:bodyPr>
          <a:lstStyle/>
          <a:p>
            <a:pPr algn="l">
              <a:lnSpc>
                <a:spcPct val="110000"/>
              </a:lnSpc>
            </a:pPr>
            <a:r>
              <a:rPr sz="1050" b="1" i="0">
                <a:solidFill>
                  <a:srgbClr val="2E3540"/>
                </a:solidFill>
                <a:latin typeface="Arial"/>
              </a:rPr>
              <a:t>Glimpse: </a:t>
            </a:r>
            <a:r>
              <a:rPr sz="1050" b="0" i="0">
                <a:solidFill>
                  <a:srgbClr val="2E3540"/>
                </a:solidFill>
                <a:latin typeface="Arial"/>
              </a:rPr>
              <a:t>antes del puntero, el contexto atiende con MHA (8 cabezas) sobre H y se refina; los logits se recortan con C·tanh(u).</a:t>
            </a:r>
          </a:p>
          <a:p>
            <a:pPr algn="l">
              <a:lnSpc>
                <a:spcPct val="110000"/>
              </a:lnSpc>
            </a:pPr>
            <a:r>
              <a:rPr sz="1050" b="1" i="0">
                <a:solidFill>
                  <a:srgbClr val="2E3540"/>
                </a:solidFill>
                <a:latin typeface="Arial"/>
              </a:rPr>
              <a:t>Nuestro decoder: </a:t>
            </a:r>
            <a:r>
              <a:rPr sz="1050" b="0" i="0">
                <a:solidFill>
                  <a:srgbClr val="2E3540"/>
                </a:solidFill>
                <a:latin typeface="Arial"/>
              </a:rPr>
              <a:t>contexto → puntero directo, 1 cabeza, sin recorte.</a:t>
            </a:r>
          </a:p>
          <a:p>
            <a:pPr algn="l">
              <a:lnSpc>
                <a:spcPct val="110000"/>
              </a:lnSpc>
            </a:pPr>
            <a:r>
              <a:rPr sz="1050" b="1" i="0">
                <a:solidFill>
                  <a:srgbClr val="2E3540"/>
                </a:solidFill>
                <a:latin typeface="Arial"/>
              </a:rPr>
              <a:t>Encoder estático vs dinámico: </a:t>
            </a:r>
            <a:r>
              <a:rPr sz="1050" b="0" i="0">
                <a:solidFill>
                  <a:srgbClr val="2E3540"/>
                </a:solidFill>
                <a:latin typeface="Arial"/>
              </a:rPr>
              <a:t>Kool codifica una vez por instancia; nosotros, en cada paso.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5.1 Configuración experimental</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Todos los hiperparámetros de la arquitectura y del entrenamiento</a:t>
            </a:r>
          </a:p>
        </p:txBody>
      </p:sp>
      <p:sp>
        <p:nvSpPr>
          <p:cNvPr id="6" name="Rounded Rectangle 5"/>
          <p:cNvSpPr/>
          <p:nvPr/>
        </p:nvSpPr>
        <p:spPr>
          <a:xfrm>
            <a:off x="9677095" y="365760"/>
            <a:ext cx="2057400" cy="329184"/>
          </a:xfrm>
          <a:prstGeom prst="roundRect">
            <a:avLst>
              <a:gd name="adj" fmla="val 2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5 · EXPERIMENTOS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10 / 14</a:t>
            </a:r>
          </a:p>
        </p:txBody>
      </p:sp>
      <p:graphicFrame>
        <p:nvGraphicFramePr>
          <p:cNvPr id="9" name="Table 8"/>
          <p:cNvGraphicFramePr>
            <a:graphicFrameLocks noGrp="1"/>
          </p:cNvGraphicFramePr>
          <p:nvPr/>
        </p:nvGraphicFramePr>
        <p:xfrm>
          <a:off x="457200" y="1280160"/>
          <a:ext cx="4846320" cy="3456432"/>
        </p:xfrm>
        <a:graphic>
          <a:graphicData uri="http://schemas.openxmlformats.org/drawingml/2006/table">
            <a:tbl>
              <a:tblPr firstRow="1" bandRow="1">
                <a:tableStyleId>{5C22544A-7EE6-4342-B048-85BDC9FD1C3A}</a:tableStyleId>
              </a:tblPr>
              <a:tblGrid>
                <a:gridCol w="2331720"/>
                <a:gridCol w="2514600"/>
              </a:tblGrid>
              <a:tr h="384048">
                <a:tc>
                  <a:txBody>
                    <a:bodyPr wrap="square" anchor="ctr" lIns="45720" rIns="45720" tIns="27432" bIns="27432"/>
                    <a:lstStyle/>
                    <a:p>
                      <a:pPr algn="l">
                        <a:lnSpc>
                          <a:spcPct val="100000"/>
                        </a:lnSpc>
                      </a:pPr>
                      <a:r>
                        <a:rPr sz="1100" b="1" i="0">
                          <a:solidFill>
                            <a:srgbClr val="FFFFFF"/>
                          </a:solidFill>
                          <a:latin typeface="Arial"/>
                        </a:rPr>
                        <a:t>Arquitectura</a:t>
                      </a:r>
                    </a:p>
                  </a:txBody>
                  <a:tcPr marL="54864" marR="54864" marT="18288" marB="18288">
                    <a:solidFill>
                      <a:srgbClr val="1B2A41"/>
                    </a:solidFill>
                  </a:tcPr>
                </a:tc>
                <a:tc>
                  <a:txBody>
                    <a:bodyPr wrap="square" anchor="ctr" lIns="45720" rIns="45720" tIns="27432" bIns="27432"/>
                    <a:lstStyle/>
                    <a:p>
                      <a:pPr algn="l">
                        <a:lnSpc>
                          <a:spcPct val="100000"/>
                        </a:lnSpc>
                      </a:pPr>
                      <a:r>
                        <a:rPr sz="1100" b="1" i="0">
                          <a:solidFill>
                            <a:srgbClr val="FFFFFF"/>
                          </a:solidFill>
                          <a:latin typeface="Arial"/>
                        </a:rPr>
                        <a:t>Valor</a:t>
                      </a:r>
                    </a:p>
                  </a:txBody>
                  <a:tcPr marL="54864" marR="54864" marT="18288" marB="18288">
                    <a:solidFill>
                      <a:srgbClr val="1B2A41"/>
                    </a:solidFill>
                  </a:tcPr>
                </a:tc>
              </a:tr>
              <a:tr h="384048">
                <a:tc>
                  <a:txBody>
                    <a:bodyPr wrap="square" anchor="ctr" lIns="45720" rIns="45720" tIns="27432" bIns="27432"/>
                    <a:lstStyle/>
                    <a:p>
                      <a:pPr algn="l">
                        <a:lnSpc>
                          <a:spcPct val="100000"/>
                        </a:lnSpc>
                      </a:pPr>
                      <a:r>
                        <a:rPr sz="1100" b="1" i="0">
                          <a:solidFill>
                            <a:srgbClr val="2E3540"/>
                          </a:solidFill>
                          <a:latin typeface="Arial"/>
                        </a:rPr>
                        <a:t>Capas del encoder</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2 (self-attention + feed-forward)</a:t>
                      </a:r>
                    </a:p>
                  </a:txBody>
                  <a:tcPr marL="54864" marR="54864" marT="18288" marB="18288">
                    <a:solidFill>
                      <a:srgbClr val="F3F5F8"/>
                    </a:solidFill>
                  </a:tcPr>
                </a:tc>
              </a:tr>
              <a:tr h="384048">
                <a:tc>
                  <a:txBody>
                    <a:bodyPr wrap="square" anchor="ctr" lIns="45720" rIns="45720" tIns="27432" bIns="27432"/>
                    <a:lstStyle/>
                    <a:p>
                      <a:pPr algn="l">
                        <a:lnSpc>
                          <a:spcPct val="100000"/>
                        </a:lnSpc>
                      </a:pPr>
                      <a:r>
                        <a:rPr sz="1100" b="1" i="0">
                          <a:solidFill>
                            <a:srgbClr val="2E3540"/>
                          </a:solidFill>
                          <a:latin typeface="Arial"/>
                        </a:rPr>
                        <a:t>Capas del decoder</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1 (query de contexto + puntero, sin glimpse)</a:t>
                      </a:r>
                    </a:p>
                  </a:txBody>
                  <a:tcPr marL="54864" marR="54864" marT="18288" marB="18288">
                    <a:solidFill>
                      <a:srgbClr val="FFFFFF"/>
                    </a:solidFill>
                  </a:tcPr>
                </a:tc>
              </a:tr>
              <a:tr h="384048">
                <a:tc>
                  <a:txBody>
                    <a:bodyPr wrap="square" anchor="ctr" lIns="45720" rIns="45720" tIns="27432" bIns="27432"/>
                    <a:lstStyle/>
                    <a:p>
                      <a:pPr algn="l">
                        <a:lnSpc>
                          <a:spcPct val="100000"/>
                        </a:lnSpc>
                      </a:pPr>
                      <a:r>
                        <a:rPr sz="1100" b="1" i="0">
                          <a:solidFill>
                            <a:srgbClr val="2E3540"/>
                          </a:solidFill>
                          <a:latin typeface="Arial"/>
                        </a:rPr>
                        <a:t>Cabezas de atención (MHA)</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1</a:t>
                      </a:r>
                    </a:p>
                  </a:txBody>
                  <a:tcPr marL="54864" marR="54864" marT="18288" marB="18288">
                    <a:solidFill>
                      <a:srgbClr val="F3F5F8"/>
                    </a:solidFill>
                  </a:tcPr>
                </a:tc>
              </a:tr>
              <a:tr h="384048">
                <a:tc>
                  <a:txBody>
                    <a:bodyPr wrap="square" anchor="ctr" lIns="45720" rIns="45720" tIns="27432" bIns="27432"/>
                    <a:lstStyle/>
                    <a:p>
                      <a:pPr algn="l">
                        <a:lnSpc>
                          <a:spcPct val="100000"/>
                        </a:lnSpc>
                      </a:pPr>
                      <a:r>
                        <a:rPr sz="1100" b="1" i="0">
                          <a:solidFill>
                            <a:srgbClr val="2E3540"/>
                          </a:solidFill>
                          <a:latin typeface="Arial"/>
                        </a:rPr>
                        <a:t>Dimensión de los embeddings d</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64</a:t>
                      </a:r>
                    </a:p>
                  </a:txBody>
                  <a:tcPr marL="54864" marR="54864" marT="18288" marB="18288">
                    <a:solidFill>
                      <a:srgbClr val="FFFFFF"/>
                    </a:solidFill>
                  </a:tcPr>
                </a:tc>
              </a:tr>
              <a:tr h="384048">
                <a:tc>
                  <a:txBody>
                    <a:bodyPr wrap="square" anchor="ctr" lIns="45720" rIns="45720" tIns="27432" bIns="27432"/>
                    <a:lstStyle/>
                    <a:p>
                      <a:pPr algn="l">
                        <a:lnSpc>
                          <a:spcPct val="100000"/>
                        </a:lnSpc>
                      </a:pPr>
                      <a:r>
                        <a:rPr sz="1100" b="1" i="0">
                          <a:solidFill>
                            <a:srgbClr val="2E3540"/>
                          </a:solidFill>
                          <a:latin typeface="Arial"/>
                        </a:rPr>
                        <a:t>Feed-forward</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64 → 128 → 64 (ReLU)</a:t>
                      </a:r>
                    </a:p>
                  </a:txBody>
                  <a:tcPr marL="54864" marR="54864" marT="18288" marB="18288">
                    <a:solidFill>
                      <a:srgbClr val="F3F5F8"/>
                    </a:solidFill>
                  </a:tcPr>
                </a:tc>
              </a:tr>
              <a:tr h="384048">
                <a:tc>
                  <a:txBody>
                    <a:bodyPr wrap="square" anchor="ctr" lIns="45720" rIns="45720" tIns="27432" bIns="27432"/>
                    <a:lstStyle/>
                    <a:p>
                      <a:pPr algn="l">
                        <a:lnSpc>
                          <a:spcPct val="100000"/>
                        </a:lnSpc>
                      </a:pPr>
                      <a:r>
                        <a:rPr sz="1100" b="1" i="0">
                          <a:solidFill>
                            <a:srgbClr val="2E3540"/>
                          </a:solidFill>
                          <a:latin typeface="Arial"/>
                        </a:rPr>
                        <a:t>Normalización</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LayerNorm después de cada residual</a:t>
                      </a:r>
                    </a:p>
                  </a:txBody>
                  <a:tcPr marL="54864" marR="54864" marT="18288" marB="18288">
                    <a:solidFill>
                      <a:srgbClr val="FFFFFF"/>
                    </a:solidFill>
                  </a:tcPr>
                </a:tc>
              </a:tr>
              <a:tr h="384048">
                <a:tc>
                  <a:txBody>
                    <a:bodyPr wrap="square" anchor="ctr" lIns="45720" rIns="45720" tIns="27432" bIns="27432"/>
                    <a:lstStyle/>
                    <a:p>
                      <a:pPr algn="l">
                        <a:lnSpc>
                          <a:spcPct val="100000"/>
                        </a:lnSpc>
                      </a:pPr>
                      <a:r>
                        <a:rPr sz="1100" b="1" i="0">
                          <a:solidFill>
                            <a:srgbClr val="2E3540"/>
                          </a:solidFill>
                          <a:latin typeface="Arial"/>
                        </a:rPr>
                        <a:t>Dropout</a:t>
                      </a:r>
                    </a:p>
                  </a:txBody>
                  <a:tcPr marL="54864" marR="54864" marT="18288" marB="18288">
                    <a:solidFill>
                      <a:srgbClr val="F3F5F8"/>
                    </a:solidFill>
                  </a:tcPr>
                </a:tc>
                <a:tc>
                  <a:txBody>
                    <a:bodyPr wrap="square" anchor="ctr" lIns="45720" rIns="45720" tIns="27432" bIns="27432"/>
                    <a:lstStyle/>
                    <a:p>
                      <a:pPr algn="l">
                        <a:lnSpc>
                          <a:spcPct val="100000"/>
                        </a:lnSpc>
                      </a:pPr>
                      <a:r>
                        <a:rPr sz="1100" b="0" i="0">
                          <a:solidFill>
                            <a:srgbClr val="2E3540"/>
                          </a:solidFill>
                          <a:latin typeface="Arial"/>
                        </a:rPr>
                        <a:t>0,0 (barrido 0 / 0,1 / 0,2 en la Tarea 5)</a:t>
                      </a:r>
                    </a:p>
                  </a:txBody>
                  <a:tcPr marL="54864" marR="54864" marT="18288" marB="18288">
                    <a:solidFill>
                      <a:srgbClr val="F3F5F8"/>
                    </a:solidFill>
                  </a:tcPr>
                </a:tc>
              </a:tr>
              <a:tr h="384048">
                <a:tc>
                  <a:txBody>
                    <a:bodyPr wrap="square" anchor="ctr" lIns="45720" rIns="45720" tIns="27432" bIns="27432"/>
                    <a:lstStyle/>
                    <a:p>
                      <a:pPr algn="l">
                        <a:lnSpc>
                          <a:spcPct val="100000"/>
                        </a:lnSpc>
                      </a:pPr>
                      <a:r>
                        <a:rPr sz="1100" b="1" i="0">
                          <a:solidFill>
                            <a:srgbClr val="2E3540"/>
                          </a:solidFill>
                          <a:latin typeface="Arial"/>
                        </a:rPr>
                        <a:t>Parámetros entrenables</a:t>
                      </a:r>
                    </a:p>
                  </a:txBody>
                  <a:tcPr marL="54864" marR="54864" marT="18288" marB="18288">
                    <a:solidFill>
                      <a:srgbClr val="FFFFFF"/>
                    </a:solidFill>
                  </a:tcPr>
                </a:tc>
                <a:tc>
                  <a:txBody>
                    <a:bodyPr wrap="square" anchor="ctr" lIns="45720" rIns="45720" tIns="27432" bIns="27432"/>
                    <a:lstStyle/>
                    <a:p>
                      <a:pPr algn="l">
                        <a:lnSpc>
                          <a:spcPct val="100000"/>
                        </a:lnSpc>
                      </a:pPr>
                      <a:r>
                        <a:rPr sz="1100" b="0" i="0">
                          <a:solidFill>
                            <a:srgbClr val="2E3540"/>
                          </a:solidFill>
                          <a:latin typeface="Arial"/>
                        </a:rPr>
                        <a:t>75 776</a:t>
                      </a:r>
                    </a:p>
                  </a:txBody>
                  <a:tcPr marL="54864" marR="54864" marT="18288" marB="18288">
                    <a:solidFill>
                      <a:srgbClr val="FFFFFF"/>
                    </a:solidFill>
                  </a:tcPr>
                </a:tc>
              </a:tr>
            </a:tbl>
          </a:graphicData>
        </a:graphic>
      </p:graphicFrame>
      <p:graphicFrame>
        <p:nvGraphicFramePr>
          <p:cNvPr id="10" name="Table 9"/>
          <p:cNvGraphicFramePr>
            <a:graphicFrameLocks noGrp="1"/>
          </p:cNvGraphicFramePr>
          <p:nvPr/>
        </p:nvGraphicFramePr>
        <p:xfrm>
          <a:off x="5486400" y="1280160"/>
          <a:ext cx="6263640" cy="4828032"/>
        </p:xfrm>
        <a:graphic>
          <a:graphicData uri="http://schemas.openxmlformats.org/drawingml/2006/table">
            <a:tbl>
              <a:tblPr firstRow="1" bandRow="1">
                <a:tableStyleId>{5C22544A-7EE6-4342-B048-85BDC9FD1C3A}</a:tableStyleId>
              </a:tblPr>
              <a:tblGrid>
                <a:gridCol w="2148840"/>
                <a:gridCol w="4114800"/>
              </a:tblGrid>
              <a:tr h="438912">
                <a:tc>
                  <a:txBody>
                    <a:bodyPr wrap="square" anchor="ctr" lIns="45720" rIns="45720" tIns="27432" bIns="27432"/>
                    <a:lstStyle/>
                    <a:p>
                      <a:pPr algn="l">
                        <a:lnSpc>
                          <a:spcPct val="100000"/>
                        </a:lnSpc>
                      </a:pPr>
                      <a:r>
                        <a:rPr sz="1050" b="1" i="0">
                          <a:solidFill>
                            <a:srgbClr val="FFFFFF"/>
                          </a:solidFill>
                          <a:latin typeface="Arial"/>
                        </a:rPr>
                        <a:t>Entrenamiento</a:t>
                      </a:r>
                    </a:p>
                  </a:txBody>
                  <a:tcPr marL="54864" marR="54864" marT="18288" marB="18288">
                    <a:solidFill>
                      <a:srgbClr val="1B2A41"/>
                    </a:solidFill>
                  </a:tcPr>
                </a:tc>
                <a:tc>
                  <a:txBody>
                    <a:bodyPr wrap="square" anchor="ctr" lIns="45720" rIns="45720" tIns="27432" bIns="27432"/>
                    <a:lstStyle/>
                    <a:p>
                      <a:pPr algn="l">
                        <a:lnSpc>
                          <a:spcPct val="100000"/>
                        </a:lnSpc>
                      </a:pPr>
                      <a:r>
                        <a:rPr sz="1050" b="1" i="0">
                          <a:solidFill>
                            <a:srgbClr val="FFFFFF"/>
                          </a:solidFill>
                          <a:latin typeface="Arial"/>
                        </a:rPr>
                        <a:t>Valor</a:t>
                      </a:r>
                    </a:p>
                  </a:txBody>
                  <a:tcPr marL="54864" marR="54864" marT="18288" marB="18288">
                    <a:solidFill>
                      <a:srgbClr val="1B2A41"/>
                    </a:solidFill>
                  </a:tcPr>
                </a:tc>
              </a:tr>
              <a:tr h="438912">
                <a:tc>
                  <a:txBody>
                    <a:bodyPr wrap="square" anchor="ctr" lIns="45720" rIns="45720" tIns="27432" bIns="27432"/>
                    <a:lstStyle/>
                    <a:p>
                      <a:pPr algn="l">
                        <a:lnSpc>
                          <a:spcPct val="100000"/>
                        </a:lnSpc>
                      </a:pPr>
                      <a:r>
                        <a:rPr sz="1050" b="1" i="0">
                          <a:solidFill>
                            <a:srgbClr val="2E3540"/>
                          </a:solidFill>
                          <a:latin typeface="Arial"/>
                        </a:rPr>
                        <a:t>Split entrenamiento / validación</a:t>
                      </a:r>
                    </a:p>
                  </a:txBody>
                  <a:tcPr marL="54864" marR="54864" marT="18288" marB="18288">
                    <a:solidFill>
                      <a:srgbClr val="F3F5F8"/>
                    </a:solidFill>
                  </a:tcPr>
                </a:tc>
                <a:tc>
                  <a:txBody>
                    <a:bodyPr wrap="square" anchor="ctr" lIns="45720" rIns="45720" tIns="27432" bIns="27432"/>
                    <a:lstStyle/>
                    <a:p>
                      <a:pPr algn="l">
                        <a:lnSpc>
                          <a:spcPct val="100000"/>
                        </a:lnSpc>
                      </a:pPr>
                      <a:r>
                        <a:rPr sz="1050" b="0" i="0">
                          <a:solidFill>
                            <a:srgbClr val="2E3540"/>
                          </a:solidFill>
                          <a:latin typeface="Arial"/>
                        </a:rPr>
                        <a:t>6000 / 300 instancias (60 000 / 3 000 pares estado-acción)</a:t>
                      </a:r>
                    </a:p>
                  </a:txBody>
                  <a:tcPr marL="54864" marR="54864" marT="18288" marB="18288">
                    <a:solidFill>
                      <a:srgbClr val="F3F5F8"/>
                    </a:solidFill>
                  </a:tcPr>
                </a:tc>
              </a:tr>
              <a:tr h="438912">
                <a:tc>
                  <a:txBody>
                    <a:bodyPr wrap="square" anchor="ctr" lIns="45720" rIns="45720" tIns="27432" bIns="27432"/>
                    <a:lstStyle/>
                    <a:p>
                      <a:pPr algn="l">
                        <a:lnSpc>
                          <a:spcPct val="100000"/>
                        </a:lnSpc>
                      </a:pPr>
                      <a:r>
                        <a:rPr sz="1050" b="1" i="0">
                          <a:solidFill>
                            <a:srgbClr val="2E3540"/>
                          </a:solidFill>
                          <a:latin typeface="Arial"/>
                        </a:rPr>
                        <a:t>Conjunto de prueba (aparte)</a:t>
                      </a:r>
                    </a:p>
                  </a:txBody>
                  <a:tcPr marL="54864" marR="54864" marT="18288" marB="18288">
                    <a:solidFill>
                      <a:srgbClr val="FFFFFF"/>
                    </a:solidFill>
                  </a:tcPr>
                </a:tc>
                <a:tc>
                  <a:txBody>
                    <a:bodyPr wrap="square" anchor="ctr" lIns="45720" rIns="45720" tIns="27432" bIns="27432"/>
                    <a:lstStyle/>
                    <a:p>
                      <a:pPr algn="l">
                        <a:lnSpc>
                          <a:spcPct val="100000"/>
                        </a:lnSpc>
                      </a:pPr>
                      <a:r>
                        <a:rPr sz="1050" b="0" i="0">
                          <a:solidFill>
                            <a:srgbClr val="2E3540"/>
                          </a:solidFill>
                          <a:latin typeface="Arial"/>
                        </a:rPr>
                        <a:t>50 instancias 10×8 (las mismas de la Tarea 4)</a:t>
                      </a:r>
                    </a:p>
                  </a:txBody>
                  <a:tcPr marL="54864" marR="54864" marT="18288" marB="18288">
                    <a:solidFill>
                      <a:srgbClr val="FFFFFF"/>
                    </a:solidFill>
                  </a:tcPr>
                </a:tc>
              </a:tr>
              <a:tr h="438912">
                <a:tc>
                  <a:txBody>
                    <a:bodyPr wrap="square" anchor="ctr" lIns="45720" rIns="45720" tIns="27432" bIns="27432"/>
                    <a:lstStyle/>
                    <a:p>
                      <a:pPr algn="l">
                        <a:lnSpc>
                          <a:spcPct val="100000"/>
                        </a:lnSpc>
                      </a:pPr>
                      <a:r>
                        <a:rPr sz="1050" b="1" i="0">
                          <a:solidFill>
                            <a:srgbClr val="2E3540"/>
                          </a:solidFill>
                          <a:latin typeface="Arial"/>
                        </a:rPr>
                        <a:t>Épocas</a:t>
                      </a:r>
                    </a:p>
                  </a:txBody>
                  <a:tcPr marL="54864" marR="54864" marT="18288" marB="18288">
                    <a:solidFill>
                      <a:srgbClr val="F3F5F8"/>
                    </a:solidFill>
                  </a:tcPr>
                </a:tc>
                <a:tc>
                  <a:txBody>
                    <a:bodyPr wrap="square" anchor="ctr" lIns="45720" rIns="45720" tIns="27432" bIns="27432"/>
                    <a:lstStyle/>
                    <a:p>
                      <a:pPr algn="l">
                        <a:lnSpc>
                          <a:spcPct val="100000"/>
                        </a:lnSpc>
                      </a:pPr>
                      <a:r>
                        <a:rPr sz="1050" b="0" i="0">
                          <a:solidFill>
                            <a:srgbClr val="2E3540"/>
                          </a:solidFill>
                          <a:latin typeface="Arial"/>
                        </a:rPr>
                        <a:t>máx. 100; early stopping en la época 56 (mejor: 48)</a:t>
                      </a:r>
                    </a:p>
                  </a:txBody>
                  <a:tcPr marL="54864" marR="54864" marT="18288" marB="18288">
                    <a:solidFill>
                      <a:srgbClr val="F3F5F8"/>
                    </a:solidFill>
                  </a:tcPr>
                </a:tc>
              </a:tr>
              <a:tr h="438912">
                <a:tc>
                  <a:txBody>
                    <a:bodyPr wrap="square" anchor="ctr" lIns="45720" rIns="45720" tIns="27432" bIns="27432"/>
                    <a:lstStyle/>
                    <a:p>
                      <a:pPr algn="l">
                        <a:lnSpc>
                          <a:spcPct val="100000"/>
                        </a:lnSpc>
                      </a:pPr>
                      <a:r>
                        <a:rPr sz="1050" b="1" i="0">
                          <a:solidFill>
                            <a:srgbClr val="2E3540"/>
                          </a:solidFill>
                          <a:latin typeface="Arial"/>
                        </a:rPr>
                        <a:t>Batch size</a:t>
                      </a:r>
                    </a:p>
                  </a:txBody>
                  <a:tcPr marL="54864" marR="54864" marT="18288" marB="18288">
                    <a:solidFill>
                      <a:srgbClr val="FFFFFF"/>
                    </a:solidFill>
                  </a:tcPr>
                </a:tc>
                <a:tc>
                  <a:txBody>
                    <a:bodyPr wrap="square" anchor="ctr" lIns="45720" rIns="45720" tIns="27432" bIns="27432"/>
                    <a:lstStyle/>
                    <a:p>
                      <a:pPr algn="l">
                        <a:lnSpc>
                          <a:spcPct val="100000"/>
                        </a:lnSpc>
                      </a:pPr>
                      <a:r>
                        <a:rPr sz="1050" b="0" i="0">
                          <a:solidFill>
                            <a:srgbClr val="2E3540"/>
                          </a:solidFill>
                          <a:latin typeface="Arial"/>
                        </a:rPr>
                        <a:t>256</a:t>
                      </a:r>
                    </a:p>
                  </a:txBody>
                  <a:tcPr marL="54864" marR="54864" marT="18288" marB="18288">
                    <a:solidFill>
                      <a:srgbClr val="FFFFFF"/>
                    </a:solidFill>
                  </a:tcPr>
                </a:tc>
              </a:tr>
              <a:tr h="438912">
                <a:tc>
                  <a:txBody>
                    <a:bodyPr wrap="square" anchor="ctr" lIns="45720" rIns="45720" tIns="27432" bIns="27432"/>
                    <a:lstStyle/>
                    <a:p>
                      <a:pPr algn="l">
                        <a:lnSpc>
                          <a:spcPct val="100000"/>
                        </a:lnSpc>
                      </a:pPr>
                      <a:r>
                        <a:rPr sz="1050" b="1" i="0">
                          <a:solidFill>
                            <a:srgbClr val="2E3540"/>
                          </a:solidFill>
                          <a:latin typeface="Arial"/>
                        </a:rPr>
                        <a:t>Optimizador y tasa de aprendizaje</a:t>
                      </a:r>
                    </a:p>
                  </a:txBody>
                  <a:tcPr marL="54864" marR="54864" marT="18288" marB="18288">
                    <a:solidFill>
                      <a:srgbClr val="F3F5F8"/>
                    </a:solidFill>
                  </a:tcPr>
                </a:tc>
                <a:tc>
                  <a:txBody>
                    <a:bodyPr wrap="square" anchor="ctr" lIns="45720" rIns="45720" tIns="27432" bIns="27432"/>
                    <a:lstStyle/>
                    <a:p>
                      <a:pPr algn="l">
                        <a:lnSpc>
                          <a:spcPct val="100000"/>
                        </a:lnSpc>
                      </a:pPr>
                      <a:r>
                        <a:rPr sz="1050" b="0" i="0">
                          <a:solidFill>
                            <a:srgbClr val="2E3540"/>
                          </a:solidFill>
                          <a:latin typeface="Arial"/>
                        </a:rPr>
                        <a:t>Adam, lr = 1e-3</a:t>
                      </a:r>
                    </a:p>
                  </a:txBody>
                  <a:tcPr marL="54864" marR="54864" marT="18288" marB="18288">
                    <a:solidFill>
                      <a:srgbClr val="F3F5F8"/>
                    </a:solidFill>
                  </a:tcPr>
                </a:tc>
              </a:tr>
              <a:tr h="438912">
                <a:tc>
                  <a:txBody>
                    <a:bodyPr wrap="square" anchor="ctr" lIns="45720" rIns="45720" tIns="27432" bIns="27432"/>
                    <a:lstStyle/>
                    <a:p>
                      <a:pPr algn="l">
                        <a:lnSpc>
                          <a:spcPct val="100000"/>
                        </a:lnSpc>
                      </a:pPr>
                      <a:r>
                        <a:rPr sz="1050" b="1" i="0">
                          <a:solidFill>
                            <a:srgbClr val="2E3540"/>
                          </a:solidFill>
                          <a:latin typeface="Arial"/>
                        </a:rPr>
                        <a:t>Scheduler</a:t>
                      </a:r>
                    </a:p>
                  </a:txBody>
                  <a:tcPr marL="54864" marR="54864" marT="18288" marB="18288">
                    <a:solidFill>
                      <a:srgbClr val="FFFFFF"/>
                    </a:solidFill>
                  </a:tcPr>
                </a:tc>
                <a:tc>
                  <a:txBody>
                    <a:bodyPr wrap="square" anchor="ctr" lIns="45720" rIns="45720" tIns="27432" bIns="27432"/>
                    <a:lstStyle/>
                    <a:p>
                      <a:pPr algn="l">
                        <a:lnSpc>
                          <a:spcPct val="100000"/>
                        </a:lnSpc>
                      </a:pPr>
                      <a:r>
                        <a:rPr sz="1050" b="0" i="0">
                          <a:solidFill>
                            <a:srgbClr val="2E3540"/>
                          </a:solidFill>
                          <a:latin typeface="Arial"/>
                        </a:rPr>
                        <a:t>no se usó</a:t>
                      </a:r>
                    </a:p>
                  </a:txBody>
                  <a:tcPr marL="54864" marR="54864" marT="18288" marB="18288">
                    <a:solidFill>
                      <a:srgbClr val="FFFFFF"/>
                    </a:solidFill>
                  </a:tcPr>
                </a:tc>
              </a:tr>
              <a:tr h="438912">
                <a:tc>
                  <a:txBody>
                    <a:bodyPr wrap="square" anchor="ctr" lIns="45720" rIns="45720" tIns="27432" bIns="27432"/>
                    <a:lstStyle/>
                    <a:p>
                      <a:pPr algn="l">
                        <a:lnSpc>
                          <a:spcPct val="100000"/>
                        </a:lnSpc>
                      </a:pPr>
                      <a:r>
                        <a:rPr sz="1050" b="1" i="0">
                          <a:solidFill>
                            <a:srgbClr val="2E3540"/>
                          </a:solidFill>
                          <a:latin typeface="Arial"/>
                        </a:rPr>
                        <a:t>Early stopping</a:t>
                      </a:r>
                    </a:p>
                  </a:txBody>
                  <a:tcPr marL="54864" marR="54864" marT="18288" marB="18288">
                    <a:solidFill>
                      <a:srgbClr val="F3F5F8"/>
                    </a:solidFill>
                  </a:tcPr>
                </a:tc>
                <a:tc>
                  <a:txBody>
                    <a:bodyPr wrap="square" anchor="ctr" lIns="45720" rIns="45720" tIns="27432" bIns="27432"/>
                    <a:lstStyle/>
                    <a:p>
                      <a:pPr algn="l">
                        <a:lnSpc>
                          <a:spcPct val="100000"/>
                        </a:lnSpc>
                      </a:pPr>
                      <a:r>
                        <a:rPr sz="1050" b="0" i="0">
                          <a:solidFill>
                            <a:srgbClr val="2E3540"/>
                          </a:solidFill>
                          <a:latin typeface="Arial"/>
                        </a:rPr>
                        <a:t>pérdida de validación, paciencia 8, min_delta 1e-3; restaura la mejor época</a:t>
                      </a:r>
                    </a:p>
                  </a:txBody>
                  <a:tcPr marL="54864" marR="54864" marT="18288" marB="18288">
                    <a:solidFill>
                      <a:srgbClr val="F3F5F8"/>
                    </a:solidFill>
                  </a:tcPr>
                </a:tc>
              </a:tr>
              <a:tr h="438912">
                <a:tc>
                  <a:txBody>
                    <a:bodyPr wrap="square" anchor="ctr" lIns="45720" rIns="45720" tIns="27432" bIns="27432"/>
                    <a:lstStyle/>
                    <a:p>
                      <a:pPr algn="l">
                        <a:lnSpc>
                          <a:spcPct val="100000"/>
                        </a:lnSpc>
                      </a:pPr>
                      <a:r>
                        <a:rPr sz="1050" b="1" i="0">
                          <a:solidFill>
                            <a:srgbClr val="2E3540"/>
                          </a:solidFill>
                          <a:latin typeface="Arial"/>
                        </a:rPr>
                        <a:t>Función de pérdida</a:t>
                      </a:r>
                    </a:p>
                  </a:txBody>
                  <a:tcPr marL="54864" marR="54864" marT="18288" marB="18288">
                    <a:solidFill>
                      <a:srgbClr val="FFFFFF"/>
                    </a:solidFill>
                  </a:tcPr>
                </a:tc>
                <a:tc>
                  <a:txBody>
                    <a:bodyPr wrap="square" anchor="ctr" lIns="45720" rIns="45720" tIns="27432" bIns="27432"/>
                    <a:lstStyle/>
                    <a:p>
                      <a:pPr algn="l">
                        <a:lnSpc>
                          <a:spcPct val="100000"/>
                        </a:lnSpc>
                      </a:pPr>
                      <a:r>
                        <a:rPr sz="1050" b="0" i="0">
                          <a:solidFill>
                            <a:srgbClr val="2E3540"/>
                          </a:solidFill>
                          <a:latin typeface="Arial"/>
                        </a:rPr>
                        <a:t>CrossEntropyLoss sobre logits enmascarados (−1e9 en filas no disponibles)</a:t>
                      </a:r>
                    </a:p>
                  </a:txBody>
                  <a:tcPr marL="54864" marR="54864" marT="18288" marB="18288">
                    <a:solidFill>
                      <a:srgbClr val="FFFFFF"/>
                    </a:solidFill>
                  </a:tcPr>
                </a:tc>
              </a:tr>
              <a:tr h="438912">
                <a:tc>
                  <a:txBody>
                    <a:bodyPr wrap="square" anchor="ctr" lIns="45720" rIns="45720" tIns="27432" bIns="27432"/>
                    <a:lstStyle/>
                    <a:p>
                      <a:pPr algn="l">
                        <a:lnSpc>
                          <a:spcPct val="100000"/>
                        </a:lnSpc>
                      </a:pPr>
                      <a:r>
                        <a:rPr sz="1050" b="1" i="0">
                          <a:solidFill>
                            <a:srgbClr val="2E3540"/>
                          </a:solidFill>
                          <a:latin typeface="Arial"/>
                        </a:rPr>
                        <a:t>Métrica de validación</a:t>
                      </a:r>
                    </a:p>
                  </a:txBody>
                  <a:tcPr marL="54864" marR="54864" marT="18288" marB="18288">
                    <a:solidFill>
                      <a:srgbClr val="F3F5F8"/>
                    </a:solidFill>
                  </a:tcPr>
                </a:tc>
                <a:tc>
                  <a:txBody>
                    <a:bodyPr wrap="square" anchor="ctr" lIns="45720" rIns="45720" tIns="27432" bIns="27432"/>
                    <a:lstStyle/>
                    <a:p>
                      <a:pPr algn="l">
                        <a:lnSpc>
                          <a:spcPct val="100000"/>
                        </a:lnSpc>
                      </a:pPr>
                      <a:r>
                        <a:rPr sz="1050" b="0" i="0">
                          <a:solidFill>
                            <a:srgbClr val="2E3540"/>
                          </a:solidFill>
                          <a:latin typeface="Arial"/>
                        </a:rPr>
                        <a:t>pérdida (early stopping); accuracy y gap del rollout (selección)</a:t>
                      </a:r>
                    </a:p>
                  </a:txBody>
                  <a:tcPr marL="54864" marR="54864" marT="18288" marB="18288">
                    <a:solidFill>
                      <a:srgbClr val="F3F5F8"/>
                    </a:solidFill>
                  </a:tcPr>
                </a:tc>
              </a:tr>
              <a:tr h="438912">
                <a:tc>
                  <a:txBody>
                    <a:bodyPr wrap="square" anchor="ctr" lIns="45720" rIns="45720" tIns="27432" bIns="27432"/>
                    <a:lstStyle/>
                    <a:p>
                      <a:pPr algn="l">
                        <a:lnSpc>
                          <a:spcPct val="100000"/>
                        </a:lnSpc>
                      </a:pPr>
                      <a:r>
                        <a:rPr sz="1050" b="1" i="0">
                          <a:solidFill>
                            <a:srgbClr val="2E3540"/>
                          </a:solidFill>
                          <a:latin typeface="Arial"/>
                        </a:rPr>
                        <a:t>Tiempo de entrenamiento</a:t>
                      </a:r>
                    </a:p>
                  </a:txBody>
                  <a:tcPr marL="54864" marR="54864" marT="18288" marB="18288">
                    <a:solidFill>
                      <a:srgbClr val="FFFFFF"/>
                    </a:solidFill>
                  </a:tcPr>
                </a:tc>
                <a:tc>
                  <a:txBody>
                    <a:bodyPr wrap="square" anchor="ctr" lIns="45720" rIns="45720" tIns="27432" bIns="27432"/>
                    <a:lstStyle/>
                    <a:p>
                      <a:pPr algn="l">
                        <a:lnSpc>
                          <a:spcPct val="100000"/>
                        </a:lnSpc>
                      </a:pPr>
                      <a:r>
                        <a:rPr sz="1050" b="0" i="0">
                          <a:solidFill>
                            <a:srgbClr val="2E3540"/>
                          </a:solidFill>
                          <a:latin typeface="Arial"/>
                        </a:rPr>
                        <a:t>19,3 min en cpu</a:t>
                      </a:r>
                    </a:p>
                  </a:txBody>
                  <a:tcPr marL="54864" marR="54864" marT="18288" marB="18288">
                    <a:solidFill>
                      <a:srgbClr val="FFFFFF"/>
                    </a:solidFill>
                  </a:tcPr>
                </a:tc>
              </a:tr>
            </a:tbl>
          </a:graphicData>
        </a:graphic>
      </p:graphicFrame>
      <p:sp>
        <p:nvSpPr>
          <p:cNvPr id="11" name="Rounded Rectangle 10"/>
          <p:cNvSpPr/>
          <p:nvPr/>
        </p:nvSpPr>
        <p:spPr>
          <a:xfrm>
            <a:off x="457200" y="4965192"/>
            <a:ext cx="4846320" cy="129844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5020055"/>
            <a:ext cx="4572000" cy="320040"/>
          </a:xfrm>
          <a:prstGeom prst="rect">
            <a:avLst/>
          </a:prstGeom>
          <a:noFill/>
        </p:spPr>
        <p:txBody>
          <a:bodyPr wrap="square" anchor="t" lIns="45720" rIns="45720" tIns="27432" bIns="27432">
            <a:spAutoFit/>
          </a:bodyPr>
          <a:lstStyle/>
          <a:p>
            <a:pPr algn="l">
              <a:lnSpc>
                <a:spcPct val="110000"/>
              </a:lnSpc>
            </a:pPr>
            <a:r>
              <a:rPr sz="1150" b="1" i="0">
                <a:solidFill>
                  <a:srgbClr val="1B2A41"/>
                </a:solidFill>
                <a:latin typeface="Arial"/>
              </a:rPr>
              <a:t>Selección del Dropout (gap rollout en validación)</a:t>
            </a:r>
          </a:p>
        </p:txBody>
      </p:sp>
      <p:sp>
        <p:nvSpPr>
          <p:cNvPr id="13" name="TextBox 12"/>
          <p:cNvSpPr txBox="1"/>
          <p:nvPr/>
        </p:nvSpPr>
        <p:spPr>
          <a:xfrm>
            <a:off x="594360" y="5349240"/>
            <a:ext cx="4572000" cy="841247"/>
          </a:xfrm>
          <a:prstGeom prst="rect">
            <a:avLst/>
          </a:prstGeom>
          <a:noFill/>
        </p:spPr>
        <p:txBody>
          <a:bodyPr wrap="square" anchor="t" lIns="45720" rIns="45720" tIns="27432" bIns="27432">
            <a:spAutoFit/>
          </a:bodyPr>
          <a:lstStyle/>
          <a:p>
            <a:pPr algn="l">
              <a:lnSpc>
                <a:spcPct val="110000"/>
              </a:lnSpc>
            </a:pPr>
            <a:r>
              <a:rPr sz="1100" b="1" i="0">
                <a:solidFill>
                  <a:srgbClr val="2E3540"/>
                </a:solidFill>
                <a:latin typeface="Arial"/>
              </a:rPr>
              <a:t>Dropout 0,0: </a:t>
            </a:r>
            <a:r>
              <a:rPr sz="1100" b="0" i="0">
                <a:solidFill>
                  <a:srgbClr val="2E3540"/>
                </a:solidFill>
                <a:latin typeface="Arial"/>
              </a:rPr>
              <a:t>acc 87,3 % · gap 3,35 %</a:t>
            </a:r>
          </a:p>
          <a:p>
            <a:pPr algn="l">
              <a:lnSpc>
                <a:spcPct val="110000"/>
              </a:lnSpc>
            </a:pPr>
            <a:r>
              <a:rPr sz="1100" b="1" i="0">
                <a:solidFill>
                  <a:srgbClr val="2E3540"/>
                </a:solidFill>
                <a:latin typeface="Arial"/>
              </a:rPr>
              <a:t>Dropout 0,1: </a:t>
            </a:r>
            <a:r>
              <a:rPr sz="1100" b="0" i="0">
                <a:solidFill>
                  <a:srgbClr val="2E3540"/>
                </a:solidFill>
                <a:latin typeface="Arial"/>
              </a:rPr>
              <a:t>acc 87,2 % · gap 3,51 %</a:t>
            </a:r>
          </a:p>
          <a:p>
            <a:pPr algn="l">
              <a:lnSpc>
                <a:spcPct val="110000"/>
              </a:lnSpc>
            </a:pPr>
            <a:r>
              <a:rPr sz="1100" b="1" i="0">
                <a:solidFill>
                  <a:srgbClr val="2E3540"/>
                </a:solidFill>
                <a:latin typeface="Arial"/>
              </a:rPr>
              <a:t>Dropout 0,2: </a:t>
            </a:r>
            <a:r>
              <a:rPr sz="1100" b="0" i="0">
                <a:solidFill>
                  <a:srgbClr val="2E3540"/>
                </a:solidFill>
                <a:latin typeface="Arial"/>
              </a:rPr>
              <a:t>acc 86,2 % · gap 3,90 %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5.2 Convergencia del entrenamiento</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Pérdida y accuracy de entrenamiento y validación por época</a:t>
            </a:r>
          </a:p>
        </p:txBody>
      </p:sp>
      <p:sp>
        <p:nvSpPr>
          <p:cNvPr id="6" name="Rounded Rectangle 5"/>
          <p:cNvSpPr/>
          <p:nvPr/>
        </p:nvSpPr>
        <p:spPr>
          <a:xfrm>
            <a:off x="9677095" y="365760"/>
            <a:ext cx="2057400" cy="329184"/>
          </a:xfrm>
          <a:prstGeom prst="roundRect">
            <a:avLst>
              <a:gd name="adj" fmla="val 2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5 · EXPERIMENTOS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11 / 14</a:t>
            </a:r>
          </a:p>
        </p:txBody>
      </p:sp>
      <p:pic>
        <p:nvPicPr>
          <p:cNvPr id="9" name="Picture 8" descr="curvas.png"/>
          <p:cNvPicPr>
            <a:picLocks noChangeAspect="1"/>
          </p:cNvPicPr>
          <p:nvPr/>
        </p:nvPicPr>
        <p:blipFill>
          <a:blip r:embed="rId2"/>
          <a:stretch>
            <a:fillRect/>
          </a:stretch>
        </p:blipFill>
        <p:spPr>
          <a:xfrm>
            <a:off x="365760" y="1240998"/>
            <a:ext cx="11430000" cy="3735922"/>
          </a:xfrm>
          <a:prstGeom prst="rect">
            <a:avLst/>
          </a:prstGeom>
        </p:spPr>
      </p:pic>
      <p:sp>
        <p:nvSpPr>
          <p:cNvPr id="10" name="Rounded Rectangle 9"/>
          <p:cNvSpPr/>
          <p:nvPr/>
        </p:nvSpPr>
        <p:spPr>
          <a:xfrm>
            <a:off x="457200" y="5120640"/>
            <a:ext cx="2697480" cy="114300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120640"/>
            <a:ext cx="2697480" cy="73152"/>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230368"/>
            <a:ext cx="2697480" cy="502920"/>
          </a:xfrm>
          <a:prstGeom prst="rect">
            <a:avLst/>
          </a:prstGeom>
          <a:noFill/>
        </p:spPr>
        <p:txBody>
          <a:bodyPr wrap="square" anchor="t" lIns="45720" rIns="45720" tIns="27432" bIns="27432">
            <a:spAutoFit/>
          </a:bodyPr>
          <a:lstStyle/>
          <a:p>
            <a:pPr algn="ctr">
              <a:lnSpc>
                <a:spcPct val="110000"/>
              </a:lnSpc>
            </a:pPr>
            <a:r>
              <a:rPr sz="2200" b="1" i="0">
                <a:solidFill>
                  <a:srgbClr val="1B2A41"/>
                </a:solidFill>
                <a:latin typeface="Arial"/>
              </a:rPr>
              <a:t>época 48</a:t>
            </a:r>
          </a:p>
        </p:txBody>
      </p:sp>
      <p:sp>
        <p:nvSpPr>
          <p:cNvPr id="13" name="TextBox 12"/>
          <p:cNvSpPr txBox="1"/>
          <p:nvPr/>
        </p:nvSpPr>
        <p:spPr>
          <a:xfrm>
            <a:off x="502920" y="5705855"/>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mejor época</a:t>
            </a:r>
          </a:p>
        </p:txBody>
      </p:sp>
      <p:sp>
        <p:nvSpPr>
          <p:cNvPr id="14" name="TextBox 13"/>
          <p:cNvSpPr txBox="1"/>
          <p:nvPr/>
        </p:nvSpPr>
        <p:spPr>
          <a:xfrm>
            <a:off x="502920" y="596188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de 57 (early stopping)</a:t>
            </a:r>
          </a:p>
        </p:txBody>
      </p:sp>
      <p:sp>
        <p:nvSpPr>
          <p:cNvPr id="15" name="Rounded Rectangle 14"/>
          <p:cNvSpPr/>
          <p:nvPr/>
        </p:nvSpPr>
        <p:spPr>
          <a:xfrm>
            <a:off x="3319272" y="5120640"/>
            <a:ext cx="2697480" cy="114300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5120640"/>
            <a:ext cx="2697480" cy="7315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9272" y="5230368"/>
            <a:ext cx="2697480" cy="502920"/>
          </a:xfrm>
          <a:prstGeom prst="rect">
            <a:avLst/>
          </a:prstGeom>
          <a:noFill/>
        </p:spPr>
        <p:txBody>
          <a:bodyPr wrap="square" anchor="t" lIns="45720" rIns="45720" tIns="27432" bIns="27432">
            <a:spAutoFit/>
          </a:bodyPr>
          <a:lstStyle/>
          <a:p>
            <a:pPr algn="ctr">
              <a:lnSpc>
                <a:spcPct val="110000"/>
              </a:lnSpc>
            </a:pPr>
            <a:r>
              <a:rPr sz="2200" b="1" i="0">
                <a:solidFill>
                  <a:srgbClr val="1F77B4"/>
                </a:solidFill>
                <a:latin typeface="Arial"/>
              </a:rPr>
              <a:t>0,313</a:t>
            </a:r>
          </a:p>
        </p:txBody>
      </p:sp>
      <p:sp>
        <p:nvSpPr>
          <p:cNvPr id="18" name="TextBox 17"/>
          <p:cNvSpPr txBox="1"/>
          <p:nvPr/>
        </p:nvSpPr>
        <p:spPr>
          <a:xfrm>
            <a:off x="3364991" y="5705855"/>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pérdida de validación</a:t>
            </a:r>
          </a:p>
        </p:txBody>
      </p:sp>
      <p:sp>
        <p:nvSpPr>
          <p:cNvPr id="19" name="TextBox 18"/>
          <p:cNvSpPr txBox="1"/>
          <p:nvPr/>
        </p:nvSpPr>
        <p:spPr>
          <a:xfrm>
            <a:off x="3364991" y="596188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entrenamiento: 0,313</a:t>
            </a:r>
          </a:p>
        </p:txBody>
      </p:sp>
      <p:sp>
        <p:nvSpPr>
          <p:cNvPr id="20" name="Rounded Rectangle 19"/>
          <p:cNvSpPr/>
          <p:nvPr/>
        </p:nvSpPr>
        <p:spPr>
          <a:xfrm>
            <a:off x="6181344" y="5120640"/>
            <a:ext cx="2697480" cy="114300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5120640"/>
            <a:ext cx="2697480" cy="73152"/>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81344" y="5230368"/>
            <a:ext cx="2697480" cy="502920"/>
          </a:xfrm>
          <a:prstGeom prst="rect">
            <a:avLst/>
          </a:prstGeom>
          <a:noFill/>
        </p:spPr>
        <p:txBody>
          <a:bodyPr wrap="square" anchor="t" lIns="45720" rIns="45720" tIns="27432" bIns="27432">
            <a:spAutoFit/>
          </a:bodyPr>
          <a:lstStyle/>
          <a:p>
            <a:pPr algn="ctr">
              <a:lnSpc>
                <a:spcPct val="110000"/>
              </a:lnSpc>
            </a:pPr>
            <a:r>
              <a:rPr sz="2200" b="1" i="0">
                <a:solidFill>
                  <a:srgbClr val="2CA02C"/>
                </a:solidFill>
                <a:latin typeface="Arial"/>
              </a:rPr>
              <a:t>-0,001</a:t>
            </a:r>
          </a:p>
        </p:txBody>
      </p:sp>
      <p:sp>
        <p:nvSpPr>
          <p:cNvPr id="23" name="TextBox 22"/>
          <p:cNvSpPr txBox="1"/>
          <p:nvPr/>
        </p:nvSpPr>
        <p:spPr>
          <a:xfrm>
            <a:off x="6227064" y="5705855"/>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diferencia val − train</a:t>
            </a:r>
          </a:p>
        </p:txBody>
      </p:sp>
      <p:sp>
        <p:nvSpPr>
          <p:cNvPr id="24" name="TextBox 23"/>
          <p:cNvSpPr txBox="1"/>
          <p:nvPr/>
        </p:nvSpPr>
        <p:spPr>
          <a:xfrm>
            <a:off x="6227064" y="596188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 0 ⇒ sin sobreajuste</a:t>
            </a:r>
          </a:p>
        </p:txBody>
      </p:sp>
      <p:sp>
        <p:nvSpPr>
          <p:cNvPr id="25" name="Rounded Rectangle 24"/>
          <p:cNvSpPr/>
          <p:nvPr/>
        </p:nvSpPr>
        <p:spPr>
          <a:xfrm>
            <a:off x="9043416" y="5120640"/>
            <a:ext cx="2697480" cy="1143000"/>
          </a:xfrm>
          <a:prstGeom prst="roundRect">
            <a:avLst>
              <a:gd name="adj" fmla="val 8000"/>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43416" y="5120640"/>
            <a:ext cx="2697480" cy="73152"/>
          </a:xfrm>
          <a:prstGeom prst="rect">
            <a:avLst/>
          </a:prstGeom>
          <a:solidFill>
            <a:srgbClr val="946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43416" y="5230368"/>
            <a:ext cx="2697480" cy="502920"/>
          </a:xfrm>
          <a:prstGeom prst="rect">
            <a:avLst/>
          </a:prstGeom>
          <a:noFill/>
        </p:spPr>
        <p:txBody>
          <a:bodyPr wrap="square" anchor="t" lIns="45720" rIns="45720" tIns="27432" bIns="27432">
            <a:spAutoFit/>
          </a:bodyPr>
          <a:lstStyle/>
          <a:p>
            <a:pPr algn="ctr">
              <a:lnSpc>
                <a:spcPct val="110000"/>
              </a:lnSpc>
            </a:pPr>
            <a:r>
              <a:rPr sz="2200" b="1" i="0">
                <a:solidFill>
                  <a:srgbClr val="9467BD"/>
                </a:solidFill>
                <a:latin typeface="Arial"/>
              </a:rPr>
              <a:t>87,3%</a:t>
            </a:r>
          </a:p>
        </p:txBody>
      </p:sp>
      <p:sp>
        <p:nvSpPr>
          <p:cNvPr id="28" name="TextBox 27"/>
          <p:cNvSpPr txBox="1"/>
          <p:nvPr/>
        </p:nvSpPr>
        <p:spPr>
          <a:xfrm>
            <a:off x="9089136" y="5705855"/>
            <a:ext cx="2606040" cy="320040"/>
          </a:xfrm>
          <a:prstGeom prst="rect">
            <a:avLst/>
          </a:prstGeom>
          <a:noFill/>
        </p:spPr>
        <p:txBody>
          <a:bodyPr wrap="square" anchor="t" lIns="45720" rIns="45720" tIns="27432" bIns="27432">
            <a:spAutoFit/>
          </a:bodyPr>
          <a:lstStyle/>
          <a:p>
            <a:pPr algn="ctr">
              <a:lnSpc>
                <a:spcPct val="110000"/>
              </a:lnSpc>
            </a:pPr>
            <a:r>
              <a:rPr sz="1100" b="1" i="0">
                <a:solidFill>
                  <a:srgbClr val="2E3540"/>
                </a:solidFill>
                <a:latin typeface="Arial"/>
              </a:rPr>
              <a:t>accuracy de validación</a:t>
            </a:r>
          </a:p>
        </p:txBody>
      </p:sp>
      <p:sp>
        <p:nvSpPr>
          <p:cNvPr id="29" name="TextBox 28"/>
          <p:cNvSpPr txBox="1"/>
          <p:nvPr/>
        </p:nvSpPr>
        <p:spPr>
          <a:xfrm>
            <a:off x="9089136" y="5961888"/>
            <a:ext cx="2606040" cy="27432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entrenamiento: 87,3%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5.3 Evaluación post-entrenamiento</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50 instancias nuevas 10 × 8 · gap = 100 · (costo / costo del experto − 1) · el ILS coincide con el óptimo verificado</a:t>
            </a:r>
          </a:p>
        </p:txBody>
      </p:sp>
      <p:sp>
        <p:nvSpPr>
          <p:cNvPr id="6" name="Rounded Rectangle 5"/>
          <p:cNvSpPr/>
          <p:nvPr/>
        </p:nvSpPr>
        <p:spPr>
          <a:xfrm>
            <a:off x="9677095" y="365760"/>
            <a:ext cx="2057400" cy="329184"/>
          </a:xfrm>
          <a:prstGeom prst="roundRect">
            <a:avLst>
              <a:gd name="adj" fmla="val 2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5 · EXPERIMENTOS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12 / 14</a:t>
            </a:r>
          </a:p>
        </p:txBody>
      </p:sp>
      <p:graphicFrame>
        <p:nvGraphicFramePr>
          <p:cNvPr id="9" name="Table 8"/>
          <p:cNvGraphicFramePr>
            <a:graphicFrameLocks noGrp="1"/>
          </p:cNvGraphicFramePr>
          <p:nvPr/>
        </p:nvGraphicFramePr>
        <p:xfrm>
          <a:off x="457200" y="1280160"/>
          <a:ext cx="11274552" cy="2304288"/>
        </p:xfrm>
        <a:graphic>
          <a:graphicData uri="http://schemas.openxmlformats.org/drawingml/2006/table">
            <a:tbl>
              <a:tblPr firstRow="1" bandRow="1">
                <a:tableStyleId>{5C22544A-7EE6-4342-B048-85BDC9FD1C3A}</a:tableStyleId>
              </a:tblPr>
              <a:tblGrid>
                <a:gridCol w="2286000"/>
                <a:gridCol w="2011680"/>
                <a:gridCol w="2103120"/>
                <a:gridCol w="1417320"/>
                <a:gridCol w="1280160"/>
                <a:gridCol w="2176272"/>
              </a:tblGrid>
              <a:tr h="384048">
                <a:tc>
                  <a:txBody>
                    <a:bodyPr wrap="square" anchor="ctr" lIns="45720" rIns="45720" tIns="27432" bIns="27432"/>
                    <a:lstStyle/>
                    <a:p>
                      <a:pPr algn="l">
                        <a:lnSpc>
                          <a:spcPct val="100000"/>
                        </a:lnSpc>
                      </a:pPr>
                      <a:r>
                        <a:rPr sz="1150" b="1" i="0">
                          <a:solidFill>
                            <a:srgbClr val="FFFFFF"/>
                          </a:solidFill>
                          <a:latin typeface="Arial"/>
                        </a:rPr>
                        <a:t>Método</a:t>
                      </a:r>
                    </a:p>
                  </a:txBody>
                  <a:tcPr marL="54864" marR="54864" marT="18288" marB="18288">
                    <a:solidFill>
                      <a:srgbClr val="1B2A41"/>
                    </a:solidFill>
                  </a:tcPr>
                </a:tc>
                <a:tc>
                  <a:txBody>
                    <a:bodyPr wrap="square" anchor="ctr" lIns="45720" rIns="45720" tIns="27432" bIns="27432"/>
                    <a:lstStyle/>
                    <a:p>
                      <a:pPr algn="ctr">
                        <a:lnSpc>
                          <a:spcPct val="100000"/>
                        </a:lnSpc>
                      </a:pPr>
                      <a:r>
                        <a:rPr sz="1150" b="1" i="0">
                          <a:solidFill>
                            <a:srgbClr val="FFFFFF"/>
                          </a:solidFill>
                          <a:latin typeface="Arial"/>
                        </a:rPr>
                        <a:t>Costo (media ± desv.)</a:t>
                      </a:r>
                    </a:p>
                  </a:txBody>
                  <a:tcPr marL="54864" marR="54864" marT="18288" marB="18288">
                    <a:solidFill>
                      <a:srgbClr val="1B2A41"/>
                    </a:solidFill>
                  </a:tcPr>
                </a:tc>
                <a:tc>
                  <a:txBody>
                    <a:bodyPr wrap="square" anchor="ctr" lIns="45720" rIns="45720" tIns="27432" bIns="27432"/>
                    <a:lstStyle/>
                    <a:p>
                      <a:pPr algn="ctr">
                        <a:lnSpc>
                          <a:spcPct val="100000"/>
                        </a:lnSpc>
                      </a:pPr>
                      <a:r>
                        <a:rPr sz="1150" b="1" i="0">
                          <a:solidFill>
                            <a:srgbClr val="FFFFFF"/>
                          </a:solidFill>
                          <a:latin typeface="Arial"/>
                        </a:rPr>
                        <a:t>Gap % (media ± desv.)</a:t>
                      </a:r>
                    </a:p>
                  </a:txBody>
                  <a:tcPr marL="54864" marR="54864" marT="18288" marB="18288">
                    <a:solidFill>
                      <a:srgbClr val="1B2A41"/>
                    </a:solidFill>
                  </a:tcPr>
                </a:tc>
                <a:tc>
                  <a:txBody>
                    <a:bodyPr wrap="square" anchor="ctr" lIns="45720" rIns="45720" tIns="27432" bIns="27432"/>
                    <a:lstStyle/>
                    <a:p>
                      <a:pPr algn="ctr">
                        <a:lnSpc>
                          <a:spcPct val="100000"/>
                        </a:lnSpc>
                      </a:pPr>
                      <a:r>
                        <a:rPr sz="1150" b="1" i="0">
                          <a:solidFill>
                            <a:srgbClr val="FFFFFF"/>
                          </a:solidFill>
                          <a:latin typeface="Arial"/>
                        </a:rPr>
                        <a:t>Gap mediana</a:t>
                      </a:r>
                    </a:p>
                  </a:txBody>
                  <a:tcPr marL="54864" marR="54864" marT="18288" marB="18288">
                    <a:solidFill>
                      <a:srgbClr val="1B2A41"/>
                    </a:solidFill>
                  </a:tcPr>
                </a:tc>
                <a:tc>
                  <a:txBody>
                    <a:bodyPr wrap="square" anchor="ctr" lIns="45720" rIns="45720" tIns="27432" bIns="27432"/>
                    <a:lstStyle/>
                    <a:p>
                      <a:pPr algn="ctr">
                        <a:lnSpc>
                          <a:spcPct val="100000"/>
                        </a:lnSpc>
                      </a:pPr>
                      <a:r>
                        <a:rPr sz="1150" b="1" i="0">
                          <a:solidFill>
                            <a:srgbClr val="FFFFFF"/>
                          </a:solidFill>
                          <a:latin typeface="Arial"/>
                        </a:rPr>
                        <a:t>% óptimo</a:t>
                      </a:r>
                    </a:p>
                  </a:txBody>
                  <a:tcPr marL="54864" marR="54864" marT="18288" marB="18288">
                    <a:solidFill>
                      <a:srgbClr val="1B2A41"/>
                    </a:solidFill>
                  </a:tcPr>
                </a:tc>
                <a:tc>
                  <a:txBody>
                    <a:bodyPr wrap="square" anchor="ctr" lIns="45720" rIns="45720" tIns="27432" bIns="27432"/>
                    <a:lstStyle/>
                    <a:p>
                      <a:pPr algn="ctr">
                        <a:lnSpc>
                          <a:spcPct val="100000"/>
                        </a:lnSpc>
                      </a:pPr>
                      <a:r>
                        <a:rPr sz="1150" b="1" i="0">
                          <a:solidFill>
                            <a:srgbClr val="FFFFFF"/>
                          </a:solidFill>
                          <a:latin typeface="Arial"/>
                        </a:rPr>
                        <a:t>Tiempo / instancia</a:t>
                      </a:r>
                    </a:p>
                  </a:txBody>
                  <a:tcPr marL="54864" marR="54864" marT="18288" marB="18288">
                    <a:solidFill>
                      <a:srgbClr val="1B2A41"/>
                    </a:solidFill>
                  </a:tcPr>
                </a:tc>
              </a:tr>
              <a:tr h="384048">
                <a:tc>
                  <a:txBody>
                    <a:bodyPr wrap="square" anchor="ctr" lIns="45720" rIns="45720" tIns="27432" bIns="27432"/>
                    <a:lstStyle/>
                    <a:p>
                      <a:pPr algn="l">
                        <a:lnSpc>
                          <a:spcPct val="100000"/>
                        </a:lnSpc>
                      </a:pPr>
                      <a:r>
                        <a:rPr sz="1150" b="1" i="0">
                          <a:solidFill>
                            <a:srgbClr val="2E3540"/>
                          </a:solidFill>
                          <a:latin typeface="Arial"/>
                        </a:rPr>
                        <a:t>Modelo (atención)</a:t>
                      </a:r>
                    </a:p>
                  </a:txBody>
                  <a:tcPr marL="54864" marR="54864" marT="18288" marB="18288">
                    <a:solidFill>
                      <a:srgbClr val="DCEAF7"/>
                    </a:solidFill>
                  </a:tcPr>
                </a:tc>
                <a:tc>
                  <a:txBody>
                    <a:bodyPr wrap="square" anchor="ctr" lIns="45720" rIns="45720" tIns="27432" bIns="27432"/>
                    <a:lstStyle/>
                    <a:p>
                      <a:pPr algn="ctr">
                        <a:lnSpc>
                          <a:spcPct val="100000"/>
                        </a:lnSpc>
                      </a:pPr>
                      <a:r>
                        <a:rPr sz="1150" b="0" i="0">
                          <a:solidFill>
                            <a:srgbClr val="2E3540"/>
                          </a:solidFill>
                          <a:latin typeface="Arial"/>
                        </a:rPr>
                        <a:t>47,70 ± 8,85</a:t>
                      </a:r>
                    </a:p>
                  </a:txBody>
                  <a:tcPr marL="54864" marR="54864" marT="18288" marB="18288">
                    <a:solidFill>
                      <a:srgbClr val="DCEAF7"/>
                    </a:solidFill>
                  </a:tcPr>
                </a:tc>
                <a:tc>
                  <a:txBody>
                    <a:bodyPr wrap="square" anchor="ctr" lIns="45720" rIns="45720" tIns="27432" bIns="27432"/>
                    <a:lstStyle/>
                    <a:p>
                      <a:pPr algn="ctr">
                        <a:lnSpc>
                          <a:spcPct val="100000"/>
                        </a:lnSpc>
                      </a:pPr>
                      <a:r>
                        <a:rPr sz="1150" b="0" i="0">
                          <a:solidFill>
                            <a:srgbClr val="2E3540"/>
                          </a:solidFill>
                          <a:latin typeface="Arial"/>
                        </a:rPr>
                        <a:t>2,97 ± 3,68</a:t>
                      </a:r>
                    </a:p>
                  </a:txBody>
                  <a:tcPr marL="54864" marR="54864" marT="18288" marB="18288">
                    <a:solidFill>
                      <a:srgbClr val="DCEAF7"/>
                    </a:solidFill>
                  </a:tcPr>
                </a:tc>
                <a:tc>
                  <a:txBody>
                    <a:bodyPr wrap="square" anchor="ctr" lIns="45720" rIns="45720" tIns="27432" bIns="27432"/>
                    <a:lstStyle/>
                    <a:p>
                      <a:pPr algn="ctr">
                        <a:lnSpc>
                          <a:spcPct val="100000"/>
                        </a:lnSpc>
                      </a:pPr>
                      <a:r>
                        <a:rPr sz="1150" b="0" i="0">
                          <a:solidFill>
                            <a:srgbClr val="2E3540"/>
                          </a:solidFill>
                          <a:latin typeface="Arial"/>
                        </a:rPr>
                        <a:t>1,85%</a:t>
                      </a:r>
                    </a:p>
                  </a:txBody>
                  <a:tcPr marL="54864" marR="54864" marT="18288" marB="18288">
                    <a:solidFill>
                      <a:srgbClr val="DCEAF7"/>
                    </a:solidFill>
                  </a:tcPr>
                </a:tc>
                <a:tc>
                  <a:txBody>
                    <a:bodyPr wrap="square" anchor="ctr" lIns="45720" rIns="45720" tIns="27432" bIns="27432"/>
                    <a:lstStyle/>
                    <a:p>
                      <a:pPr algn="ctr">
                        <a:lnSpc>
                          <a:spcPct val="100000"/>
                        </a:lnSpc>
                      </a:pPr>
                      <a:r>
                        <a:rPr sz="1150" b="0" i="0">
                          <a:solidFill>
                            <a:srgbClr val="2E3540"/>
                          </a:solidFill>
                          <a:latin typeface="Arial"/>
                        </a:rPr>
                        <a:t>30%</a:t>
                      </a:r>
                    </a:p>
                  </a:txBody>
                  <a:tcPr marL="54864" marR="54864" marT="18288" marB="18288">
                    <a:solidFill>
                      <a:srgbClr val="DCEAF7"/>
                    </a:solidFill>
                  </a:tcPr>
                </a:tc>
                <a:tc>
                  <a:txBody>
                    <a:bodyPr wrap="square" anchor="ctr" lIns="45720" rIns="45720" tIns="27432" bIns="27432"/>
                    <a:lstStyle/>
                    <a:p>
                      <a:pPr algn="ctr">
                        <a:lnSpc>
                          <a:spcPct val="100000"/>
                        </a:lnSpc>
                      </a:pPr>
                      <a:r>
                        <a:rPr sz="1150" b="0" i="0">
                          <a:solidFill>
                            <a:srgbClr val="2E3540"/>
                          </a:solidFill>
                          <a:latin typeface="Arial"/>
                        </a:rPr>
                        <a:t>18,1 ms</a:t>
                      </a:r>
                    </a:p>
                  </a:txBody>
                  <a:tcPr marL="54864" marR="54864" marT="18288" marB="18288">
                    <a:solidFill>
                      <a:srgbClr val="DCEAF7"/>
                    </a:solidFill>
                  </a:tcPr>
                </a:tc>
              </a:tr>
              <a:tr h="384048">
                <a:tc>
                  <a:txBody>
                    <a:bodyPr wrap="square" anchor="ctr" lIns="45720" rIns="45720" tIns="27432" bIns="27432"/>
                    <a:lstStyle/>
                    <a:p>
                      <a:pPr algn="l">
                        <a:lnSpc>
                          <a:spcPct val="100000"/>
                        </a:lnSpc>
                      </a:pPr>
                      <a:r>
                        <a:rPr sz="1150" b="1" i="0">
                          <a:solidFill>
                            <a:srgbClr val="2E3540"/>
                          </a:solidFill>
                          <a:latin typeface="Arial"/>
                        </a:rPr>
                        <a:t>MLP Tarea 4 (ref.)</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4,42 (solo media)</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a:t>
                      </a:r>
                    </a:p>
                  </a:txBody>
                  <a:tcPr marL="54864" marR="54864" marT="18288" marB="18288">
                    <a:solidFill>
                      <a:srgbClr val="FFFFFF"/>
                    </a:solidFill>
                  </a:tcPr>
                </a:tc>
              </a:tr>
              <a:tr h="384048">
                <a:tc>
                  <a:txBody>
                    <a:bodyPr wrap="square" anchor="ctr" lIns="45720" rIns="45720" tIns="27432" bIns="27432"/>
                    <a:lstStyle/>
                    <a:p>
                      <a:pPr algn="l">
                        <a:lnSpc>
                          <a:spcPct val="100000"/>
                        </a:lnSpc>
                      </a:pPr>
                      <a:r>
                        <a:rPr sz="1150" b="1" i="0">
                          <a:solidFill>
                            <a:srgbClr val="2E3540"/>
                          </a:solidFill>
                          <a:latin typeface="Arial"/>
                        </a:rPr>
                        <a:t>MMR (clásica)</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49,83 ± 8,90</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7,68 ± 4,91</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7,75%</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6%</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0,1 ms</a:t>
                      </a:r>
                    </a:p>
                  </a:txBody>
                  <a:tcPr marL="54864" marR="54864" marT="18288" marB="18288">
                    <a:solidFill>
                      <a:srgbClr val="F3F5F8"/>
                    </a:solidFill>
                  </a:tcPr>
                </a:tc>
              </a:tr>
              <a:tr h="384048">
                <a:tc>
                  <a:txBody>
                    <a:bodyPr wrap="square" anchor="ctr" lIns="45720" rIns="45720" tIns="27432" bIns="27432"/>
                    <a:lstStyle/>
                    <a:p>
                      <a:pPr algn="l">
                        <a:lnSpc>
                          <a:spcPct val="100000"/>
                        </a:lnSpc>
                      </a:pPr>
                      <a:r>
                        <a:rPr sz="1150" b="1" i="0">
                          <a:solidFill>
                            <a:srgbClr val="2E3540"/>
                          </a:solidFill>
                          <a:latin typeface="Arial"/>
                        </a:rPr>
                        <a:t>Aleatorio</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186,15 ± 55,39</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309,72 ± 131,77</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291,64%</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0%</a:t>
                      </a:r>
                    </a:p>
                  </a:txBody>
                  <a:tcPr marL="54864" marR="54864" marT="18288" marB="18288">
                    <a:solidFill>
                      <a:srgbClr val="FFFFFF"/>
                    </a:solidFill>
                  </a:tcPr>
                </a:tc>
                <a:tc>
                  <a:txBody>
                    <a:bodyPr wrap="square" anchor="ctr" lIns="45720" rIns="45720" tIns="27432" bIns="27432"/>
                    <a:lstStyle/>
                    <a:p>
                      <a:pPr algn="ctr">
                        <a:lnSpc>
                          <a:spcPct val="100000"/>
                        </a:lnSpc>
                      </a:pPr>
                      <a:r>
                        <a:rPr sz="1150" b="0" i="0">
                          <a:solidFill>
                            <a:srgbClr val="2E3540"/>
                          </a:solidFill>
                          <a:latin typeface="Arial"/>
                        </a:rPr>
                        <a:t>≈ 0 ms</a:t>
                      </a:r>
                    </a:p>
                  </a:txBody>
                  <a:tcPr marL="54864" marR="54864" marT="18288" marB="18288">
                    <a:solidFill>
                      <a:srgbClr val="FFFFFF"/>
                    </a:solidFill>
                  </a:tcPr>
                </a:tc>
              </a:tr>
              <a:tr h="384048">
                <a:tc>
                  <a:txBody>
                    <a:bodyPr wrap="square" anchor="ctr" lIns="45720" rIns="45720" tIns="27432" bIns="27432"/>
                    <a:lstStyle/>
                    <a:p>
                      <a:pPr algn="l">
                        <a:lnSpc>
                          <a:spcPct val="100000"/>
                        </a:lnSpc>
                      </a:pPr>
                      <a:r>
                        <a:rPr sz="1150" b="1" i="0">
                          <a:solidFill>
                            <a:srgbClr val="2E3540"/>
                          </a:solidFill>
                          <a:latin typeface="Arial"/>
                        </a:rPr>
                        <a:t>Experto (ILS)</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46,26 ± 7,98</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0,00 ± 0,00</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0,00%</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100%</a:t>
                      </a:r>
                    </a:p>
                  </a:txBody>
                  <a:tcPr marL="54864" marR="54864" marT="18288" marB="18288">
                    <a:solidFill>
                      <a:srgbClr val="F3F5F8"/>
                    </a:solidFill>
                  </a:tcPr>
                </a:tc>
                <a:tc>
                  <a:txBody>
                    <a:bodyPr wrap="square" anchor="ctr" lIns="45720" rIns="45720" tIns="27432" bIns="27432"/>
                    <a:lstStyle/>
                    <a:p>
                      <a:pPr algn="ctr">
                        <a:lnSpc>
                          <a:spcPct val="100000"/>
                        </a:lnSpc>
                      </a:pPr>
                      <a:r>
                        <a:rPr sz="1150" b="0" i="0">
                          <a:solidFill>
                            <a:srgbClr val="2E3540"/>
                          </a:solidFill>
                          <a:latin typeface="Arial"/>
                        </a:rPr>
                        <a:t>20,1 ms</a:t>
                      </a:r>
                    </a:p>
                  </a:txBody>
                  <a:tcPr marL="54864" marR="54864" marT="18288" marB="18288">
                    <a:solidFill>
                      <a:srgbClr val="F3F5F8"/>
                    </a:solidFill>
                  </a:tcPr>
                </a:tc>
              </a:tr>
            </a:tbl>
          </a:graphicData>
        </a:graphic>
      </p:graphicFrame>
      <p:pic>
        <p:nvPicPr>
          <p:cNvPr id="10" name="Picture 9" descr="comparacion.png"/>
          <p:cNvPicPr>
            <a:picLocks noChangeAspect="1"/>
          </p:cNvPicPr>
          <p:nvPr/>
        </p:nvPicPr>
        <p:blipFill>
          <a:blip r:embed="rId2"/>
          <a:stretch>
            <a:fillRect/>
          </a:stretch>
        </p:blipFill>
        <p:spPr>
          <a:xfrm>
            <a:off x="365760" y="3881143"/>
            <a:ext cx="8503920" cy="2250393"/>
          </a:xfrm>
          <a:prstGeom prst="rect">
            <a:avLst/>
          </a:prstGeom>
        </p:spPr>
      </p:pic>
      <p:sp>
        <p:nvSpPr>
          <p:cNvPr id="11" name="Rounded Rectangle 10"/>
          <p:cNvSpPr/>
          <p:nvPr/>
        </p:nvSpPr>
        <p:spPr>
          <a:xfrm>
            <a:off x="9006840" y="3749039"/>
            <a:ext cx="2743200" cy="25603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6840" y="3886200"/>
            <a:ext cx="64008" cy="2286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8008" y="3840479"/>
            <a:ext cx="2423160" cy="365760"/>
          </a:xfrm>
          <a:prstGeom prst="rect">
            <a:avLst/>
          </a:prstGeom>
          <a:noFill/>
        </p:spPr>
        <p:txBody>
          <a:bodyPr wrap="square" anchor="t" lIns="45720" rIns="45720" tIns="27432" bIns="27432">
            <a:spAutoFit/>
          </a:bodyPr>
          <a:lstStyle/>
          <a:p>
            <a:pPr algn="l">
              <a:lnSpc>
                <a:spcPct val="110000"/>
              </a:lnSpc>
            </a:pPr>
            <a:r>
              <a:rPr sz="1400" b="1" i="0">
                <a:solidFill>
                  <a:srgbClr val="C0392B"/>
                </a:solidFill>
                <a:latin typeface="Arial"/>
              </a:rPr>
              <a:t>LECTURA</a:t>
            </a:r>
          </a:p>
        </p:txBody>
      </p:sp>
      <p:sp>
        <p:nvSpPr>
          <p:cNvPr id="14" name="TextBox 13"/>
          <p:cNvSpPr txBox="1"/>
          <p:nvPr/>
        </p:nvSpPr>
        <p:spPr>
          <a:xfrm>
            <a:off x="9208008" y="4187952"/>
            <a:ext cx="2423160" cy="2057400"/>
          </a:xfrm>
          <a:prstGeom prst="rect">
            <a:avLst/>
          </a:prstGeom>
          <a:noFill/>
        </p:spPr>
        <p:txBody>
          <a:bodyPr wrap="square" anchor="t" lIns="45720" rIns="45720" tIns="27432" bIns="27432">
            <a:spAutoFit/>
          </a:bodyPr>
          <a:lstStyle/>
          <a:p>
            <a:pPr algn="l">
              <a:lnSpc>
                <a:spcPct val="110000"/>
              </a:lnSpc>
            </a:pPr>
            <a:r>
              <a:rPr sz="1100" b="1" i="0">
                <a:solidFill>
                  <a:srgbClr val="2E3540"/>
                </a:solidFill>
                <a:latin typeface="Arial"/>
              </a:rPr>
              <a:t>Modelo vs MMR: </a:t>
            </a:r>
            <a:r>
              <a:rPr sz="1100" b="0" i="0">
                <a:solidFill>
                  <a:srgbClr val="2E3540"/>
                </a:solidFill>
                <a:latin typeface="Arial"/>
              </a:rPr>
              <a:t>mejor en 72%, igual en 20% de las instancias.</a:t>
            </a:r>
          </a:p>
          <a:p>
            <a:pPr algn="l">
              <a:lnSpc>
                <a:spcPct val="110000"/>
              </a:lnSpc>
            </a:pPr>
            <a:r>
              <a:rPr sz="1100" b="1" i="0">
                <a:solidFill>
                  <a:srgbClr val="2E3540"/>
                </a:solidFill>
                <a:latin typeface="Arial"/>
              </a:rPr>
              <a:t>Gap: </a:t>
            </a:r>
            <a:r>
              <a:rPr sz="1100" b="0" i="0">
                <a:solidFill>
                  <a:srgbClr val="2E3540"/>
                </a:solidFill>
                <a:latin typeface="Arial"/>
              </a:rPr>
              <a:t>2,97 % vs 7,68 % (MMR) y 4,42 % (MLP T4).</a:t>
            </a:r>
          </a:p>
          <a:p>
            <a:pPr algn="l">
              <a:lnSpc>
                <a:spcPct val="110000"/>
              </a:lnSpc>
            </a:pPr>
            <a:r>
              <a:rPr sz="1100" b="1" i="0">
                <a:solidFill>
                  <a:srgbClr val="2E3540"/>
                </a:solidFill>
                <a:latin typeface="Arial"/>
              </a:rPr>
              <a:t>Aleatorio: </a:t>
            </a:r>
            <a:r>
              <a:rPr sz="1100" b="0" i="0">
                <a:solidFill>
                  <a:srgbClr val="2E3540"/>
                </a:solidFill>
                <a:latin typeface="Arial"/>
              </a:rPr>
              <a:t>310 % ⇒ el modelo sí aprendió.</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5.4 Desempeño por tamaño de instancia</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Entrenado solo con 10 × 8 (81 filas) y evaluado sin cambios desde 5 × 4 (21 filas) hasta 30 × 20 (601 filas)</a:t>
            </a:r>
          </a:p>
        </p:txBody>
      </p:sp>
      <p:sp>
        <p:nvSpPr>
          <p:cNvPr id="6" name="Rounded Rectangle 5"/>
          <p:cNvSpPr/>
          <p:nvPr/>
        </p:nvSpPr>
        <p:spPr>
          <a:xfrm>
            <a:off x="9677095" y="365760"/>
            <a:ext cx="2057400" cy="329184"/>
          </a:xfrm>
          <a:prstGeom prst="roundRect">
            <a:avLst>
              <a:gd name="adj" fmla="val 2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5 · EXPERIMENTOS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13 / 14</a:t>
            </a:r>
          </a:p>
        </p:txBody>
      </p:sp>
      <p:pic>
        <p:nvPicPr>
          <p:cNvPr id="9" name="Picture 8" descr="tamanos.png"/>
          <p:cNvPicPr>
            <a:picLocks noChangeAspect="1"/>
          </p:cNvPicPr>
          <p:nvPr/>
        </p:nvPicPr>
        <p:blipFill>
          <a:blip r:embed="rId2"/>
          <a:stretch>
            <a:fillRect/>
          </a:stretch>
        </p:blipFill>
        <p:spPr>
          <a:xfrm>
            <a:off x="320040" y="1335139"/>
            <a:ext cx="8138160" cy="3090440"/>
          </a:xfrm>
          <a:prstGeom prst="rect">
            <a:avLst/>
          </a:prstGeom>
        </p:spPr>
      </p:pic>
      <p:graphicFrame>
        <p:nvGraphicFramePr>
          <p:cNvPr id="10" name="Table 9"/>
          <p:cNvGraphicFramePr>
            <a:graphicFrameLocks noGrp="1"/>
          </p:cNvGraphicFramePr>
          <p:nvPr/>
        </p:nvGraphicFramePr>
        <p:xfrm>
          <a:off x="8595360" y="1280160"/>
          <a:ext cx="3154680" cy="2743200"/>
        </p:xfrm>
        <a:graphic>
          <a:graphicData uri="http://schemas.openxmlformats.org/drawingml/2006/table">
            <a:tbl>
              <a:tblPr firstRow="1" bandRow="1">
                <a:tableStyleId>{5C22544A-7EE6-4342-B048-85BDC9FD1C3A}</a:tableStyleId>
              </a:tblPr>
              <a:tblGrid>
                <a:gridCol w="685800"/>
                <a:gridCol w="868680"/>
                <a:gridCol w="868680"/>
                <a:gridCol w="731520"/>
              </a:tblGrid>
              <a:tr h="457200">
                <a:tc>
                  <a:txBody>
                    <a:bodyPr wrap="square" anchor="ctr" lIns="45720" rIns="45720" tIns="27432" bIns="27432"/>
                    <a:lstStyle/>
                    <a:p>
                      <a:pPr algn="ctr">
                        <a:lnSpc>
                          <a:spcPct val="100000"/>
                        </a:lnSpc>
                      </a:pPr>
                      <a:r>
                        <a:rPr sz="1000" b="1" i="0">
                          <a:solidFill>
                            <a:srgbClr val="FFFFFF"/>
                          </a:solidFill>
                          <a:latin typeface="Arial"/>
                        </a:rPr>
                        <a:t>W × T</a:t>
                      </a:r>
                    </a:p>
                  </a:txBody>
                  <a:tcPr marL="54864" marR="54864" marT="18288" marB="18288">
                    <a:solidFill>
                      <a:srgbClr val="1B2A41"/>
                    </a:solidFill>
                  </a:tcPr>
                </a:tc>
                <a:tc>
                  <a:txBody>
                    <a:bodyPr wrap="square" anchor="ctr" lIns="45720" rIns="45720" tIns="27432" bIns="27432"/>
                    <a:lstStyle/>
                    <a:p>
                      <a:pPr algn="ctr">
                        <a:lnSpc>
                          <a:spcPct val="100000"/>
                        </a:lnSpc>
                      </a:pPr>
                      <a:r>
                        <a:rPr sz="1000" b="1" i="0">
                          <a:solidFill>
                            <a:srgbClr val="FFFFFF"/>
                          </a:solidFill>
                          <a:latin typeface="Arial"/>
                        </a:rPr>
                        <a:t>Modelo</a:t>
                      </a:r>
                    </a:p>
                  </a:txBody>
                  <a:tcPr marL="54864" marR="54864" marT="18288" marB="18288">
                    <a:solidFill>
                      <a:srgbClr val="1B2A41"/>
                    </a:solidFill>
                  </a:tcPr>
                </a:tc>
                <a:tc>
                  <a:txBody>
                    <a:bodyPr wrap="square" anchor="ctr" lIns="45720" rIns="45720" tIns="27432" bIns="27432"/>
                    <a:lstStyle/>
                    <a:p>
                      <a:pPr algn="ctr">
                        <a:lnSpc>
                          <a:spcPct val="100000"/>
                        </a:lnSpc>
                      </a:pPr>
                      <a:r>
                        <a:rPr sz="1000" b="1" i="0">
                          <a:solidFill>
                            <a:srgbClr val="FFFFFF"/>
                          </a:solidFill>
                          <a:latin typeface="Arial"/>
                        </a:rPr>
                        <a:t>MMR</a:t>
                      </a:r>
                    </a:p>
                  </a:txBody>
                  <a:tcPr marL="54864" marR="54864" marT="18288" marB="18288">
                    <a:solidFill>
                      <a:srgbClr val="1B2A41"/>
                    </a:solidFill>
                  </a:tcPr>
                </a:tc>
                <a:tc>
                  <a:txBody>
                    <a:bodyPr wrap="square" anchor="ctr" lIns="45720" rIns="45720" tIns="27432" bIns="27432"/>
                    <a:lstStyle/>
                    <a:p>
                      <a:pPr algn="ctr">
                        <a:lnSpc>
                          <a:spcPct val="100000"/>
                        </a:lnSpc>
                      </a:pPr>
                      <a:r>
                        <a:rPr sz="1000" b="1" i="0">
                          <a:solidFill>
                            <a:srgbClr val="FFFFFF"/>
                          </a:solidFill>
                          <a:latin typeface="Arial"/>
                        </a:rPr>
                        <a:t>Aleatorio</a:t>
                      </a:r>
                    </a:p>
                  </a:txBody>
                  <a:tcPr marL="54864" marR="54864" marT="18288" marB="18288">
                    <a:solidFill>
                      <a:srgbClr val="1B2A41"/>
                    </a:solidFill>
                  </a:tcPr>
                </a:tc>
              </a:tr>
              <a:tr h="457200">
                <a:tc>
                  <a:txBody>
                    <a:bodyPr wrap="square" anchor="ctr" lIns="45720" rIns="45720" tIns="27432" bIns="27432"/>
                    <a:lstStyle/>
                    <a:p>
                      <a:pPr algn="ctr">
                        <a:lnSpc>
                          <a:spcPct val="100000"/>
                        </a:lnSpc>
                      </a:pPr>
                      <a:r>
                        <a:rPr sz="950" b="1" i="0">
                          <a:solidFill>
                            <a:srgbClr val="2E3540"/>
                          </a:solidFill>
                          <a:latin typeface="Arial"/>
                        </a:rPr>
                        <a:t>5×4</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1,7 ± 4,2</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6,5 ± 7,9</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259 ± 102</a:t>
                      </a:r>
                    </a:p>
                  </a:txBody>
                  <a:tcPr marL="54864" marR="54864" marT="18288" marB="18288">
                    <a:solidFill>
                      <a:srgbClr val="F3F5F8"/>
                    </a:solidFill>
                  </a:tcPr>
                </a:tc>
              </a:tr>
              <a:tr h="457200">
                <a:tc>
                  <a:txBody>
                    <a:bodyPr wrap="square" anchor="ctr" lIns="45720" rIns="45720" tIns="27432" bIns="27432"/>
                    <a:lstStyle/>
                    <a:p>
                      <a:pPr algn="ctr">
                        <a:lnSpc>
                          <a:spcPct val="100000"/>
                        </a:lnSpc>
                      </a:pPr>
                      <a:r>
                        <a:rPr sz="950" b="1" i="0">
                          <a:solidFill>
                            <a:srgbClr val="2E3540"/>
                          </a:solidFill>
                          <a:latin typeface="Arial"/>
                        </a:rPr>
                        <a:t>10×8</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3,0 ± 3,7</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7,7 ± 4,9</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316 ± 100</a:t>
                      </a:r>
                    </a:p>
                  </a:txBody>
                  <a:tcPr marL="54864" marR="54864" marT="18288" marB="18288">
                    <a:solidFill>
                      <a:srgbClr val="FFFFFF"/>
                    </a:solidFill>
                  </a:tcPr>
                </a:tc>
              </a:tr>
              <a:tr h="457200">
                <a:tc>
                  <a:txBody>
                    <a:bodyPr wrap="square" anchor="ctr" lIns="45720" rIns="45720" tIns="27432" bIns="27432"/>
                    <a:lstStyle/>
                    <a:p>
                      <a:pPr algn="ctr">
                        <a:lnSpc>
                          <a:spcPct val="100000"/>
                        </a:lnSpc>
                      </a:pPr>
                      <a:r>
                        <a:rPr sz="950" b="1" i="0">
                          <a:solidFill>
                            <a:srgbClr val="2E3540"/>
                          </a:solidFill>
                          <a:latin typeface="Arial"/>
                        </a:rPr>
                        <a:t>15×10</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5,3 ± 3,9</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7,8 ± 4,9</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454 ± 160</a:t>
                      </a:r>
                    </a:p>
                  </a:txBody>
                  <a:tcPr marL="54864" marR="54864" marT="18288" marB="18288">
                    <a:solidFill>
                      <a:srgbClr val="F3F5F8"/>
                    </a:solidFill>
                  </a:tcPr>
                </a:tc>
              </a:tr>
              <a:tr h="457200">
                <a:tc>
                  <a:txBody>
                    <a:bodyPr wrap="square" anchor="ctr" lIns="45720" rIns="45720" tIns="27432" bIns="27432"/>
                    <a:lstStyle/>
                    <a:p>
                      <a:pPr algn="ctr">
                        <a:lnSpc>
                          <a:spcPct val="100000"/>
                        </a:lnSpc>
                      </a:pPr>
                      <a:r>
                        <a:rPr sz="950" b="1" i="0">
                          <a:solidFill>
                            <a:srgbClr val="2E3540"/>
                          </a:solidFill>
                          <a:latin typeface="Arial"/>
                        </a:rPr>
                        <a:t>20×15</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4,0 ± 3,1</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5,7 ± 3,1</a:t>
                      </a:r>
                    </a:p>
                  </a:txBody>
                  <a:tcPr marL="54864" marR="54864" marT="18288" marB="18288">
                    <a:solidFill>
                      <a:srgbClr val="FFFFFF"/>
                    </a:solidFill>
                  </a:tcPr>
                </a:tc>
                <a:tc>
                  <a:txBody>
                    <a:bodyPr wrap="square" anchor="ctr" lIns="45720" rIns="45720" tIns="27432" bIns="27432"/>
                    <a:lstStyle/>
                    <a:p>
                      <a:pPr algn="ctr">
                        <a:lnSpc>
                          <a:spcPct val="100000"/>
                        </a:lnSpc>
                      </a:pPr>
                      <a:r>
                        <a:rPr sz="950" b="0" i="0">
                          <a:solidFill>
                            <a:srgbClr val="2E3540"/>
                          </a:solidFill>
                          <a:latin typeface="Arial"/>
                        </a:rPr>
                        <a:t>373 ± 90</a:t>
                      </a:r>
                    </a:p>
                  </a:txBody>
                  <a:tcPr marL="54864" marR="54864" marT="18288" marB="18288">
                    <a:solidFill>
                      <a:srgbClr val="FFFFFF"/>
                    </a:solidFill>
                  </a:tcPr>
                </a:tc>
              </a:tr>
              <a:tr h="457200">
                <a:tc>
                  <a:txBody>
                    <a:bodyPr wrap="square" anchor="ctr" lIns="45720" rIns="45720" tIns="27432" bIns="27432"/>
                    <a:lstStyle/>
                    <a:p>
                      <a:pPr algn="ctr">
                        <a:lnSpc>
                          <a:spcPct val="100000"/>
                        </a:lnSpc>
                      </a:pPr>
                      <a:r>
                        <a:rPr sz="950" b="1" i="0">
                          <a:solidFill>
                            <a:srgbClr val="2E3540"/>
                          </a:solidFill>
                          <a:latin typeface="Arial"/>
                        </a:rPr>
                        <a:t>30×20</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5,3 ± 2,9</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5,9 ± 3,0</a:t>
                      </a:r>
                    </a:p>
                  </a:txBody>
                  <a:tcPr marL="54864" marR="54864" marT="18288" marB="18288">
                    <a:solidFill>
                      <a:srgbClr val="F3F5F8"/>
                    </a:solidFill>
                  </a:tcPr>
                </a:tc>
                <a:tc>
                  <a:txBody>
                    <a:bodyPr wrap="square" anchor="ctr" lIns="45720" rIns="45720" tIns="27432" bIns="27432"/>
                    <a:lstStyle/>
                    <a:p>
                      <a:pPr algn="ctr">
                        <a:lnSpc>
                          <a:spcPct val="100000"/>
                        </a:lnSpc>
                      </a:pPr>
                      <a:r>
                        <a:rPr sz="950" b="0" i="0">
                          <a:solidFill>
                            <a:srgbClr val="2E3540"/>
                          </a:solidFill>
                          <a:latin typeface="Arial"/>
                        </a:rPr>
                        <a:t>588 ± 104</a:t>
                      </a:r>
                    </a:p>
                  </a:txBody>
                  <a:tcPr marL="54864" marR="54864" marT="18288" marB="18288">
                    <a:solidFill>
                      <a:srgbClr val="F3F5F8"/>
                    </a:solidFill>
                  </a:tcPr>
                </a:tc>
              </a:tr>
            </a:tbl>
          </a:graphicData>
        </a:graphic>
      </p:graphicFrame>
      <p:sp>
        <p:nvSpPr>
          <p:cNvPr id="11" name="TextBox 10"/>
          <p:cNvSpPr txBox="1"/>
          <p:nvPr/>
        </p:nvSpPr>
        <p:spPr>
          <a:xfrm>
            <a:off x="8595360" y="4069080"/>
            <a:ext cx="3154680" cy="457200"/>
          </a:xfrm>
          <a:prstGeom prst="rect">
            <a:avLst/>
          </a:prstGeom>
          <a:noFill/>
        </p:spPr>
        <p:txBody>
          <a:bodyPr wrap="square" anchor="t" lIns="45720" rIns="45720" tIns="27432" bIns="27432">
            <a:spAutoFit/>
          </a:bodyPr>
          <a:lstStyle/>
          <a:p>
            <a:pPr algn="ctr">
              <a:lnSpc>
                <a:spcPct val="110000"/>
              </a:lnSpc>
            </a:pPr>
            <a:r>
              <a:rPr sz="950" b="0" i="0">
                <a:solidFill>
                  <a:srgbClr val="6B7585"/>
                </a:solidFill>
                <a:latin typeface="Arial"/>
              </a:rPr>
              <a:t>gap % vs experto (media ± desv.)</a:t>
            </a:r>
          </a:p>
        </p:txBody>
      </p:sp>
      <p:sp>
        <p:nvSpPr>
          <p:cNvPr id="12" name="Rounded Rectangle 11"/>
          <p:cNvSpPr/>
          <p:nvPr/>
        </p:nvSpPr>
        <p:spPr>
          <a:xfrm>
            <a:off x="457200" y="4709160"/>
            <a:ext cx="5577840" cy="16002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846320"/>
            <a:ext cx="64008"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00600"/>
            <a:ext cx="5257800" cy="365760"/>
          </a:xfrm>
          <a:prstGeom prst="rect">
            <a:avLst/>
          </a:prstGeom>
          <a:noFill/>
        </p:spPr>
        <p:txBody>
          <a:bodyPr wrap="square" anchor="t" lIns="45720" rIns="45720" tIns="27432" bIns="27432">
            <a:spAutoFit/>
          </a:bodyPr>
          <a:lstStyle/>
          <a:p>
            <a:pPr algn="l">
              <a:lnSpc>
                <a:spcPct val="110000"/>
              </a:lnSpc>
            </a:pPr>
            <a:r>
              <a:rPr sz="1400" b="1" i="0">
                <a:solidFill>
                  <a:srgbClr val="C0392B"/>
                </a:solidFill>
                <a:latin typeface="Arial"/>
              </a:rPr>
              <a:t>¿SE DEGRADA AL ESCALAR?</a:t>
            </a:r>
          </a:p>
        </p:txBody>
      </p:sp>
      <p:sp>
        <p:nvSpPr>
          <p:cNvPr id="15" name="TextBox 14"/>
          <p:cNvSpPr txBox="1"/>
          <p:nvPr/>
        </p:nvSpPr>
        <p:spPr>
          <a:xfrm>
            <a:off x="658368" y="5148072"/>
            <a:ext cx="5257800" cy="1097280"/>
          </a:xfrm>
          <a:prstGeom prst="rect">
            <a:avLst/>
          </a:prstGeom>
          <a:noFill/>
        </p:spPr>
        <p:txBody>
          <a:bodyPr wrap="square" anchor="t" lIns="45720" rIns="45720" tIns="27432" bIns="27432">
            <a:spAutoFit/>
          </a:bodyPr>
          <a:lstStyle/>
          <a:p>
            <a:pPr algn="l">
              <a:lnSpc>
                <a:spcPct val="110000"/>
              </a:lnSpc>
            </a:pPr>
            <a:r>
              <a:rPr sz="1150" b="1" i="0">
                <a:solidFill>
                  <a:srgbClr val="2E3540"/>
                </a:solidFill>
                <a:latin typeface="Arial"/>
              </a:rPr>
              <a:t>El modelo supera a MMR en 5 de 5 tamaños. </a:t>
            </a:r>
            <a:r>
              <a:rPr sz="1150" b="0" i="0">
                <a:solidFill>
                  <a:srgbClr val="2E3540"/>
                </a:solidFill>
                <a:latin typeface="Arial"/>
              </a:rPr>
              <a:t>En 10 × 8 (entrenamiento) logra 2,97 %; su mejor tamaño es 5×4 (1,67 %) y el peor 30×20 (5,30 %). La ventaja sobre MMR baja de 4,8 puntos (5×4) a 0,6 en 30×20.</a:t>
            </a:r>
          </a:p>
        </p:txBody>
      </p:sp>
      <p:sp>
        <p:nvSpPr>
          <p:cNvPr id="16" name="Rounded Rectangle 15"/>
          <p:cNvSpPr/>
          <p:nvPr/>
        </p:nvSpPr>
        <p:spPr>
          <a:xfrm>
            <a:off x="6172200" y="4709160"/>
            <a:ext cx="5577840" cy="16002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4846320"/>
            <a:ext cx="64008" cy="13258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800600"/>
            <a:ext cx="5257800" cy="365760"/>
          </a:xfrm>
          <a:prstGeom prst="rect">
            <a:avLst/>
          </a:prstGeom>
          <a:noFill/>
        </p:spPr>
        <p:txBody>
          <a:bodyPr wrap="square" anchor="t" lIns="45720" rIns="45720" tIns="27432" bIns="27432">
            <a:spAutoFit/>
          </a:bodyPr>
          <a:lstStyle/>
          <a:p>
            <a:pPr algn="l">
              <a:lnSpc>
                <a:spcPct val="110000"/>
              </a:lnSpc>
            </a:pPr>
            <a:r>
              <a:rPr sz="1400" b="1" i="0">
                <a:solidFill>
                  <a:srgbClr val="7F7F7F"/>
                </a:solidFill>
                <a:latin typeface="Arial"/>
              </a:rPr>
              <a:t>CÓMO LEERLO</a:t>
            </a:r>
          </a:p>
        </p:txBody>
      </p:sp>
      <p:sp>
        <p:nvSpPr>
          <p:cNvPr id="19" name="TextBox 18"/>
          <p:cNvSpPr txBox="1"/>
          <p:nvPr/>
        </p:nvSpPr>
        <p:spPr>
          <a:xfrm>
            <a:off x="6373368" y="5148072"/>
            <a:ext cx="5257800" cy="1097280"/>
          </a:xfrm>
          <a:prstGeom prst="rect">
            <a:avLst/>
          </a:prstGeom>
          <a:noFill/>
        </p:spPr>
        <p:txBody>
          <a:bodyPr wrap="square" anchor="t" lIns="45720" rIns="45720" tIns="27432" bIns="27432">
            <a:spAutoFit/>
          </a:bodyPr>
          <a:lstStyle/>
          <a:p>
            <a:pPr algn="l">
              <a:lnSpc>
                <a:spcPct val="110000"/>
              </a:lnSpc>
            </a:pPr>
            <a:r>
              <a:rPr sz="1150" b="1" i="0">
                <a:solidFill>
                  <a:srgbClr val="2E3540"/>
                </a:solidFill>
                <a:latin typeface="Arial"/>
              </a:rPr>
              <a:t>Referencia: </a:t>
            </a:r>
            <a:r>
              <a:rPr sz="1150" b="0" i="0">
                <a:solidFill>
                  <a:srgbClr val="2E3540"/>
                </a:solidFill>
                <a:latin typeface="Arial"/>
              </a:rPr>
              <a:t>en 5 × 4 el ILS es óptimo (30/30, fuerza bruta); en tamaños grandes es la mejor solución conocida.</a:t>
            </a:r>
          </a:p>
          <a:p>
            <a:pPr algn="l">
              <a:lnSpc>
                <a:spcPct val="110000"/>
              </a:lnSpc>
            </a:pPr>
            <a:r>
              <a:rPr sz="1150" b="1" i="0">
                <a:solidFill>
                  <a:srgbClr val="2E3540"/>
                </a:solidFill>
                <a:latin typeface="Arial"/>
              </a:rPr>
              <a:t>Por qué generaliza: </a:t>
            </a:r>
            <a:r>
              <a:rPr sz="1150" b="0" i="0">
                <a:solidFill>
                  <a:srgbClr val="2E3540"/>
                </a:solidFill>
                <a:latin typeface="Arial"/>
              </a:rPr>
              <a:t>features normalizadas por instancia y pesos compartidos entre filas; solo cambia la longitud de la secuencia.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8229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4320"/>
            <a:ext cx="9418320" cy="548640"/>
          </a:xfrm>
          <a:prstGeom prst="rect">
            <a:avLst/>
          </a:prstGeom>
          <a:noFill/>
        </p:spPr>
        <p:txBody>
          <a:bodyPr wrap="square" anchor="t" lIns="45720" rIns="45720" tIns="27432" bIns="27432">
            <a:spAutoFit/>
          </a:bodyPr>
          <a:lstStyle/>
          <a:p>
            <a:pPr algn="l">
              <a:lnSpc>
                <a:spcPct val="110000"/>
              </a:lnSpc>
            </a:pPr>
            <a:r>
              <a:rPr sz="2600" b="1" i="0">
                <a:solidFill>
                  <a:srgbClr val="1B2A41"/>
                </a:solidFill>
                <a:latin typeface="Arial"/>
              </a:rPr>
              <a:t>5.5 Discusión y conclusiones</a:t>
            </a:r>
          </a:p>
        </p:txBody>
      </p:sp>
      <p:sp>
        <p:nvSpPr>
          <p:cNvPr id="5" name="TextBox 4"/>
          <p:cNvSpPr txBox="1"/>
          <p:nvPr/>
        </p:nvSpPr>
        <p:spPr>
          <a:xfrm>
            <a:off x="676656" y="786384"/>
            <a:ext cx="10881360" cy="365760"/>
          </a:xfrm>
          <a:prstGeom prst="rect">
            <a:avLst/>
          </a:prstGeom>
          <a:noFill/>
        </p:spPr>
        <p:txBody>
          <a:bodyPr wrap="square" anchor="t" lIns="45720" rIns="45720" tIns="27432" bIns="27432">
            <a:spAutoFit/>
          </a:bodyPr>
          <a:lstStyle/>
          <a:p>
            <a:pPr algn="l">
              <a:lnSpc>
                <a:spcPct val="110000"/>
              </a:lnSpc>
            </a:pPr>
            <a:r>
              <a:rPr sz="1350" b="0" i="0">
                <a:solidFill>
                  <a:srgbClr val="6B7585"/>
                </a:solidFill>
                <a:latin typeface="Arial"/>
              </a:rPr>
              <a:t>Qué funcionó, qué no resultó como esperábamos y qué mejoraríamos</a:t>
            </a:r>
          </a:p>
        </p:txBody>
      </p:sp>
      <p:sp>
        <p:nvSpPr>
          <p:cNvPr id="6" name="Rounded Rectangle 5"/>
          <p:cNvSpPr/>
          <p:nvPr/>
        </p:nvSpPr>
        <p:spPr>
          <a:xfrm>
            <a:off x="9677095" y="365760"/>
            <a:ext cx="2057400" cy="329184"/>
          </a:xfrm>
          <a:prstGeom prst="roundRect">
            <a:avLst>
              <a:gd name="adj" fmla="val 2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10000"/>
              </a:lnSpc>
            </a:pPr>
            <a:r>
              <a:rPr sz="1050" b="1" i="0">
                <a:solidFill>
                  <a:srgbClr val="FFFFFF"/>
                </a:solidFill>
                <a:latin typeface="Arial"/>
              </a:rPr>
              <a:t>5 · EXPERIMENTOS</a:t>
            </a:r>
          </a:p>
        </p:txBody>
      </p:sp>
      <p:sp>
        <p:nvSpPr>
          <p:cNvPr id="7" name="TextBox 6"/>
          <p:cNvSpPr txBox="1"/>
          <p:nvPr/>
        </p:nvSpPr>
        <p:spPr>
          <a:xfrm>
            <a:off x="457200" y="6464808"/>
            <a:ext cx="8229600" cy="274320"/>
          </a:xfrm>
          <a:prstGeom prst="rect">
            <a:avLst/>
          </a:prstGeom>
          <a:noFill/>
        </p:spPr>
        <p:txBody>
          <a:bodyPr wrap="square" anchor="t" lIns="45720" rIns="45720" tIns="27432" bIns="27432">
            <a:spAutoFit/>
          </a:bodyPr>
          <a:lstStyle/>
          <a:p>
            <a:pPr algn="l">
              <a:lnSpc>
                <a:spcPct val="110000"/>
              </a:lnSpc>
            </a:pPr>
            <a:r>
              <a:rPr sz="1000" b="0" i="0">
                <a:solidFill>
                  <a:srgbClr val="6B7585"/>
                </a:solidFill>
                <a:latin typeface="Arial"/>
              </a:rPr>
              <a:t>OII462 · Proyecto del módulo · Transformer con puntero para el WTAP</a:t>
            </a:r>
          </a:p>
        </p:txBody>
      </p:sp>
      <p:sp>
        <p:nvSpPr>
          <p:cNvPr id="8" name="TextBox 7"/>
          <p:cNvSpPr txBox="1"/>
          <p:nvPr/>
        </p:nvSpPr>
        <p:spPr>
          <a:xfrm>
            <a:off x="10911535" y="6464808"/>
            <a:ext cx="822960" cy="274320"/>
          </a:xfrm>
          <a:prstGeom prst="rect">
            <a:avLst/>
          </a:prstGeom>
          <a:noFill/>
        </p:spPr>
        <p:txBody>
          <a:bodyPr wrap="square" anchor="t" lIns="45720" rIns="45720" tIns="27432" bIns="27432">
            <a:spAutoFit/>
          </a:bodyPr>
          <a:lstStyle/>
          <a:p>
            <a:pPr algn="r">
              <a:lnSpc>
                <a:spcPct val="110000"/>
              </a:lnSpc>
            </a:pPr>
            <a:r>
              <a:rPr sz="1000" b="0" i="0">
                <a:solidFill>
                  <a:srgbClr val="6B7585"/>
                </a:solidFill>
                <a:latin typeface="Arial"/>
              </a:rPr>
              <a:t>14 / 14</a:t>
            </a:r>
          </a:p>
        </p:txBody>
      </p:sp>
      <p:sp>
        <p:nvSpPr>
          <p:cNvPr id="9" name="Rounded Rectangle 8"/>
          <p:cNvSpPr/>
          <p:nvPr/>
        </p:nvSpPr>
        <p:spPr>
          <a:xfrm>
            <a:off x="457200" y="1280160"/>
            <a:ext cx="3637178" cy="3246120"/>
          </a:xfrm>
          <a:prstGeom prst="roundRect">
            <a:avLst>
              <a:gd name="adj" fmla="val 6000"/>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19"/>
            <a:ext cx="64008" cy="29718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71600"/>
            <a:ext cx="3317138" cy="365760"/>
          </a:xfrm>
          <a:prstGeom prst="rect">
            <a:avLst/>
          </a:prstGeom>
          <a:noFill/>
        </p:spPr>
        <p:txBody>
          <a:bodyPr wrap="square" anchor="t" lIns="45720" rIns="45720" tIns="27432" bIns="27432">
            <a:spAutoFit/>
          </a:bodyPr>
          <a:lstStyle/>
          <a:p>
            <a:pPr algn="l">
              <a:lnSpc>
                <a:spcPct val="110000"/>
              </a:lnSpc>
            </a:pPr>
            <a:r>
              <a:rPr sz="1400" b="1" i="0">
                <a:solidFill>
                  <a:srgbClr val="2CA02C"/>
                </a:solidFill>
                <a:latin typeface="Arial"/>
              </a:rPr>
              <a:t>¿QUÉ FUNCIONÓ BIEN?</a:t>
            </a:r>
          </a:p>
        </p:txBody>
      </p:sp>
      <p:sp>
        <p:nvSpPr>
          <p:cNvPr id="12" name="TextBox 11"/>
          <p:cNvSpPr txBox="1"/>
          <p:nvPr/>
        </p:nvSpPr>
        <p:spPr>
          <a:xfrm>
            <a:off x="658368" y="1719072"/>
            <a:ext cx="3317138" cy="2743200"/>
          </a:xfrm>
          <a:prstGeom prst="rect">
            <a:avLst/>
          </a:prstGeom>
          <a:noFill/>
        </p:spPr>
        <p:txBody>
          <a:bodyPr wrap="square" anchor="t" lIns="45720" rIns="45720" tIns="27432" bIns="27432">
            <a:spAutoFit/>
          </a:bodyPr>
          <a:lstStyle/>
          <a:p>
            <a:pPr algn="l">
              <a:lnSpc>
                <a:spcPct val="110000"/>
              </a:lnSpc>
            </a:pPr>
            <a:r>
              <a:rPr sz="1250" b="1" i="0">
                <a:solidFill>
                  <a:srgbClr val="2E3540"/>
                </a:solidFill>
                <a:latin typeface="Arial"/>
              </a:rPr>
              <a:t>Representación por pares: </a:t>
            </a:r>
            <a:r>
              <a:rPr sz="1250" b="0" i="0">
                <a:solidFill>
                  <a:srgbClr val="2E3540"/>
                </a:solidFill>
                <a:latin typeface="Arial"/>
              </a:rPr>
              <a:t>elige arma y objetivo (sin orden fijo); máscara natural.</a:t>
            </a:r>
          </a:p>
          <a:p>
            <a:pPr algn="l">
              <a:lnSpc>
                <a:spcPct val="110000"/>
              </a:lnSpc>
            </a:pPr>
            <a:r>
              <a:rPr sz="1250" b="1" i="0">
                <a:solidFill>
                  <a:srgbClr val="2E3540"/>
                </a:solidFill>
                <a:latin typeface="Arial"/>
              </a:rPr>
              <a:t>Features de las heurísticas: </a:t>
            </a:r>
            <a:r>
              <a:rPr sz="1250" b="0" i="0">
                <a:solidFill>
                  <a:srgbClr val="2E3540"/>
                </a:solidFill>
                <a:latin typeface="Arial"/>
              </a:rPr>
              <a:t>accuracy 87,3% vs 79,9% de la regla MMR.</a:t>
            </a:r>
          </a:p>
          <a:p>
            <a:pPr algn="l">
              <a:lnSpc>
                <a:spcPct val="110000"/>
              </a:lnSpc>
            </a:pPr>
            <a:r>
              <a:rPr sz="1250" b="1" i="0">
                <a:solidFill>
                  <a:srgbClr val="2E3540"/>
                </a:solidFill>
                <a:latin typeface="Arial"/>
              </a:rPr>
              <a:t>Calidad: </a:t>
            </a:r>
            <a:r>
              <a:rPr sz="1250" b="0" i="0">
                <a:solidFill>
                  <a:srgbClr val="2E3540"/>
                </a:solidFill>
                <a:latin typeface="Arial"/>
              </a:rPr>
              <a:t>gap 2,97 % vs 7,68 % de MMR, óptimo en 30% de las instancias.</a:t>
            </a:r>
          </a:p>
          <a:p>
            <a:pPr algn="l">
              <a:lnSpc>
                <a:spcPct val="110000"/>
              </a:lnSpc>
            </a:pPr>
            <a:r>
              <a:rPr sz="1250" b="1" i="0">
                <a:solidFill>
                  <a:srgbClr val="2E3540"/>
                </a:solidFill>
                <a:latin typeface="Arial"/>
              </a:rPr>
              <a:t>Generaliza </a:t>
            </a:r>
            <a:r>
              <a:rPr sz="1250" b="0" i="0">
                <a:solidFill>
                  <a:srgbClr val="2E3540"/>
                </a:solidFill>
                <a:latin typeface="Arial"/>
              </a:rPr>
              <a:t>de 21 a 601 filas sin reentrenar.</a:t>
            </a:r>
          </a:p>
        </p:txBody>
      </p:sp>
      <p:sp>
        <p:nvSpPr>
          <p:cNvPr id="13" name="Rounded Rectangle 12"/>
          <p:cNvSpPr/>
          <p:nvPr/>
        </p:nvSpPr>
        <p:spPr>
          <a:xfrm>
            <a:off x="4277258" y="1280160"/>
            <a:ext cx="3637178" cy="3246120"/>
          </a:xfrm>
          <a:prstGeom prst="roundRect">
            <a:avLst>
              <a:gd name="adj" fmla="val 6000"/>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7258" y="1417319"/>
            <a:ext cx="64008" cy="29718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8426" y="1371600"/>
            <a:ext cx="3317138" cy="365760"/>
          </a:xfrm>
          <a:prstGeom prst="rect">
            <a:avLst/>
          </a:prstGeom>
          <a:noFill/>
        </p:spPr>
        <p:txBody>
          <a:bodyPr wrap="square" anchor="t" lIns="45720" rIns="45720" tIns="27432" bIns="27432">
            <a:spAutoFit/>
          </a:bodyPr>
          <a:lstStyle/>
          <a:p>
            <a:pPr algn="l">
              <a:lnSpc>
                <a:spcPct val="110000"/>
              </a:lnSpc>
            </a:pPr>
            <a:r>
              <a:rPr sz="1400" b="1" i="0">
                <a:solidFill>
                  <a:srgbClr val="E8710A"/>
                </a:solidFill>
                <a:latin typeface="Arial"/>
              </a:rPr>
              <a:t>¿QUÉ NO RESULTÓ?</a:t>
            </a:r>
          </a:p>
        </p:txBody>
      </p:sp>
      <p:sp>
        <p:nvSpPr>
          <p:cNvPr id="16" name="TextBox 15"/>
          <p:cNvSpPr txBox="1"/>
          <p:nvPr/>
        </p:nvSpPr>
        <p:spPr>
          <a:xfrm>
            <a:off x="4478426" y="1719072"/>
            <a:ext cx="3317138" cy="2743200"/>
          </a:xfrm>
          <a:prstGeom prst="rect">
            <a:avLst/>
          </a:prstGeom>
          <a:noFill/>
        </p:spPr>
        <p:txBody>
          <a:bodyPr wrap="square" anchor="t" lIns="45720" rIns="45720" tIns="27432" bIns="27432">
            <a:spAutoFit/>
          </a:bodyPr>
          <a:lstStyle/>
          <a:p>
            <a:pPr algn="l">
              <a:lnSpc>
                <a:spcPct val="110000"/>
              </a:lnSpc>
            </a:pPr>
            <a:r>
              <a:rPr sz="1250" b="1" i="0">
                <a:solidFill>
                  <a:srgbClr val="2E3540"/>
                </a:solidFill>
                <a:latin typeface="Arial"/>
              </a:rPr>
              <a:t>Dropout no ayudó: </a:t>
            </a:r>
            <a:r>
              <a:rPr sz="1250" b="0" i="0">
                <a:solidFill>
                  <a:srgbClr val="2E3540"/>
                </a:solidFill>
                <a:latin typeface="Arial"/>
              </a:rPr>
              <a:t>con 60 mil ejemplos y pesos compartidos no hubo sobreajuste.</a:t>
            </a:r>
          </a:p>
          <a:p>
            <a:pPr algn="l">
              <a:lnSpc>
                <a:spcPct val="110000"/>
              </a:lnSpc>
            </a:pPr>
            <a:r>
              <a:rPr sz="1250" b="1" i="0">
                <a:solidFill>
                  <a:srgbClr val="2E3540"/>
                </a:solidFill>
                <a:latin typeface="Arial"/>
              </a:rPr>
              <a:t>Primeras decisiones: </a:t>
            </a:r>
            <a:r>
              <a:rPr sz="1250" b="0" i="0">
                <a:solidFill>
                  <a:srgbClr val="2E3540"/>
                </a:solidFill>
                <a:latin typeface="Arial"/>
              </a:rPr>
              <a:t>accuracy 72% en el paso 0 (80 acciones) vs 100% en el último.</a:t>
            </a:r>
          </a:p>
          <a:p>
            <a:pPr algn="l">
              <a:lnSpc>
                <a:spcPct val="110000"/>
              </a:lnSpc>
            </a:pPr>
            <a:r>
              <a:rPr sz="1250" b="1" i="0">
                <a:solidFill>
                  <a:srgbClr val="2E3540"/>
                </a:solidFill>
                <a:latin typeface="Arial"/>
              </a:rPr>
              <a:t>En 30×20 </a:t>
            </a:r>
            <a:r>
              <a:rPr sz="1250" b="0" i="0">
                <a:solidFill>
                  <a:srgbClr val="2E3540"/>
                </a:solidFill>
                <a:latin typeface="Arial"/>
              </a:rPr>
              <a:t>la ventaja sobre MMR cae a 0,6 puntos (gap 5,30 % vs 5,89 %).</a:t>
            </a:r>
          </a:p>
          <a:p>
            <a:pPr algn="l">
              <a:lnSpc>
                <a:spcPct val="110000"/>
              </a:lnSpc>
            </a:pPr>
            <a:r>
              <a:rPr sz="1250" b="1" i="0">
                <a:solidFill>
                  <a:srgbClr val="2E3540"/>
                </a:solidFill>
                <a:latin typeface="Arial"/>
              </a:rPr>
              <a:t>Costo: </a:t>
            </a:r>
            <a:r>
              <a:rPr sz="1250" b="0" i="0">
                <a:solidFill>
                  <a:srgbClr val="2E3540"/>
                </a:solidFill>
                <a:latin typeface="Arial"/>
              </a:rPr>
              <a:t>18 ms por instancia: re-codificar en cada paso y atención O(n²).</a:t>
            </a:r>
          </a:p>
        </p:txBody>
      </p:sp>
      <p:sp>
        <p:nvSpPr>
          <p:cNvPr id="17" name="Rounded Rectangle 16"/>
          <p:cNvSpPr/>
          <p:nvPr/>
        </p:nvSpPr>
        <p:spPr>
          <a:xfrm>
            <a:off x="8097316" y="1280160"/>
            <a:ext cx="3637178" cy="3246120"/>
          </a:xfrm>
          <a:prstGeom prst="roundRect">
            <a:avLst>
              <a:gd name="adj" fmla="val 6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7316" y="1417319"/>
            <a:ext cx="64008" cy="29718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1371600"/>
            <a:ext cx="3317138" cy="365760"/>
          </a:xfrm>
          <a:prstGeom prst="rect">
            <a:avLst/>
          </a:prstGeom>
          <a:noFill/>
        </p:spPr>
        <p:txBody>
          <a:bodyPr wrap="square" anchor="t" lIns="45720" rIns="45720" tIns="27432" bIns="27432">
            <a:spAutoFit/>
          </a:bodyPr>
          <a:lstStyle/>
          <a:p>
            <a:pPr algn="l">
              <a:lnSpc>
                <a:spcPct val="110000"/>
              </a:lnSpc>
            </a:pPr>
            <a:r>
              <a:rPr sz="1400" b="1" i="0">
                <a:solidFill>
                  <a:srgbClr val="1F77B4"/>
                </a:solidFill>
                <a:latin typeface="Arial"/>
              </a:rPr>
              <a:t>¿QUÉ MEJORARÍAMOS?</a:t>
            </a:r>
          </a:p>
        </p:txBody>
      </p:sp>
      <p:sp>
        <p:nvSpPr>
          <p:cNvPr id="20" name="TextBox 19"/>
          <p:cNvSpPr txBox="1"/>
          <p:nvPr/>
        </p:nvSpPr>
        <p:spPr>
          <a:xfrm>
            <a:off x="8298484" y="1719072"/>
            <a:ext cx="3317138" cy="2743200"/>
          </a:xfrm>
          <a:prstGeom prst="rect">
            <a:avLst/>
          </a:prstGeom>
          <a:noFill/>
        </p:spPr>
        <p:txBody>
          <a:bodyPr wrap="square" anchor="t" lIns="45720" rIns="45720" tIns="27432" bIns="27432">
            <a:spAutoFit/>
          </a:bodyPr>
          <a:lstStyle/>
          <a:p>
            <a:pPr algn="l">
              <a:lnSpc>
                <a:spcPct val="110000"/>
              </a:lnSpc>
            </a:pPr>
            <a:r>
              <a:rPr sz="1250" b="1" i="0">
                <a:solidFill>
                  <a:srgbClr val="2E3540"/>
                </a:solidFill>
                <a:latin typeface="Arial"/>
              </a:rPr>
              <a:t>Decoder con Glimpse </a:t>
            </a:r>
            <a:r>
              <a:rPr sz="1250" b="0" i="0">
                <a:solidFill>
                  <a:srgbClr val="2E3540"/>
                </a:solidFill>
                <a:latin typeface="Arial"/>
              </a:rPr>
              <a:t>y atención multi-cabeza (Kool et al.).</a:t>
            </a:r>
          </a:p>
          <a:p>
            <a:pPr algn="l">
              <a:lnSpc>
                <a:spcPct val="110000"/>
              </a:lnSpc>
            </a:pPr>
            <a:r>
              <a:rPr sz="1250" b="1" i="0">
                <a:solidFill>
                  <a:srgbClr val="2E3540"/>
                </a:solidFill>
                <a:latin typeface="Arial"/>
              </a:rPr>
              <a:t>Entrenar con tamaños mixtos </a:t>
            </a:r>
            <a:r>
              <a:rPr sz="1250" b="0" i="0">
                <a:solidFill>
                  <a:srgbClr val="2E3540"/>
                </a:solidFill>
                <a:latin typeface="Arial"/>
              </a:rPr>
              <a:t>(5 × 4 a 20 × 15) para generalizar mejor.</a:t>
            </a:r>
          </a:p>
          <a:p>
            <a:pPr algn="l">
              <a:lnSpc>
                <a:spcPct val="110000"/>
              </a:lnSpc>
            </a:pPr>
            <a:r>
              <a:rPr sz="1250" b="1" i="0">
                <a:solidFill>
                  <a:srgbClr val="2E3540"/>
                </a:solidFill>
                <a:latin typeface="Arial"/>
              </a:rPr>
              <a:t>DAgger o RL </a:t>
            </a:r>
            <a:r>
              <a:rPr sz="1250" b="0" i="0">
                <a:solidFill>
                  <a:srgbClr val="2E3540"/>
                </a:solidFill>
                <a:latin typeface="Arial"/>
              </a:rPr>
              <a:t>para corregir el distribution shift tras un error temprano.</a:t>
            </a:r>
          </a:p>
          <a:p>
            <a:pPr algn="l">
              <a:lnSpc>
                <a:spcPct val="110000"/>
              </a:lnSpc>
            </a:pPr>
            <a:r>
              <a:rPr sz="1250" b="1" i="0">
                <a:solidFill>
                  <a:srgbClr val="2E3540"/>
                </a:solidFill>
                <a:latin typeface="Arial"/>
              </a:rPr>
              <a:t>Encoder de W + T elementos </a:t>
            </a:r>
            <a:r>
              <a:rPr sz="1250" b="0" i="0">
                <a:solidFill>
                  <a:srgbClr val="2E3540"/>
                </a:solidFill>
                <a:latin typeface="Arial"/>
              </a:rPr>
              <a:t>con puntero bilineal, para bajar el costo cuadrático.</a:t>
            </a:r>
          </a:p>
        </p:txBody>
      </p:sp>
      <p:sp>
        <p:nvSpPr>
          <p:cNvPr id="21" name="Rounded Rectangle 20"/>
          <p:cNvSpPr/>
          <p:nvPr/>
        </p:nvSpPr>
        <p:spPr>
          <a:xfrm>
            <a:off x="457200" y="4709160"/>
            <a:ext cx="11277295" cy="155448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754880"/>
            <a:ext cx="10820095" cy="1463040"/>
          </a:xfrm>
          <a:prstGeom prst="rect">
            <a:avLst/>
          </a:prstGeom>
          <a:noFill/>
        </p:spPr>
        <p:txBody>
          <a:bodyPr wrap="square" anchor="ctr" lIns="45720" rIns="45720" tIns="27432" bIns="27432">
            <a:spAutoFit/>
          </a:bodyPr>
          <a:lstStyle/>
          <a:p>
            <a:pPr algn="l">
              <a:lnSpc>
                <a:spcPct val="110000"/>
              </a:lnSpc>
            </a:pPr>
            <a:r>
              <a:rPr sz="1500" b="1" i="0">
                <a:solidFill>
                  <a:srgbClr val="FFC07A"/>
                </a:solidFill>
                <a:latin typeface="Arial"/>
              </a:rPr>
              <a:t>Conclusión: </a:t>
            </a:r>
            <a:r>
              <a:rPr sz="1500" b="0" i="0">
                <a:solidFill>
                  <a:srgbClr val="FFFFFF"/>
                </a:solidFill>
                <a:latin typeface="Arial"/>
              </a:rPr>
              <a:t>un encoder–decoder con atención, entrenado solo por imitación, aprende una política constructiva que reduce el gap de MMR de 7,68 % a 2,97 % y que se usa sin cambios en instancias de otros tamaños. La siguiente etapa natural es el glimpse y el entrenamiento por refuerzo.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